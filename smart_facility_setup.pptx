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9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00584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A5C5C"/>
                </a:solidFill>
                <a:latin typeface="Segoe UI"/>
              </a:rPr>
              <a:t>SMART FACILITY MANAGEMENT   ·   WEEK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554480"/>
            <a:ext cx="1060704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152220"/>
                </a:solidFill>
                <a:latin typeface="Segoe UI"/>
              </a:rPr>
              <a:t>Getting Started — Setting up Your Workstation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88036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A5C5C"/>
                </a:solidFill>
                <a:latin typeface="Malgun Gothic"/>
              </a:rPr>
              <a:t>시작하기 — 작업 환경 설정하기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65760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576560"/>
                </a:solidFill>
                <a:latin typeface="Segoe UI"/>
              </a:rPr>
              <a:t>The 7 tools we install before we build anything.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576560"/>
                </a:solidFill>
                <a:latin typeface="Malgun Gothic"/>
              </a:rPr>
              <a:t>무언가를 만들기 전에 먼저 설치하는 7가지 도구.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203807" y="4754880"/>
            <a:ext cx="1417320" cy="123444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D6DEDC"/>
            </a:solidFill>
          </a:ln>
          <a:effectLst/>
          <a:effectLst>
            <a:outerShdw blurRad="90000" dist="40000" dir="5400000" rotWithShape="0">
              <a:srgbClr val="1428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r_vsco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6415" y="4956048"/>
            <a:ext cx="832104" cy="832104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2877159" y="4754880"/>
            <a:ext cx="1417320" cy="123444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D6DEDC"/>
            </a:solidFill>
          </a:ln>
          <a:effectLst/>
          <a:effectLst>
            <a:outerShdw blurRad="90000" dist="40000" dir="5400000" rotWithShape="0">
              <a:srgbClr val="1428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r_gi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78327" y="5160222"/>
            <a:ext cx="1014984" cy="423755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4550511" y="4754880"/>
            <a:ext cx="1417320" cy="123444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D6DEDC"/>
            </a:solidFill>
          </a:ln>
          <a:effectLst/>
          <a:effectLst>
            <a:outerShdw blurRad="90000" dist="40000" dir="5400000" rotWithShape="0">
              <a:srgbClr val="1428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r_uv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3119" y="4956048"/>
            <a:ext cx="832104" cy="832104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6223863" y="4754880"/>
            <a:ext cx="1417320" cy="123444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D6DEDC"/>
            </a:solidFill>
          </a:ln>
          <a:effectLst/>
          <a:effectLst>
            <a:outerShdw blurRad="90000" dist="40000" dir="5400000" rotWithShape="0">
              <a:srgbClr val="1428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r_pyth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16471" y="4956048"/>
            <a:ext cx="832104" cy="832104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7897215" y="4754880"/>
            <a:ext cx="1417320" cy="123444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D6DEDC"/>
            </a:solidFill>
          </a:ln>
          <a:effectLst/>
          <a:effectLst>
            <a:outerShdw blurRad="90000" dist="40000" dir="5400000" rotWithShape="0">
              <a:srgbClr val="1428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r_jupyte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46823" y="4956048"/>
            <a:ext cx="718104" cy="832104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9570567" y="4754880"/>
            <a:ext cx="1417320" cy="123444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D6DEDC"/>
            </a:solidFill>
          </a:ln>
          <a:effectLst/>
          <a:effectLst>
            <a:outerShdw blurRad="90000" dist="40000" dir="5400000" rotWithShape="0">
              <a:srgbClr val="1428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pytorch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71735" y="5246823"/>
            <a:ext cx="1014984" cy="250554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40080" y="635508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8A9793"/>
                </a:solidFill>
                <a:latin typeface="Segoe UI"/>
              </a:rPr>
              <a:t>Smart Facility Management  ·  Week 02  —  Workstation Setup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9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1325880"/>
            <a:ext cx="4297680" cy="4297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DEDC"/>
            </a:solidFill>
          </a:ln>
          <a:effectLst/>
          <a:effectLst>
            <a:outerShdw blurRad="90000" dist="40000" dir="5400000" rotWithShape="0">
              <a:srgbClr val="1428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r_vsco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7320" y="2103120"/>
            <a:ext cx="2743200" cy="27432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349240" y="1371600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0E7B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0" y="1371600"/>
            <a:ext cx="54864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8A9793"/>
                </a:solidFill>
                <a:latin typeface="Segoe UI"/>
              </a:rPr>
              <a:t>STEP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49240" y="2103120"/>
            <a:ext cx="62179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800" b="1">
                <a:solidFill>
                  <a:srgbClr val="152220"/>
                </a:solidFill>
                <a:latin typeface="Segoe UI"/>
              </a:rPr>
              <a:t>VS Code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49240" y="3063240"/>
            <a:ext cx="62179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0">
                <a:solidFill>
                  <a:srgbClr val="576560"/>
                </a:solidFill>
                <a:latin typeface="Segoe UI"/>
              </a:rPr>
              <a:t>The code editor we write everything in.</a:t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0A5C5C"/>
                </a:solidFill>
                <a:latin typeface="Malgun Gothic"/>
              </a:rPr>
              <a:t>모든 코드를 작성하는 코드 에디터.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49240" y="4800600"/>
            <a:ext cx="6217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8A9793"/>
                </a:solidFill>
                <a:latin typeface="Segoe UI"/>
              </a:rPr>
              <a:t>Alternatives  /  대안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49240" y="5120640"/>
            <a:ext cx="6217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152220"/>
                </a:solidFill>
                <a:latin typeface="Segoe UI"/>
              </a:rPr>
              <a:t>PyCharm  ·  Cursor  ·  Sublime Text  ·  Neovim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35508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8A9793"/>
                </a:solidFill>
                <a:latin typeface="Segoe UI"/>
              </a:rPr>
              <a:t>Smart Facility Management  ·  Week 02  —  Workstation Setup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0" y="6355080"/>
            <a:ext cx="1463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>
                <a:solidFill>
                  <a:srgbClr val="0A5C5C"/>
                </a:solidFill>
                <a:latin typeface="Segoe UI"/>
              </a:rPr>
              <a:t>1 / 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9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1325880"/>
            <a:ext cx="4297680" cy="4297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DEDC"/>
            </a:solidFill>
          </a:ln>
          <a:effectLst/>
          <a:effectLst>
            <a:outerShdw blurRad="90000" dist="40000" dir="5400000" rotWithShape="0">
              <a:srgbClr val="1428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r_g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7320" y="2902077"/>
            <a:ext cx="2743200" cy="1145286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349240" y="1371600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0E7B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0" y="1371600"/>
            <a:ext cx="54864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8A9793"/>
                </a:solidFill>
                <a:latin typeface="Segoe UI"/>
              </a:rPr>
              <a:t>STEP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49240" y="2103120"/>
            <a:ext cx="62179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800" b="1">
                <a:solidFill>
                  <a:srgbClr val="152220"/>
                </a:solidFill>
                <a:latin typeface="Segoe UI"/>
              </a:rPr>
              <a:t>Git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49240" y="3063240"/>
            <a:ext cx="62179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0">
                <a:solidFill>
                  <a:srgbClr val="576560"/>
                </a:solidFill>
                <a:latin typeface="Segoe UI"/>
              </a:rPr>
              <a:t>Version control — track changes, clone &amp; share class projects.</a:t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0A5C5C"/>
                </a:solidFill>
                <a:latin typeface="Malgun Gothic"/>
              </a:rPr>
              <a:t>버전 관리 — 변경 이력을 추적하고 수업 프로젝트를 클론·공유.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49240" y="4800600"/>
            <a:ext cx="6217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8A9793"/>
                </a:solidFill>
                <a:latin typeface="Segoe UI"/>
              </a:rPr>
              <a:t>Alternatives  /  대안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49240" y="5120640"/>
            <a:ext cx="6217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152220"/>
                </a:solidFill>
                <a:latin typeface="Segoe UI"/>
              </a:rPr>
              <a:t>Mercurial  ·  SVN      (host: GitHub · GitLab · Bitbucket)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35508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8A9793"/>
                </a:solidFill>
                <a:latin typeface="Segoe UI"/>
              </a:rPr>
              <a:t>Smart Facility Management  ·  Week 02  —  Workstation Setup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0" y="6355080"/>
            <a:ext cx="1463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>
                <a:solidFill>
                  <a:srgbClr val="0A5C5C"/>
                </a:solidFill>
                <a:latin typeface="Segoe UI"/>
              </a:rPr>
              <a:t>2 / 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9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1325880"/>
            <a:ext cx="4297680" cy="4297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DEDC"/>
            </a:solidFill>
          </a:ln>
          <a:effectLst/>
          <a:effectLst>
            <a:outerShdw blurRad="90000" dist="40000" dir="5400000" rotWithShape="0">
              <a:srgbClr val="1428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r_u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7320" y="2103120"/>
            <a:ext cx="2743200" cy="27432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349240" y="1371600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0E7B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0" y="1371600"/>
            <a:ext cx="54864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8A9793"/>
                </a:solidFill>
                <a:latin typeface="Segoe UI"/>
              </a:rPr>
              <a:t>STEP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49240" y="2103120"/>
            <a:ext cx="62179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800" b="1">
                <a:solidFill>
                  <a:srgbClr val="152220"/>
                </a:solidFill>
                <a:latin typeface="Segoe UI"/>
              </a:rPr>
              <a:t>uv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49240" y="3063240"/>
            <a:ext cx="62179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0">
                <a:solidFill>
                  <a:srgbClr val="576560"/>
                </a:solidFill>
                <a:latin typeface="Segoe UI"/>
              </a:rPr>
              <a:t>One fast tool for Python, virtual environments &amp; packages.</a:t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0A5C5C"/>
                </a:solidFill>
                <a:latin typeface="Malgun Gothic"/>
              </a:rPr>
              <a:t>Python·가상 환경·패키지를 한 번에 관리하는 빠른 도구.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49240" y="4800600"/>
            <a:ext cx="6217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8A9793"/>
                </a:solidFill>
                <a:latin typeface="Segoe UI"/>
              </a:rPr>
              <a:t>Alternatives  /  대안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49240" y="5120640"/>
            <a:ext cx="6217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152220"/>
                </a:solidFill>
                <a:latin typeface="Segoe UI"/>
              </a:rPr>
              <a:t>pip + venv  ·  Poetry  ·  Conda  ·  pdm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35508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8A9793"/>
                </a:solidFill>
                <a:latin typeface="Segoe UI"/>
              </a:rPr>
              <a:t>Smart Facility Management  ·  Week 02  —  Workstation Setup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0" y="6355080"/>
            <a:ext cx="1463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>
                <a:solidFill>
                  <a:srgbClr val="0A5C5C"/>
                </a:solidFill>
                <a:latin typeface="Segoe UI"/>
              </a:rPr>
              <a:t>3 / 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9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1325880"/>
            <a:ext cx="4297680" cy="4297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DEDC"/>
            </a:solidFill>
          </a:ln>
          <a:effectLst/>
          <a:effectLst>
            <a:outerShdw blurRad="90000" dist="40000" dir="5400000" rotWithShape="0">
              <a:srgbClr val="1428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r_pyth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7320" y="2103120"/>
            <a:ext cx="2743200" cy="27432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349240" y="1371600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0E7B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0" y="1371600"/>
            <a:ext cx="54864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8A9793"/>
                </a:solidFill>
                <a:latin typeface="Segoe UI"/>
              </a:rPr>
              <a:t>STEP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49240" y="2103120"/>
            <a:ext cx="62179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800" b="1">
                <a:solidFill>
                  <a:srgbClr val="152220"/>
                </a:solidFill>
                <a:latin typeface="Segoe UI"/>
              </a:rPr>
              <a:t>Python 3.12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49240" y="3063240"/>
            <a:ext cx="62179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0">
                <a:solidFill>
                  <a:srgbClr val="576560"/>
                </a:solidFill>
                <a:latin typeface="Segoe UI"/>
              </a:rPr>
              <a:t>The programming language behind our CV, LLM &amp; VLM work.</a:t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0A5C5C"/>
                </a:solidFill>
                <a:latin typeface="Malgun Gothic"/>
              </a:rPr>
              <a:t>컴퓨터 비전·LLM·VLM 작업에 사용하는 프로그래밍 언어.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49240" y="4800600"/>
            <a:ext cx="6217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8A9793"/>
                </a:solidFill>
                <a:latin typeface="Segoe UI"/>
              </a:rPr>
              <a:t>Alternatives  /  대안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49240" y="5120640"/>
            <a:ext cx="6217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152220"/>
                </a:solidFill>
                <a:latin typeface="Segoe UI"/>
              </a:rPr>
              <a:t>R  ·  Julia  ·  C++      (for ML / CV)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35508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8A9793"/>
                </a:solidFill>
                <a:latin typeface="Segoe UI"/>
              </a:rPr>
              <a:t>Smart Facility Management  ·  Week 02  —  Workstation Setup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0" y="6355080"/>
            <a:ext cx="1463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>
                <a:solidFill>
                  <a:srgbClr val="0A5C5C"/>
                </a:solidFill>
                <a:latin typeface="Segoe UI"/>
              </a:rPr>
              <a:t>4 / 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9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1325880"/>
            <a:ext cx="4297680" cy="4297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DEDC"/>
            </a:solidFill>
          </a:ln>
          <a:effectLst/>
          <a:effectLst>
            <a:outerShdw blurRad="90000" dist="40000" dir="5400000" rotWithShape="0">
              <a:srgbClr val="1428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508760" y="2560320"/>
            <a:ext cx="2560320" cy="1828800"/>
          </a:xfrm>
          <a:prstGeom prst="roundRect">
            <a:avLst>
              <a:gd name="adj" fmla="val 12000"/>
            </a:avLst>
          </a:prstGeom>
          <a:solidFill>
            <a:srgbClr val="0E7B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400" b="1">
                <a:solidFill>
                  <a:srgbClr val="FFFFFF"/>
                </a:solidFill>
                <a:latin typeface="Consolas"/>
              </a:rPr>
              <a:t>( .venv 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349240" y="1371600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0E7B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0" y="1371600"/>
            <a:ext cx="54864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8A9793"/>
                </a:solidFill>
                <a:latin typeface="Segoe UI"/>
              </a:rPr>
              <a:t>STEP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49240" y="2103120"/>
            <a:ext cx="62179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800" b="1">
                <a:solidFill>
                  <a:srgbClr val="152220"/>
                </a:solidFill>
                <a:latin typeface="Segoe UI"/>
              </a:rPr>
              <a:t>Virtual Environment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49240" y="3063240"/>
            <a:ext cx="62179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0">
                <a:solidFill>
                  <a:srgbClr val="576560"/>
                </a:solidFill>
                <a:latin typeface="Segoe UI"/>
              </a:rPr>
              <a:t>An isolated package space per project — no version clashes.</a:t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0A5C5C"/>
                </a:solidFill>
                <a:latin typeface="Malgun Gothic"/>
              </a:rPr>
              <a:t>프로젝트마다 분리된 패키지 공간 — 버전 충돌 없음.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49240" y="4800600"/>
            <a:ext cx="6217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8A9793"/>
                </a:solidFill>
                <a:latin typeface="Segoe UI"/>
              </a:rPr>
              <a:t>Alternatives  /  대안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49240" y="5120640"/>
            <a:ext cx="6217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152220"/>
                </a:solidFill>
                <a:latin typeface="Segoe UI"/>
              </a:rPr>
              <a:t>conda env  ·  virtualenv  ·  Docker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35508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8A9793"/>
                </a:solidFill>
                <a:latin typeface="Segoe UI"/>
              </a:rPr>
              <a:t>Smart Facility Management  ·  Week 02  —  Workstation Setup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0" y="6355080"/>
            <a:ext cx="1463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>
                <a:solidFill>
                  <a:srgbClr val="0A5C5C"/>
                </a:solidFill>
                <a:latin typeface="Segoe UI"/>
              </a:rPr>
              <a:t>5 / 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9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1325880"/>
            <a:ext cx="4297680" cy="4297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DEDC"/>
            </a:solidFill>
          </a:ln>
          <a:effectLst/>
          <a:effectLst>
            <a:outerShdw blurRad="90000" dist="40000" dir="5400000" rotWithShape="0">
              <a:srgbClr val="1428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r_jupy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5231" y="2103120"/>
            <a:ext cx="2367378" cy="27432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349240" y="1371600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0E7B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0" y="1371600"/>
            <a:ext cx="54864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8A9793"/>
                </a:solidFill>
                <a:latin typeface="Segoe UI"/>
              </a:rPr>
              <a:t>STEP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49240" y="2103120"/>
            <a:ext cx="62179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800" b="1">
                <a:solidFill>
                  <a:srgbClr val="152220"/>
                </a:solidFill>
                <a:latin typeface="Segoe UI"/>
              </a:rPr>
              <a:t>Jupyter Notebook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49240" y="3063240"/>
            <a:ext cx="62179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0">
                <a:solidFill>
                  <a:srgbClr val="576560"/>
                </a:solidFill>
                <a:latin typeface="Segoe UI"/>
              </a:rPr>
              <a:t>Run code in interactive cells and see results inline.</a:t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0A5C5C"/>
                </a:solidFill>
                <a:latin typeface="Malgun Gothic"/>
              </a:rPr>
              <a:t>대화형 셀에서 코드를 실행하고 결과를 바로 확인.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49240" y="4800600"/>
            <a:ext cx="6217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8A9793"/>
                </a:solidFill>
                <a:latin typeface="Segoe UI"/>
              </a:rPr>
              <a:t>Alternatives  /  대안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49240" y="5120640"/>
            <a:ext cx="6217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152220"/>
                </a:solidFill>
                <a:latin typeface="Segoe UI"/>
              </a:rPr>
              <a:t>Google Colab  ·  Kaggle  ·  Deepnote  ·  VS Code notebooks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35508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8A9793"/>
                </a:solidFill>
                <a:latin typeface="Segoe UI"/>
              </a:rPr>
              <a:t>Smart Facility Management  ·  Week 02  —  Workstation Setup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0" y="6355080"/>
            <a:ext cx="1463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>
                <a:solidFill>
                  <a:srgbClr val="0A5C5C"/>
                </a:solidFill>
                <a:latin typeface="Segoe UI"/>
              </a:rPr>
              <a:t>6 /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9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1325880"/>
            <a:ext cx="4297680" cy="4297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DEDC"/>
            </a:solidFill>
          </a:ln>
          <a:effectLst/>
          <a:effectLst>
            <a:outerShdw blurRad="90000" dist="40000" dir="5400000" rotWithShape="0">
              <a:srgbClr val="1428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pytor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7320" y="3136133"/>
            <a:ext cx="2743200" cy="677173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349240" y="1371600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0E7B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0" y="1371600"/>
            <a:ext cx="54864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8A9793"/>
                </a:solidFill>
                <a:latin typeface="Segoe UI"/>
              </a:rPr>
              <a:t>STEP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49240" y="2103120"/>
            <a:ext cx="62179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800" b="1">
                <a:solidFill>
                  <a:srgbClr val="152220"/>
                </a:solidFill>
                <a:latin typeface="Segoe UI"/>
              </a:rPr>
              <a:t>PyTorch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49240" y="3063240"/>
            <a:ext cx="62179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0">
                <a:solidFill>
                  <a:srgbClr val="576560"/>
                </a:solidFill>
                <a:latin typeface="Segoe UI"/>
              </a:rPr>
              <a:t>Deep-learning library behind object detection &amp; vision-language models.</a:t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0A5C5C"/>
                </a:solidFill>
                <a:latin typeface="Malgun Gothic"/>
              </a:rPr>
              <a:t>객체 탐지와 비전-언어 모델(VLM)의 기반이 되는 딥러닝 라이브러리.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49240" y="4800600"/>
            <a:ext cx="6217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8A9793"/>
                </a:solidFill>
                <a:latin typeface="Segoe UI"/>
              </a:rPr>
              <a:t>Alternatives  /  대안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49240" y="5120640"/>
            <a:ext cx="6217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152220"/>
                </a:solidFill>
                <a:latin typeface="Segoe UI"/>
              </a:rPr>
              <a:t>TensorFlow / Keras  ·  JAX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35508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8A9793"/>
                </a:solidFill>
                <a:latin typeface="Segoe UI"/>
              </a:rPr>
              <a:t>Smart Facility Management  ·  Week 02  —  Workstation Setup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0" y="6355080"/>
            <a:ext cx="1463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>
                <a:solidFill>
                  <a:srgbClr val="0A5C5C"/>
                </a:solidFill>
                <a:latin typeface="Segoe UI"/>
              </a:rPr>
              <a:t>7 / 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9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7724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A5C5C"/>
                </a:solidFill>
                <a:latin typeface="Segoe UI"/>
              </a:rPr>
              <a:t>RECAP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234440"/>
            <a:ext cx="10607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152220"/>
                </a:solidFill>
                <a:latin typeface="Segoe UI"/>
              </a:rPr>
              <a:t>The full stack, in order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96596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576560"/>
                </a:solidFill>
                <a:latin typeface="Malgun Gothic"/>
              </a:rPr>
              <a:t>전체 도구 스택 — 순서대로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591" y="2697480"/>
            <a:ext cx="2395728" cy="1691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6DEDC"/>
            </a:solidFill>
          </a:ln>
          <a:effectLst/>
          <a:effectLst>
            <a:outerShdw blurRad="90000" dist="40000" dir="5400000" rotWithShape="0">
              <a:srgbClr val="1428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83183" y="2862072"/>
            <a:ext cx="384048" cy="384048"/>
          </a:xfrm>
          <a:prstGeom prst="roundRect">
            <a:avLst>
              <a:gd name="adj" fmla="val 30000"/>
            </a:avLst>
          </a:prstGeom>
          <a:solidFill>
            <a:srgbClr val="0E7B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pic>
        <p:nvPicPr>
          <p:cNvPr id="8" name="Picture 7" descr="r_vsco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2115" y="2990088"/>
            <a:ext cx="868679" cy="86867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18591" y="3886200"/>
            <a:ext cx="239572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152220"/>
                </a:solidFill>
                <a:latin typeface="Segoe UI"/>
              </a:rPr>
              <a:t>VS Code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1519" y="2697480"/>
            <a:ext cx="2395728" cy="1691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6DEDC"/>
            </a:solidFill>
          </a:ln>
          <a:effectLst/>
          <a:effectLst>
            <a:outerShdw blurRad="90000" dist="40000" dir="5400000" rotWithShape="0">
              <a:srgbClr val="1428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636111" y="2862072"/>
            <a:ext cx="384048" cy="384048"/>
          </a:xfrm>
          <a:prstGeom prst="roundRect">
            <a:avLst>
              <a:gd name="adj" fmla="val 30000"/>
            </a:avLst>
          </a:prstGeom>
          <a:solidFill>
            <a:srgbClr val="0E7B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pic>
        <p:nvPicPr>
          <p:cNvPr id="12" name="Picture 11" descr="r_gi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1599" y="3191553"/>
            <a:ext cx="1115568" cy="465749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471519" y="3886200"/>
            <a:ext cx="239572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152220"/>
                </a:solidFill>
                <a:latin typeface="Segoe UI"/>
              </a:rPr>
              <a:t>Git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24447" y="2697480"/>
            <a:ext cx="2395728" cy="1691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6DEDC"/>
            </a:solidFill>
          </a:ln>
          <a:effectLst/>
          <a:effectLst>
            <a:outerShdw blurRad="90000" dist="40000" dir="5400000" rotWithShape="0">
              <a:srgbClr val="1428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489039" y="2862072"/>
            <a:ext cx="384048" cy="384048"/>
          </a:xfrm>
          <a:prstGeom prst="roundRect">
            <a:avLst>
              <a:gd name="adj" fmla="val 30000"/>
            </a:avLst>
          </a:prstGeom>
          <a:solidFill>
            <a:srgbClr val="0E7B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pic>
        <p:nvPicPr>
          <p:cNvPr id="16" name="Picture 15" descr="r_uv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87971" y="2990088"/>
            <a:ext cx="868679" cy="868679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324447" y="3886200"/>
            <a:ext cx="239572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152220"/>
                </a:solidFill>
                <a:latin typeface="Segoe UI"/>
              </a:rPr>
              <a:t>uv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77375" y="2697480"/>
            <a:ext cx="2395728" cy="1691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6DEDC"/>
            </a:solidFill>
          </a:ln>
          <a:effectLst/>
          <a:effectLst>
            <a:outerShdw blurRad="90000" dist="40000" dir="5400000" rotWithShape="0">
              <a:srgbClr val="1428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341967" y="2862072"/>
            <a:ext cx="384048" cy="384048"/>
          </a:xfrm>
          <a:prstGeom prst="roundRect">
            <a:avLst>
              <a:gd name="adj" fmla="val 30000"/>
            </a:avLst>
          </a:prstGeom>
          <a:solidFill>
            <a:srgbClr val="0E7B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pic>
        <p:nvPicPr>
          <p:cNvPr id="20" name="Picture 19" descr="r_pyth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40899" y="2990088"/>
            <a:ext cx="868679" cy="868679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9177375" y="3886200"/>
            <a:ext cx="239572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152220"/>
                </a:solidFill>
                <a:latin typeface="Segoe UI"/>
              </a:rPr>
              <a:t>Python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045055" y="4709160"/>
            <a:ext cx="2395728" cy="1691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6DEDC"/>
            </a:solidFill>
          </a:ln>
          <a:effectLst/>
          <a:effectLst>
            <a:outerShdw blurRad="90000" dist="40000" dir="5400000" rotWithShape="0">
              <a:srgbClr val="1428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2209647" y="4873752"/>
            <a:ext cx="384048" cy="384048"/>
          </a:xfrm>
          <a:prstGeom prst="roundRect">
            <a:avLst>
              <a:gd name="adj" fmla="val 30000"/>
            </a:avLst>
          </a:prstGeom>
          <a:solidFill>
            <a:srgbClr val="0E7B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93695" y="5212080"/>
            <a:ext cx="1755648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0E7B7B"/>
                </a:solidFill>
                <a:latin typeface="Consolas"/>
              </a:rPr>
              <a:t>( .venv 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45055" y="5897880"/>
            <a:ext cx="239572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152220"/>
                </a:solidFill>
                <a:latin typeface="Segoe UI"/>
              </a:rPr>
              <a:t>.venv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897983" y="4709160"/>
            <a:ext cx="2395728" cy="1691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6DEDC"/>
            </a:solidFill>
          </a:ln>
          <a:effectLst/>
          <a:effectLst>
            <a:outerShdw blurRad="90000" dist="40000" dir="5400000" rotWithShape="0">
              <a:srgbClr val="1428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5062575" y="4873752"/>
            <a:ext cx="384048" cy="384048"/>
          </a:xfrm>
          <a:prstGeom prst="roundRect">
            <a:avLst>
              <a:gd name="adj" fmla="val 30000"/>
            </a:avLst>
          </a:prstGeom>
          <a:solidFill>
            <a:srgbClr val="0E7B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6</a:t>
            </a:r>
          </a:p>
        </p:txBody>
      </p:sp>
      <p:pic>
        <p:nvPicPr>
          <p:cNvPr id="28" name="Picture 27" descr="r_jupyte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21012" y="5001768"/>
            <a:ext cx="749669" cy="86868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4897983" y="5897880"/>
            <a:ext cx="239572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152220"/>
                </a:solidFill>
                <a:latin typeface="Segoe UI"/>
              </a:rPr>
              <a:t>Jupyter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750911" y="4709160"/>
            <a:ext cx="2395728" cy="1691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6DEDC"/>
            </a:solidFill>
          </a:ln>
          <a:effectLst/>
          <a:effectLst>
            <a:outerShdw blurRad="90000" dist="40000" dir="5400000" rotWithShape="0">
              <a:srgbClr val="1428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7915503" y="4873752"/>
            <a:ext cx="384048" cy="384048"/>
          </a:xfrm>
          <a:prstGeom prst="roundRect">
            <a:avLst>
              <a:gd name="adj" fmla="val 30000"/>
            </a:avLst>
          </a:prstGeom>
          <a:solidFill>
            <a:srgbClr val="0E7B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7</a:t>
            </a:r>
          </a:p>
        </p:txBody>
      </p:sp>
      <p:pic>
        <p:nvPicPr>
          <p:cNvPr id="32" name="Picture 31" descr="pytorch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90991" y="5298416"/>
            <a:ext cx="1115568" cy="275383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7750911" y="5897880"/>
            <a:ext cx="239572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152220"/>
                </a:solidFill>
                <a:latin typeface="Segoe UI"/>
              </a:rPr>
              <a:t>PyTorch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6547104"/>
            <a:ext cx="10972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0A5C5C"/>
                </a:solidFill>
                <a:latin typeface="Segoe UI"/>
              </a:rPr>
              <a:t>Full interactive guide &amp; cheat sheet:  mugojames254.github.io/smart_facility_coursework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