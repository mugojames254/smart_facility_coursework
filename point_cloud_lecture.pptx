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7" d="100"/>
          <a:sy n="107" d="100"/>
        </p:scale>
        <p:origin x="71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5211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4. Before we write any code, we need to understand the kind of data we'll be working with: point clouds. The image on the right is not a photo and not a 3D model — it is 660,000 individual dots measured by our robot as it drove through a corridor in our building. By the end of this short lecture you should be able to explain what each of those dots is, how the robot measured them, and why they are useful for facility management.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a normal photo of the corridor. A photo stores colour on a flat grid — every pixel knows its colour, but not how far away it is. You cannot measure the width of the corridor from this picture. On the right is the robot's scan of the same space. It looks a bit like a ghostly model, because it is made only of dots. But every dot has a real position in metres, so we can rotate it, look from any angle, and measure distances. That is the key difference: a point cloud is measured 3D geometry, not a picture.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zoom in. From far away the scan looks like a solid model. The orange box shows where we zoom next. At the wall level it starts to look grainy, and at the closest zoom you can see it is really just separate dots with empty space in between. There are no surfaces, no walls as objects — only points. Each point is one spot on a real surface that the sensor hit. That's the whole idea: a point cloud is simply a big collection of 3D points.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real rows from the file you'll open today. Each point is one row: x, y, z give its position in metres, and r, g, b give its colour from 0 to 255. The highlighted row is the point drawn on the right — it sits at x = 1.06 m, y = −12.0 m, z = 0.60 m, and it's a brownish grey. That's all a point cloud file is: a very long table. Our colour scan has 660,034 rows. Some sensors add extra columns, like laser intensity or a class label saying whether the point belongs to a wall, floor or door.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every point is x, y, z, the obvious question is: measured from where? A point cloud always lives in a coordinate system. For our robot, (0, 0, 0) is simply where the robot was when it started scanning — here, in the side room. The units are metres, x and y are horizontal, and z points up. So the black dot at (−14.3, 5.2) is the far end of the corridor: 14.3 metres in the negative x direction and 5.2 metres in positive y from the start. One caution: each scan picks its own origin. Our colour scan and lidar map were made in separate runs, so the same wall has different numbers in each file. Lining up scans is called registration — a topic for later.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LiDAR stands for Light Detection And Ranging. It works like an echo, but with light. The sensor fires a laser pulse, times how long it takes to bounce back, and because we know the speed of light we can calculate the distance. We divide by two because the light travels there and back. Light is fast — an echo after just 20 nanoseconds means the wall is 3 metres away. The sensor spins and has many beams, so it builds up hundreds of thousands of points per second. The diagram on the right shows this from above: the beams hit the room, and on the far right is what the robot actually receives — only dots. Point out the gaps behind the column and table: the laser can't see through objects, so there are shadows. That's why the robot must drive around to scan everything.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robot that collected today's data — an unmanned ground vehicle built on an AgileX Ranger Mini base with an NVIDIA Jetson computer. It has two key sensors. The dome on top is a RoboSense Airy 3D LiDAR: 96 laser beams, sees all the way around and 90 degrees vertically, up to 860,000 points per second. It gives us accurate shape. The ZED X is a stereo camera — two lenses like our two eyes — which estimates depth and, importantly, captures colour. When we combine them, each point gets a position from the geometry and a colour from the camera. That's how we get the coloured scan you saw on the earlier slides.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scan only sees what's around the robot at that moment, with shadows. To map a whole floor, the robot drives and keeps scanning. The clever part is SLAM: each new scan is matched against the map built so far. That match tells the robot where it is, and the new points are added to extend the map — both at the same time. These three pictures are from our real run: after 1.3 minutes the robot has mapped the room it started in; after 4.7 minutes it has entered the corridor; after 10.5 minutes it has covered 64 metres. The orange line is the robot's path — you'll plot exactly this path yourselves in the hands-on part.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many points do you need? With 1,000 points you can barely tell it's a building. At 10,000 you see the shape. At 100,000 you can recognise walls and doors, and at 400,000 you see details. More points means more detail — but also bigger files and slower software. The robot's raw scan had 8.1 million points and was 252 MB, too big to download in class. So I downsampled it: split space into 5 cm cubes, called voxels, and keep one point per cube. That gives 660,000 points in about 10 MB, which is still detailed enough for everything we'll do today. Choosing the right density is a real decision in facility projects.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every point is just numbers, we can choose how to colour it. On the left, each point is coloured by its height — blue is the floor, red is high up. We removed the ceiling points so we can look inside like a dollhouse. On the right, the same points are coloured using the camera's real colours. The positions are identical; only the colouring rule changed. Height colouring makes the floor and obstacles pop out; real colour helps you recognise what things are. Later you'll switch between these with a single line of code.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point cloud has no surfaces — just dots. Many tools turn it into a mesh: software connects neighbouring points with small triangles, so walls and floors become real surfaces. The middle picture zooms right in so you can see those triangles. Then the camera's photos can be painted onto the triangles — that's the textured mesh on the right, made from the same robot run. Meshes look solid and are what you usually see in digital twins and BIM models, and they're great for visualisation. But look at the holes: wherever the scanner saw nothing, there is simply no surface. The point cloud is the measurement; the mesh is an interpretation built on top of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trust numbers from a scan, we need to know how scans go wrong. These are real problems from our own data. On the left is a slice across the corridor: the robot drove past this spot more than once, and each time it thought it was in a slightly different place, so the same wall appears twice — a ghost wall. On the right is the robot's own estimate of its height over the run. The floor is flat, so this line should stay at zero, but small errors added up and it drifted by 1.8 metres. This is called drift, and it's why SLAM systems try to recognise places they've already been and correct themselves. Other common problems: glass and mirrors confuse lasers, people walking past leave ghost trails, and you get shadows behind objects. The lesson for facility managers: always check at least one measurement against a tape measure or a drawing.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a facility manager care? Because once you have measured 3D points, you can answer real questions. On the left, we kept only the points between desk height and head height and looked from above — that gives an as-built floor plan. On the right, we took a thin slice across the corridor, where the orange line is, and looked at it from the side. Now we can measure: the corridor here is about 4.2 metres wide. Note it's approximate — the scan has some noise. The same idea supports escape-route clearance checks, asset registers, and comparing scans over time to detect changes, like new obstructions in a corridor.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practical notes before the hands-on. Point clouds come in several file formats. Today we use .ply — simple and supported almost everywhere. .pcd comes from the Point Cloud Library and is common on ROS robots like ours. .las and .laz are the standards for surveying and drone mapping. .e57 is what professional terrestrial laser scanners export. To look at them, today we'll use Open3D from Python. For desktop work, CloudCompare is free and excellent — this screenshot is our lidar map in CloudCompare, coloured by height. MeshLab is best for meshes. You don't need to install these today, but they're worth knowing.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theory. Now let's get hands-on. Open the Week 4 page on the course website and follow the steps: create a new uv project, add the four libraries, download the class data, then run two scripts. The first one reads the robot's trajectory and the lidar map and produces this picture — the map from above with the robot's route on top — plus the distance and time the robot drove. The second opens the coloured scan in a 3D window you can rotate and zoom. The files are .ply format; you'll also meet .pcd, .las and .e57 in industry, and CloudCompare is a good free desktop viewer.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png"/><Relationship Id="rId7"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9ECEC"/>
        </a:solidFill>
        <a:effectLst/>
      </p:bgPr>
    </p:bg>
    <p:spTree>
      <p:nvGrpSpPr>
        <p:cNvPr id="1" name=""/>
        <p:cNvGrpSpPr/>
        <p:nvPr/>
      </p:nvGrpSpPr>
      <p:grpSpPr>
        <a:xfrm>
          <a:off x="0" y="0"/>
          <a:ext cx="0" cy="0"/>
          <a:chOff x="0" y="0"/>
          <a:chExt cx="0" cy="0"/>
        </a:xfrm>
      </p:grpSpPr>
      <p:sp>
        <p:nvSpPr>
          <p:cNvPr id="2" name="Text 0"/>
          <p:cNvSpPr txBox="1"/>
          <p:nvPr/>
        </p:nvSpPr>
        <p:spPr>
          <a:xfrm>
            <a:off x="548640" y="1097280"/>
            <a:ext cx="4937760" cy="274320"/>
          </a:xfrm>
          <a:prstGeom prst="rect">
            <a:avLst/>
          </a:prstGeom>
          <a:noFill/>
          <a:ln/>
        </p:spPr>
        <p:txBody>
          <a:bodyPr wrap="square" lIns="0" tIns="0" rIns="0" bIns="0" rtlCol="0" anchor="t"/>
          <a:lstStyle/>
          <a:p>
            <a:pPr marL="0" indent="0">
              <a:buNone/>
            </a:pPr>
            <a:r>
              <a:rPr lang="en-US" sz="1100" b="1" kern="0" spc="200" dirty="0">
                <a:solidFill>
                  <a:srgbClr val="0E7B7B"/>
                </a:solidFill>
                <a:latin typeface="Segoe UI" pitchFamily="34" charset="0"/>
                <a:ea typeface="Segoe UI" pitchFamily="34" charset="-122"/>
                <a:cs typeface="Segoe UI" pitchFamily="34" charset="-120"/>
              </a:rPr>
              <a:t>SMART FACILITY MANAGEMENT  ·  WEEK 04</a:t>
            </a:r>
            <a:endParaRPr lang="en-US" sz="1100" dirty="0"/>
          </a:p>
        </p:txBody>
      </p:sp>
      <p:sp>
        <p:nvSpPr>
          <p:cNvPr id="3" name="Text 1"/>
          <p:cNvSpPr txBox="1"/>
          <p:nvPr/>
        </p:nvSpPr>
        <p:spPr>
          <a:xfrm>
            <a:off x="548640" y="1463040"/>
            <a:ext cx="4937760" cy="822960"/>
          </a:xfrm>
          <a:prstGeom prst="rect">
            <a:avLst/>
          </a:prstGeom>
          <a:noFill/>
          <a:ln/>
        </p:spPr>
        <p:txBody>
          <a:bodyPr wrap="square" lIns="0" tIns="0" rIns="0" bIns="0" rtlCol="0" anchor="t"/>
          <a:lstStyle/>
          <a:p>
            <a:pPr marL="0" indent="0">
              <a:buNone/>
            </a:pPr>
            <a:r>
              <a:rPr lang="en-US" sz="4400" b="1" dirty="0">
                <a:solidFill>
                  <a:srgbClr val="152220"/>
                </a:solidFill>
                <a:latin typeface="Segoe UI" pitchFamily="34" charset="0"/>
                <a:ea typeface="Segoe UI" pitchFamily="34" charset="-122"/>
                <a:cs typeface="Segoe UI" pitchFamily="34" charset="-120"/>
              </a:rPr>
              <a:t>Point Cloud Data</a:t>
            </a:r>
            <a:endParaRPr lang="en-US" sz="4400" dirty="0"/>
          </a:p>
        </p:txBody>
      </p:sp>
      <p:sp>
        <p:nvSpPr>
          <p:cNvPr id="4" name="Text 2"/>
          <p:cNvSpPr txBox="1"/>
          <p:nvPr/>
        </p:nvSpPr>
        <p:spPr>
          <a:xfrm>
            <a:off x="548640" y="2286000"/>
            <a:ext cx="4937760" cy="457200"/>
          </a:xfrm>
          <a:prstGeom prst="rect">
            <a:avLst/>
          </a:prstGeom>
          <a:noFill/>
          <a:ln/>
        </p:spPr>
        <p:txBody>
          <a:bodyPr wrap="square" lIns="0" tIns="0" rIns="0" bIns="0" rtlCol="0" anchor="t"/>
          <a:lstStyle/>
          <a:p>
            <a:pPr marL="0" indent="0">
              <a:buNone/>
            </a:pPr>
            <a:r>
              <a:rPr lang="en-US" sz="2200" dirty="0">
                <a:solidFill>
                  <a:srgbClr val="576560"/>
                </a:solidFill>
                <a:latin typeface="Segoe UI" pitchFamily="34" charset="0"/>
                <a:ea typeface="Segoe UI" pitchFamily="34" charset="-122"/>
                <a:cs typeface="Segoe UI" pitchFamily="34" charset="-120"/>
              </a:rPr>
              <a:t>Exploring a robot facility scan</a:t>
            </a:r>
            <a:endParaRPr lang="en-US" sz="2200" dirty="0"/>
          </a:p>
        </p:txBody>
      </p:sp>
      <p:sp>
        <p:nvSpPr>
          <p:cNvPr id="5" name="Text 3"/>
          <p:cNvSpPr txBox="1"/>
          <p:nvPr/>
        </p:nvSpPr>
        <p:spPr>
          <a:xfrm>
            <a:off x="548640" y="2788920"/>
            <a:ext cx="4937760" cy="365760"/>
          </a:xfrm>
          <a:prstGeom prst="rect">
            <a:avLst/>
          </a:prstGeom>
          <a:noFill/>
          <a:ln/>
        </p:spPr>
        <p:txBody>
          <a:bodyPr wrap="square" lIns="0" tIns="0" rIns="0" bIns="0" rtlCol="0" anchor="t"/>
          <a:lstStyle/>
          <a:p>
            <a:pPr marL="0" indent="0">
              <a:buNone/>
            </a:pPr>
            <a:r>
              <a:rPr lang="en-US" sz="1500" dirty="0">
                <a:solidFill>
                  <a:srgbClr val="0A5C5C"/>
                </a:solidFill>
                <a:latin typeface="Malgun Gothic" pitchFamily="34" charset="0"/>
                <a:ea typeface="Malgun Gothic" pitchFamily="34" charset="-122"/>
                <a:cs typeface="Malgun Gothic" pitchFamily="34" charset="-120"/>
              </a:rPr>
              <a:t>포인트 클라우드 데이터 — 로봇 시설 스캔 탐색하기</a:t>
            </a:r>
            <a:endParaRPr lang="en-US" sz="1500" dirty="0"/>
          </a:p>
        </p:txBody>
      </p:sp>
      <p:sp>
        <p:nvSpPr>
          <p:cNvPr id="6" name="Text 4"/>
          <p:cNvSpPr txBox="1"/>
          <p:nvPr/>
        </p:nvSpPr>
        <p:spPr>
          <a:xfrm>
            <a:off x="548640" y="3474720"/>
            <a:ext cx="4572000" cy="822960"/>
          </a:xfrm>
          <a:prstGeom prst="rect">
            <a:avLst/>
          </a:prstGeom>
          <a:noFill/>
          <a:ln/>
        </p:spPr>
        <p:txBody>
          <a:bodyPr wrap="square" lIns="0" tIns="0" rIns="0" bIns="0" rtlCol="0" anchor="t"/>
          <a:lstStyle/>
          <a:p>
            <a:pPr marL="0" indent="0">
              <a:buNone/>
            </a:pPr>
            <a:r>
              <a:rPr lang="en-US" sz="1400" dirty="0">
                <a:solidFill>
                  <a:srgbClr val="576560"/>
                </a:solidFill>
                <a:latin typeface="Segoe UI" pitchFamily="34" charset="0"/>
                <a:ea typeface="Segoe UI" pitchFamily="34" charset="-122"/>
                <a:cs typeface="Segoe UI" pitchFamily="34" charset="-120"/>
              </a:rPr>
              <a:t>What a point cloud is, how our robot captured one in a real building, and what a facility manager can do with it.</a:t>
            </a:r>
            <a:endParaRPr lang="en-US" sz="1400" dirty="0"/>
          </a:p>
        </p:txBody>
      </p:sp>
      <p:sp>
        <p:nvSpPr>
          <p:cNvPr id="7" name="Text 5"/>
          <p:cNvSpPr txBox="1"/>
          <p:nvPr/>
        </p:nvSpPr>
        <p:spPr>
          <a:xfrm>
            <a:off x="548640" y="4251960"/>
            <a:ext cx="4572000" cy="640080"/>
          </a:xfrm>
          <a:prstGeom prst="rect">
            <a:avLst/>
          </a:prstGeom>
          <a:noFill/>
          <a:ln/>
        </p:spPr>
        <p:txBody>
          <a:bodyPr wrap="square" lIns="0" tIns="0" rIns="0" bIns="0" rtlCol="0" anchor="t"/>
          <a:lstStyle/>
          <a:p>
            <a:pPr marL="0" indent="0">
              <a:buNone/>
            </a:pPr>
            <a:r>
              <a:rPr lang="en-US" sz="1200" dirty="0">
                <a:solidFill>
                  <a:srgbClr val="0A5C5C"/>
                </a:solidFill>
                <a:latin typeface="Malgun Gothic" pitchFamily="34" charset="0"/>
                <a:ea typeface="Malgun Gothic" pitchFamily="34" charset="-122"/>
                <a:cs typeface="Malgun Gothic" pitchFamily="34" charset="-120"/>
              </a:rPr>
              <a:t>포인트 클라우드란 무엇이며, 로봇이 실제 건물에서 어떻게 수집했고, 시설 관리에 어떻게 활용할 수 있는지 알아봅니다.</a:t>
            </a:r>
            <a:endParaRPr lang="en-US" sz="1200" dirty="0"/>
          </a:p>
        </p:txBody>
      </p:sp>
      <p:sp>
        <p:nvSpPr>
          <p:cNvPr id="8" name="Shape 6"/>
          <p:cNvSpPr/>
          <p:nvPr/>
        </p:nvSpPr>
        <p:spPr>
          <a:xfrm>
            <a:off x="5760720" y="548640"/>
            <a:ext cx="5879592" cy="5577840"/>
          </a:xfrm>
          <a:prstGeom prst="roundRect">
            <a:avLst>
              <a:gd name="adj" fmla="val 1967"/>
            </a:avLst>
          </a:prstGeom>
          <a:solidFill>
            <a:srgbClr val="0E1A19"/>
          </a:solidFill>
          <a:ln w="12700">
            <a:solidFill>
              <a:srgbClr val="0E1A19"/>
            </a:solidFill>
            <a:prstDash val="solid"/>
          </a:ln>
          <a:effectLst>
            <a:outerShdw blurRad="127000" dist="25400" dir="5400000" algn="bl" rotWithShape="0">
              <a:srgbClr val="14282A">
                <a:alpha val="12000"/>
              </a:srgbClr>
            </a:outerShdw>
          </a:effectLst>
        </p:spPr>
      </p:sp>
      <p:pic>
        <p:nvPicPr>
          <p:cNvPr id="9" name="Image 0" descr="fig/hero.png"/>
          <p:cNvPicPr>
            <a:picLocks noChangeAspect="1"/>
          </p:cNvPicPr>
          <p:nvPr/>
        </p:nvPicPr>
        <p:blipFill>
          <a:blip r:embed="rId3"/>
          <a:srcRect/>
          <a:stretch/>
        </p:blipFill>
        <p:spPr>
          <a:xfrm>
            <a:off x="5760720" y="548640"/>
            <a:ext cx="5879592" cy="5577840"/>
          </a:xfrm>
          <a:prstGeom prst="rect">
            <a:avLst/>
          </a:prstGeom>
        </p:spPr>
      </p:pic>
      <p:sp>
        <p:nvSpPr>
          <p:cNvPr id="10" name="Text 7"/>
          <p:cNvSpPr txBox="1"/>
          <p:nvPr/>
        </p:nvSpPr>
        <p:spPr>
          <a:xfrm>
            <a:off x="5989320" y="5669280"/>
            <a:ext cx="5486400" cy="274320"/>
          </a:xfrm>
          <a:prstGeom prst="rect">
            <a:avLst/>
          </a:prstGeom>
          <a:noFill/>
          <a:ln/>
        </p:spPr>
        <p:txBody>
          <a:bodyPr wrap="square" lIns="0" tIns="0" rIns="0" bIns="0" rtlCol="0" anchor="t"/>
          <a:lstStyle/>
          <a:p>
            <a:pPr marL="0" indent="0">
              <a:buNone/>
            </a:pPr>
            <a:r>
              <a:rPr lang="en-US" sz="1100" dirty="0">
                <a:solidFill>
                  <a:srgbClr val="C9D3D1"/>
                </a:solidFill>
                <a:latin typeface="Segoe UI" pitchFamily="34" charset="0"/>
                <a:ea typeface="Segoe UI" pitchFamily="34" charset="-122"/>
                <a:cs typeface="Segoe UI" pitchFamily="34" charset="-120"/>
              </a:rPr>
              <a:t>660,034 points · scanned by our UGV, Sept 2026</a:t>
            </a:r>
            <a:endParaRPr lang="en-US" sz="1100" dirty="0"/>
          </a:p>
        </p:txBody>
      </p:sp>
      <p:sp>
        <p:nvSpPr>
          <p:cNvPr id="11" name="Text 8"/>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50" dirty="0">
                <a:solidFill>
                  <a:srgbClr val="8A9793"/>
                </a:solidFill>
                <a:latin typeface="Segoe UI" pitchFamily="34" charset="0"/>
                <a:ea typeface="Segoe UI" pitchFamily="34" charset="-122"/>
                <a:cs typeface="Segoe UI" pitchFamily="34" charset="-120"/>
              </a:rPr>
              <a:t>Smart Facility Management  ·  Week 04  —  Point Cloud Data</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CE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marL="0" indent="0">
              <a:buNone/>
            </a:pPr>
            <a:r>
              <a:rPr lang="en-US" sz="1100" b="1" kern="0" spc="200" dirty="0">
                <a:solidFill>
                  <a:srgbClr val="0E7B7B"/>
                </a:solidFill>
                <a:latin typeface="Segoe UI" pitchFamily="34" charset="0"/>
                <a:ea typeface="Segoe UI" pitchFamily="34" charset="-122"/>
                <a:cs typeface="Segoe UI" pitchFamily="34" charset="-120"/>
              </a:rPr>
              <a:t>POINT CLOUD DATA  ·  WEEK 04</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t"/>
          <a:lstStyle/>
          <a:p>
            <a:pPr marL="0" indent="0">
              <a:buNone/>
            </a:pPr>
            <a:r>
              <a:rPr lang="en-US" sz="3000" b="1" dirty="0">
                <a:solidFill>
                  <a:srgbClr val="152220"/>
                </a:solidFill>
                <a:latin typeface="Segoe UI" pitchFamily="34" charset="0"/>
                <a:ea typeface="Segoe UI" pitchFamily="34" charset="-122"/>
                <a:cs typeface="Segoe UI" pitchFamily="34" charset="-120"/>
              </a:rPr>
              <a:t>A photo vs. a point cloud</a:t>
            </a:r>
            <a:endParaRPr lang="en-US" sz="3000" dirty="0"/>
          </a:p>
        </p:txBody>
      </p:sp>
      <p:sp>
        <p:nvSpPr>
          <p:cNvPr id="4" name="Text 2"/>
          <p:cNvSpPr txBox="1"/>
          <p:nvPr/>
        </p:nvSpPr>
        <p:spPr>
          <a:xfrm>
            <a:off x="548640" y="1225296"/>
            <a:ext cx="11094415" cy="365760"/>
          </a:xfrm>
          <a:prstGeom prst="rect">
            <a:avLst/>
          </a:prstGeom>
          <a:noFill/>
          <a:ln/>
        </p:spPr>
        <p:txBody>
          <a:bodyPr wrap="square" lIns="0" tIns="0" rIns="0" bIns="0" rtlCol="0" anchor="t"/>
          <a:lstStyle/>
          <a:p>
            <a:pPr marL="0" indent="0">
              <a:buNone/>
            </a:pPr>
            <a:r>
              <a:rPr lang="en-US" sz="1500" dirty="0">
                <a:solidFill>
                  <a:srgbClr val="0A5C5C"/>
                </a:solidFill>
                <a:latin typeface="Malgun Gothic" pitchFamily="34" charset="0"/>
                <a:ea typeface="Malgun Gothic" pitchFamily="34" charset="-122"/>
                <a:cs typeface="Malgun Gothic" pitchFamily="34" charset="-120"/>
              </a:rPr>
              <a:t>사진 vs. 포인트 클라우드 — 같은 복도, 다른 데이터</a:t>
            </a:r>
            <a:endParaRPr lang="en-US" sz="1500" dirty="0"/>
          </a:p>
        </p:txBody>
      </p:sp>
      <p:sp>
        <p:nvSpPr>
          <p:cNvPr id="5" name="Shape 3"/>
          <p:cNvSpPr/>
          <p:nvPr/>
        </p:nvSpPr>
        <p:spPr>
          <a:xfrm>
            <a:off x="548640" y="1783080"/>
            <a:ext cx="3200400" cy="3840480"/>
          </a:xfrm>
          <a:prstGeom prst="roundRect">
            <a:avLst>
              <a:gd name="adj" fmla="val 3429"/>
            </a:avLst>
          </a:prstGeom>
          <a:solidFill>
            <a:srgbClr val="FFFFFF"/>
          </a:solidFill>
          <a:ln w="12700">
            <a:solidFill>
              <a:srgbClr val="FFFFFF"/>
            </a:solidFill>
            <a:prstDash val="solid"/>
          </a:ln>
          <a:effectLst>
            <a:outerShdw blurRad="127000" dist="25400" dir="5400000" algn="bl" rotWithShape="0">
              <a:srgbClr val="14282A">
                <a:alpha val="12000"/>
              </a:srgbClr>
            </a:outerShdw>
          </a:effectLst>
        </p:spPr>
      </p:sp>
      <p:pic>
        <p:nvPicPr>
          <p:cNvPr id="6" name="Image 0" descr="/root/labwork_progress/smart_facility_mgt/assets/week04_site_photo.jpg"/>
          <p:cNvPicPr>
            <a:picLocks noChangeAspect="1"/>
          </p:cNvPicPr>
          <p:nvPr/>
        </p:nvPicPr>
        <p:blipFill>
          <a:blip r:embed="rId3"/>
          <a:srcRect/>
          <a:stretch/>
        </p:blipFill>
        <p:spPr>
          <a:xfrm>
            <a:off x="548640" y="1783080"/>
            <a:ext cx="3200400" cy="3840480"/>
          </a:xfrm>
          <a:prstGeom prst="rect">
            <a:avLst/>
          </a:prstGeom>
        </p:spPr>
      </p:pic>
      <p:sp>
        <p:nvSpPr>
          <p:cNvPr id="7" name="Shape 4"/>
          <p:cNvSpPr/>
          <p:nvPr/>
        </p:nvSpPr>
        <p:spPr>
          <a:xfrm>
            <a:off x="3913632" y="3474720"/>
            <a:ext cx="457200" cy="457200"/>
          </a:xfrm>
          <a:prstGeom prst="rightArrow">
            <a:avLst/>
          </a:prstGeom>
          <a:solidFill>
            <a:srgbClr val="0E7B7B"/>
          </a:solidFill>
          <a:ln w="12700">
            <a:solidFill>
              <a:srgbClr val="0E7B7B"/>
            </a:solidFill>
            <a:prstDash val="solid"/>
          </a:ln>
        </p:spPr>
      </p:sp>
      <p:sp>
        <p:nvSpPr>
          <p:cNvPr id="8" name="Shape 5"/>
          <p:cNvSpPr/>
          <p:nvPr/>
        </p:nvSpPr>
        <p:spPr>
          <a:xfrm>
            <a:off x="4526280" y="1783080"/>
            <a:ext cx="7116775" cy="3840480"/>
          </a:xfrm>
          <a:prstGeom prst="roundRect">
            <a:avLst>
              <a:gd name="adj" fmla="val 2857"/>
            </a:avLst>
          </a:prstGeom>
          <a:solidFill>
            <a:srgbClr val="0E1A19"/>
          </a:solidFill>
          <a:ln w="12700">
            <a:solidFill>
              <a:srgbClr val="0E1A19"/>
            </a:solidFill>
            <a:prstDash val="solid"/>
          </a:ln>
          <a:effectLst>
            <a:outerShdw blurRad="127000" dist="25400" dir="5400000" algn="bl" rotWithShape="0">
              <a:srgbClr val="14282A">
                <a:alpha val="12000"/>
              </a:srgbClr>
            </a:outerShdw>
          </a:effectLst>
        </p:spPr>
      </p:sp>
      <p:pic>
        <p:nvPicPr>
          <p:cNvPr id="9" name="Image 1" descr="fig/hero.png"/>
          <p:cNvPicPr>
            <a:picLocks noChangeAspect="1"/>
          </p:cNvPicPr>
          <p:nvPr/>
        </p:nvPicPr>
        <p:blipFill>
          <a:blip r:embed="rId4"/>
          <a:srcRect/>
          <a:stretch/>
        </p:blipFill>
        <p:spPr>
          <a:xfrm>
            <a:off x="4526280" y="1783080"/>
            <a:ext cx="7116775" cy="3840480"/>
          </a:xfrm>
          <a:prstGeom prst="rect">
            <a:avLst/>
          </a:prstGeom>
        </p:spPr>
      </p:pic>
      <p:sp>
        <p:nvSpPr>
          <p:cNvPr id="10" name="Text 6"/>
          <p:cNvSpPr txBox="1"/>
          <p:nvPr/>
        </p:nvSpPr>
        <p:spPr>
          <a:xfrm>
            <a:off x="548640" y="5715000"/>
            <a:ext cx="3200400" cy="640080"/>
          </a:xfrm>
          <a:prstGeom prst="rect">
            <a:avLst/>
          </a:prstGeom>
          <a:noFill/>
          <a:ln/>
        </p:spPr>
        <p:txBody>
          <a:bodyPr wrap="square" lIns="0" tIns="0" rIns="0" bIns="0" rtlCol="0" anchor="t"/>
          <a:lstStyle/>
          <a:p>
            <a:pPr marL="0" indent="0">
              <a:buNone/>
            </a:pPr>
            <a:r>
              <a:rPr lang="en-US" sz="1400" b="1" dirty="0">
                <a:solidFill>
                  <a:srgbClr val="152220"/>
                </a:solidFill>
                <a:latin typeface="Segoe UI" pitchFamily="34" charset="0"/>
                <a:ea typeface="Segoe UI" pitchFamily="34" charset="-122"/>
                <a:cs typeface="Segoe UI" pitchFamily="34" charset="-120"/>
              </a:rPr>
              <a:t>Photo  ·  사진</a:t>
            </a:r>
            <a:endParaRPr lang="en-US" sz="1400" dirty="0"/>
          </a:p>
          <a:p>
            <a:pPr marL="0" indent="0">
              <a:buNone/>
            </a:pPr>
            <a:r>
              <a:rPr lang="en-US" sz="1200" dirty="0">
                <a:solidFill>
                  <a:srgbClr val="576560"/>
                </a:solidFill>
                <a:latin typeface="Segoe UI" pitchFamily="34" charset="0"/>
                <a:ea typeface="Segoe UI" pitchFamily="34" charset="-122"/>
                <a:cs typeface="Segoe UI" pitchFamily="34" charset="-120"/>
              </a:rPr>
              <a:t>Colour on a flat grid of pixels. No depth — you can't measure the corridor from it.</a:t>
            </a:r>
            <a:endParaRPr lang="en-US" sz="1400" dirty="0"/>
          </a:p>
        </p:txBody>
      </p:sp>
      <p:sp>
        <p:nvSpPr>
          <p:cNvPr id="11" name="Text 7"/>
          <p:cNvSpPr txBox="1"/>
          <p:nvPr/>
        </p:nvSpPr>
        <p:spPr>
          <a:xfrm>
            <a:off x="4526280" y="5715000"/>
            <a:ext cx="7116775" cy="640080"/>
          </a:xfrm>
          <a:prstGeom prst="rect">
            <a:avLst/>
          </a:prstGeom>
          <a:noFill/>
          <a:ln/>
        </p:spPr>
        <p:txBody>
          <a:bodyPr wrap="square" lIns="0" tIns="0" rIns="0" bIns="0" rtlCol="0" anchor="t"/>
          <a:lstStyle/>
          <a:p>
            <a:pPr marL="0" indent="0">
              <a:buNone/>
            </a:pPr>
            <a:r>
              <a:rPr lang="en-US" sz="1400" b="1" dirty="0">
                <a:solidFill>
                  <a:srgbClr val="152220"/>
                </a:solidFill>
                <a:latin typeface="Segoe UI" pitchFamily="34" charset="0"/>
                <a:ea typeface="Segoe UI" pitchFamily="34" charset="-122"/>
                <a:cs typeface="Segoe UI" pitchFamily="34" charset="-120"/>
              </a:rPr>
              <a:t>Point cloud  ·  포인트 클라우드</a:t>
            </a:r>
            <a:endParaRPr lang="en-US" sz="1400" dirty="0"/>
          </a:p>
          <a:p>
            <a:pPr marL="0" indent="0">
              <a:buNone/>
            </a:pPr>
            <a:r>
              <a:rPr lang="en-US" sz="1200" dirty="0">
                <a:solidFill>
                  <a:srgbClr val="576560"/>
                </a:solidFill>
                <a:latin typeface="Segoe UI" pitchFamily="34" charset="0"/>
                <a:ea typeface="Segoe UI" pitchFamily="34" charset="-122"/>
                <a:cs typeface="Segoe UI" pitchFamily="34" charset="-120"/>
              </a:rPr>
              <a:t>Hundreds of thousands of dots, each at a real 3D position in metres. You can walk around it — and measure it.</a:t>
            </a:r>
            <a:endParaRPr lang="en-US" sz="1400" dirty="0"/>
          </a:p>
        </p:txBody>
      </p:sp>
      <p:sp>
        <p:nvSpPr>
          <p:cNvPr id="12" name="Text 8"/>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50" dirty="0">
                <a:solidFill>
                  <a:srgbClr val="8A9793"/>
                </a:solidFill>
                <a:latin typeface="Segoe UI" pitchFamily="34" charset="0"/>
                <a:ea typeface="Segoe UI" pitchFamily="34" charset="-122"/>
                <a:cs typeface="Segoe UI" pitchFamily="34" charset="-120"/>
              </a:rPr>
              <a:t>Smart Facility Management  ·  Week 04  —  Point Cloud Data</a:t>
            </a:r>
            <a:endParaRPr lang="en-US" sz="950" dirty="0"/>
          </a:p>
        </p:txBody>
      </p:sp>
      <p:sp>
        <p:nvSpPr>
          <p:cNvPr id="13" name="Text 9"/>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50" dirty="0">
                <a:solidFill>
                  <a:srgbClr val="8A9793"/>
                </a:solidFill>
                <a:latin typeface="Segoe UI" pitchFamily="34" charset="0"/>
                <a:ea typeface="Segoe UI" pitchFamily="34" charset="-122"/>
                <a:cs typeface="Segoe UI" pitchFamily="34" charset="-120"/>
              </a:rPr>
              <a:t>2 / 15</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CE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marL="0" indent="0">
              <a:buNone/>
            </a:pPr>
            <a:r>
              <a:rPr lang="en-US" sz="1100" b="1" kern="0" spc="200" dirty="0">
                <a:solidFill>
                  <a:srgbClr val="0E7B7B"/>
                </a:solidFill>
                <a:latin typeface="Segoe UI" pitchFamily="34" charset="0"/>
                <a:ea typeface="Segoe UI" pitchFamily="34" charset="-122"/>
                <a:cs typeface="Segoe UI" pitchFamily="34" charset="-120"/>
              </a:rPr>
              <a:t>POINT CLOUD DATA  ·  WEEK 04</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t"/>
          <a:lstStyle/>
          <a:p>
            <a:pPr marL="0" indent="0">
              <a:buNone/>
            </a:pPr>
            <a:r>
              <a:rPr lang="en-US" sz="3000" b="1" dirty="0">
                <a:solidFill>
                  <a:srgbClr val="152220"/>
                </a:solidFill>
                <a:latin typeface="Segoe UI" pitchFamily="34" charset="0"/>
                <a:ea typeface="Segoe UI" pitchFamily="34" charset="-122"/>
                <a:cs typeface="Segoe UI" pitchFamily="34" charset="-120"/>
              </a:rPr>
              <a:t>Zoom in far enough: it's just dots</a:t>
            </a:r>
            <a:endParaRPr lang="en-US" sz="3000" dirty="0"/>
          </a:p>
        </p:txBody>
      </p:sp>
      <p:sp>
        <p:nvSpPr>
          <p:cNvPr id="4" name="Text 2"/>
          <p:cNvSpPr txBox="1"/>
          <p:nvPr/>
        </p:nvSpPr>
        <p:spPr>
          <a:xfrm>
            <a:off x="548640" y="1225296"/>
            <a:ext cx="11094415" cy="365760"/>
          </a:xfrm>
          <a:prstGeom prst="rect">
            <a:avLst/>
          </a:prstGeom>
          <a:noFill/>
          <a:ln/>
        </p:spPr>
        <p:txBody>
          <a:bodyPr wrap="square" lIns="0" tIns="0" rIns="0" bIns="0" rtlCol="0" anchor="t"/>
          <a:lstStyle/>
          <a:p>
            <a:pPr marL="0" indent="0">
              <a:buNone/>
            </a:pPr>
            <a:r>
              <a:rPr lang="en-US" sz="1500" dirty="0">
                <a:solidFill>
                  <a:srgbClr val="0A5C5C"/>
                </a:solidFill>
                <a:latin typeface="Malgun Gothic" pitchFamily="34" charset="0"/>
                <a:ea typeface="Malgun Gothic" pitchFamily="34" charset="-122"/>
                <a:cs typeface="Malgun Gothic" pitchFamily="34" charset="-120"/>
              </a:rPr>
              <a:t>확대해 보면 — 점들의 모음일 뿐입니다</a:t>
            </a:r>
            <a:endParaRPr lang="en-US" sz="1500" dirty="0"/>
          </a:p>
        </p:txBody>
      </p:sp>
      <p:sp>
        <p:nvSpPr>
          <p:cNvPr id="5" name="Shape 3"/>
          <p:cNvSpPr/>
          <p:nvPr/>
        </p:nvSpPr>
        <p:spPr>
          <a:xfrm>
            <a:off x="548640" y="1783080"/>
            <a:ext cx="11094415" cy="3154680"/>
          </a:xfrm>
          <a:prstGeom prst="roundRect">
            <a:avLst>
              <a:gd name="adj" fmla="val 3478"/>
            </a:avLst>
          </a:prstGeom>
          <a:solidFill>
            <a:srgbClr val="0E1A19"/>
          </a:solidFill>
          <a:ln w="12700">
            <a:solidFill>
              <a:srgbClr val="0E1A19"/>
            </a:solidFill>
            <a:prstDash val="solid"/>
          </a:ln>
          <a:effectLst>
            <a:outerShdw blurRad="127000" dist="25400" dir="5400000" algn="bl" rotWithShape="0">
              <a:srgbClr val="14282A">
                <a:alpha val="12000"/>
              </a:srgbClr>
            </a:outerShdw>
          </a:effectLst>
        </p:spPr>
      </p:sp>
      <p:pic>
        <p:nvPicPr>
          <p:cNvPr id="6" name="Image 0" descr="fig/zoomseq.png"/>
          <p:cNvPicPr>
            <a:picLocks noChangeAspect="1"/>
          </p:cNvPicPr>
          <p:nvPr/>
        </p:nvPicPr>
        <p:blipFill>
          <a:blip r:embed="rId3"/>
          <a:stretch>
            <a:fillRect/>
          </a:stretch>
        </p:blipFill>
        <p:spPr>
          <a:xfrm>
            <a:off x="1363828" y="1783080"/>
            <a:ext cx="9464040" cy="3154680"/>
          </a:xfrm>
          <a:prstGeom prst="rect">
            <a:avLst/>
          </a:prstGeom>
        </p:spPr>
      </p:pic>
      <p:sp>
        <p:nvSpPr>
          <p:cNvPr id="7" name="Text 4"/>
          <p:cNvSpPr txBox="1"/>
          <p:nvPr/>
        </p:nvSpPr>
        <p:spPr>
          <a:xfrm>
            <a:off x="1409548" y="5102352"/>
            <a:ext cx="2971800" cy="685800"/>
          </a:xfrm>
          <a:prstGeom prst="rect">
            <a:avLst/>
          </a:prstGeom>
          <a:noFill/>
          <a:ln/>
        </p:spPr>
        <p:txBody>
          <a:bodyPr wrap="square" lIns="0" tIns="0" rIns="0" bIns="0" rtlCol="0" anchor="t"/>
          <a:lstStyle/>
          <a:p>
            <a:pPr marL="0" indent="0">
              <a:buNone/>
            </a:pPr>
            <a:r>
              <a:rPr lang="en-US" sz="1400" b="1" dirty="0">
                <a:solidFill>
                  <a:srgbClr val="152220"/>
                </a:solidFill>
                <a:latin typeface="Segoe UI" pitchFamily="34" charset="0"/>
                <a:ea typeface="Segoe UI" pitchFamily="34" charset="-122"/>
                <a:cs typeface="Segoe UI" pitchFamily="34" charset="-120"/>
              </a:rPr>
              <a:t>1 · The whole scan</a:t>
            </a:r>
            <a:endParaRPr lang="en-US" sz="1400" dirty="0"/>
          </a:p>
          <a:p>
            <a:pPr marL="0" indent="0">
              <a:buNone/>
            </a:pPr>
            <a:r>
              <a:rPr lang="en-US" sz="1200" dirty="0">
                <a:solidFill>
                  <a:srgbClr val="576560"/>
                </a:solidFill>
                <a:latin typeface="Segoe UI" pitchFamily="34" charset="0"/>
                <a:ea typeface="Segoe UI" pitchFamily="34" charset="-122"/>
                <a:cs typeface="Segoe UI" pitchFamily="34" charset="-120"/>
              </a:rPr>
              <a:t>Looks like a solid 3D model of the corridor.</a:t>
            </a:r>
            <a:endParaRPr lang="en-US" sz="1400" dirty="0"/>
          </a:p>
        </p:txBody>
      </p:sp>
      <p:sp>
        <p:nvSpPr>
          <p:cNvPr id="8" name="Text 5"/>
          <p:cNvSpPr txBox="1"/>
          <p:nvPr/>
        </p:nvSpPr>
        <p:spPr>
          <a:xfrm>
            <a:off x="4564228" y="5102352"/>
            <a:ext cx="2971800" cy="685800"/>
          </a:xfrm>
          <a:prstGeom prst="rect">
            <a:avLst/>
          </a:prstGeom>
          <a:noFill/>
          <a:ln/>
        </p:spPr>
        <p:txBody>
          <a:bodyPr wrap="square" lIns="0" tIns="0" rIns="0" bIns="0" rtlCol="0" anchor="t"/>
          <a:lstStyle/>
          <a:p>
            <a:pPr marL="0" indent="0">
              <a:buNone/>
            </a:pPr>
            <a:r>
              <a:rPr lang="en-US" sz="1400" b="1" dirty="0">
                <a:solidFill>
                  <a:srgbClr val="152220"/>
                </a:solidFill>
                <a:latin typeface="Segoe UI" pitchFamily="34" charset="0"/>
                <a:ea typeface="Segoe UI" pitchFamily="34" charset="-122"/>
                <a:cs typeface="Segoe UI" pitchFamily="34" charset="-120"/>
              </a:rPr>
              <a:t>2 · One wall</a:t>
            </a:r>
            <a:endParaRPr lang="en-US" sz="1400" dirty="0"/>
          </a:p>
          <a:p>
            <a:pPr marL="0" indent="0">
              <a:buNone/>
            </a:pPr>
            <a:r>
              <a:rPr lang="en-US" sz="1200" dirty="0">
                <a:solidFill>
                  <a:srgbClr val="576560"/>
                </a:solidFill>
                <a:latin typeface="Segoe UI" pitchFamily="34" charset="0"/>
                <a:ea typeface="Segoe UI" pitchFamily="34" charset="-122"/>
                <a:cs typeface="Segoe UI" pitchFamily="34" charset="-120"/>
              </a:rPr>
              <a:t>Surfaces start to look grainy.</a:t>
            </a:r>
            <a:endParaRPr lang="en-US" sz="1400" dirty="0"/>
          </a:p>
        </p:txBody>
      </p:sp>
      <p:sp>
        <p:nvSpPr>
          <p:cNvPr id="9" name="Text 6"/>
          <p:cNvSpPr txBox="1"/>
          <p:nvPr/>
        </p:nvSpPr>
        <p:spPr>
          <a:xfrm>
            <a:off x="7718908" y="5102352"/>
            <a:ext cx="2971800" cy="685800"/>
          </a:xfrm>
          <a:prstGeom prst="rect">
            <a:avLst/>
          </a:prstGeom>
          <a:noFill/>
          <a:ln/>
        </p:spPr>
        <p:txBody>
          <a:bodyPr wrap="square" lIns="0" tIns="0" rIns="0" bIns="0" rtlCol="0" anchor="t"/>
          <a:lstStyle/>
          <a:p>
            <a:pPr marL="0" indent="0">
              <a:buNone/>
            </a:pPr>
            <a:r>
              <a:rPr lang="en-US" sz="1400" b="1" dirty="0">
                <a:solidFill>
                  <a:srgbClr val="152220"/>
                </a:solidFill>
                <a:latin typeface="Segoe UI" pitchFamily="34" charset="0"/>
                <a:ea typeface="Segoe UI" pitchFamily="34" charset="-122"/>
                <a:cs typeface="Segoe UI" pitchFamily="34" charset="-120"/>
              </a:rPr>
              <a:t>3 · Individual points</a:t>
            </a:r>
            <a:endParaRPr lang="en-US" sz="1400" dirty="0"/>
          </a:p>
          <a:p>
            <a:pPr marL="0" indent="0">
              <a:buNone/>
            </a:pPr>
            <a:r>
              <a:rPr lang="en-US" sz="1200" dirty="0">
                <a:solidFill>
                  <a:srgbClr val="576560"/>
                </a:solidFill>
                <a:latin typeface="Segoe UI" pitchFamily="34" charset="0"/>
                <a:ea typeface="Segoe UI" pitchFamily="34" charset="-122"/>
                <a:cs typeface="Segoe UI" pitchFamily="34" charset="-120"/>
              </a:rPr>
              <a:t>Separate dots about 5 cm apart. Nothing in between.</a:t>
            </a:r>
            <a:endParaRPr lang="en-US" sz="1400" dirty="0"/>
          </a:p>
        </p:txBody>
      </p:sp>
      <p:sp>
        <p:nvSpPr>
          <p:cNvPr id="10" name="Shape 7"/>
          <p:cNvSpPr/>
          <p:nvPr/>
        </p:nvSpPr>
        <p:spPr>
          <a:xfrm>
            <a:off x="548640" y="5806440"/>
            <a:ext cx="11094415" cy="475488"/>
          </a:xfrm>
          <a:prstGeom prst="roundRect">
            <a:avLst>
              <a:gd name="adj" fmla="val 23077"/>
            </a:avLst>
          </a:prstGeom>
          <a:solidFill>
            <a:srgbClr val="E3F0EF"/>
          </a:solidFill>
          <a:ln w="12700">
            <a:solidFill>
              <a:srgbClr val="E3F0EF"/>
            </a:solidFill>
            <a:prstDash val="solid"/>
          </a:ln>
          <a:effectLst>
            <a:outerShdw blurRad="127000" dist="25400" dir="5400000" algn="bl" rotWithShape="0">
              <a:srgbClr val="14282A">
                <a:alpha val="12000"/>
              </a:srgbClr>
            </a:outerShdw>
          </a:effectLst>
        </p:spPr>
      </p:sp>
      <p:sp>
        <p:nvSpPr>
          <p:cNvPr id="11" name="Text 8"/>
          <p:cNvSpPr txBox="1"/>
          <p:nvPr/>
        </p:nvSpPr>
        <p:spPr>
          <a:xfrm>
            <a:off x="777240" y="5806440"/>
            <a:ext cx="10637215" cy="475488"/>
          </a:xfrm>
          <a:prstGeom prst="rect">
            <a:avLst/>
          </a:prstGeom>
          <a:noFill/>
          <a:ln/>
        </p:spPr>
        <p:txBody>
          <a:bodyPr wrap="square" lIns="0" tIns="0" rIns="0" bIns="0" rtlCol="0" anchor="ctr"/>
          <a:lstStyle/>
          <a:p>
            <a:pPr marL="0" indent="0">
              <a:buNone/>
            </a:pPr>
            <a:r>
              <a:rPr lang="en-US" sz="1400" b="1" dirty="0">
                <a:solidFill>
                  <a:srgbClr val="0A5C5C"/>
                </a:solidFill>
                <a:latin typeface="Segoe UI" pitchFamily="34" charset="0"/>
                <a:ea typeface="Segoe UI" pitchFamily="34" charset="-122"/>
                <a:cs typeface="Segoe UI" pitchFamily="34" charset="-120"/>
              </a:rPr>
              <a:t>A point cloud = a collection of points in 3D space, each one a spot on a surface the sensor measured.</a:t>
            </a:r>
            <a:endParaRPr lang="en-US" sz="1400" dirty="0"/>
          </a:p>
        </p:txBody>
      </p:sp>
      <p:sp>
        <p:nvSpPr>
          <p:cNvPr id="12" name="Text 9"/>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50" dirty="0">
                <a:solidFill>
                  <a:srgbClr val="8A9793"/>
                </a:solidFill>
                <a:latin typeface="Segoe UI" pitchFamily="34" charset="0"/>
                <a:ea typeface="Segoe UI" pitchFamily="34" charset="-122"/>
                <a:cs typeface="Segoe UI" pitchFamily="34" charset="-120"/>
              </a:rPr>
              <a:t>Smart Facility Management  ·  Week 04  —  Point Cloud Data</a:t>
            </a:r>
            <a:endParaRPr lang="en-US" sz="950" dirty="0"/>
          </a:p>
        </p:txBody>
      </p:sp>
      <p:sp>
        <p:nvSpPr>
          <p:cNvPr id="13" name="Text 10"/>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50" dirty="0">
                <a:solidFill>
                  <a:srgbClr val="8A9793"/>
                </a:solidFill>
                <a:latin typeface="Segoe UI" pitchFamily="34" charset="0"/>
                <a:ea typeface="Segoe UI" pitchFamily="34" charset="-122"/>
                <a:cs typeface="Segoe UI" pitchFamily="34" charset="-120"/>
              </a:rPr>
              <a:t>3 / 15</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9ECE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marL="0" indent="0">
              <a:buNone/>
            </a:pPr>
            <a:r>
              <a:rPr lang="en-US" sz="1100" b="1" kern="0" spc="200" dirty="0">
                <a:solidFill>
                  <a:srgbClr val="0E7B7B"/>
                </a:solidFill>
                <a:latin typeface="Segoe UI" pitchFamily="34" charset="0"/>
                <a:ea typeface="Segoe UI" pitchFamily="34" charset="-122"/>
                <a:cs typeface="Segoe UI" pitchFamily="34" charset="-120"/>
              </a:rPr>
              <a:t>POINT CLOUD DATA  ·  WEEK 04</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t"/>
          <a:lstStyle/>
          <a:p>
            <a:pPr marL="0" indent="0">
              <a:buNone/>
            </a:pPr>
            <a:r>
              <a:rPr lang="en-US" sz="3000" b="1" dirty="0">
                <a:solidFill>
                  <a:srgbClr val="152220"/>
                </a:solidFill>
                <a:latin typeface="Segoe UI" pitchFamily="34" charset="0"/>
                <a:ea typeface="Segoe UI" pitchFamily="34" charset="-122"/>
                <a:cs typeface="Segoe UI" pitchFamily="34" charset="-120"/>
              </a:rPr>
              <a:t>Every point is just a row of numbers</a:t>
            </a:r>
            <a:endParaRPr lang="en-US" sz="3000" dirty="0"/>
          </a:p>
        </p:txBody>
      </p:sp>
      <p:sp>
        <p:nvSpPr>
          <p:cNvPr id="4" name="Text 2"/>
          <p:cNvSpPr txBox="1"/>
          <p:nvPr/>
        </p:nvSpPr>
        <p:spPr>
          <a:xfrm>
            <a:off x="548640" y="1225296"/>
            <a:ext cx="11094415" cy="365760"/>
          </a:xfrm>
          <a:prstGeom prst="rect">
            <a:avLst/>
          </a:prstGeom>
          <a:noFill/>
          <a:ln/>
        </p:spPr>
        <p:txBody>
          <a:bodyPr wrap="square" lIns="0" tIns="0" rIns="0" bIns="0" rtlCol="0" anchor="t"/>
          <a:lstStyle/>
          <a:p>
            <a:pPr marL="0" indent="0">
              <a:buNone/>
            </a:pPr>
            <a:r>
              <a:rPr lang="en-US" sz="1500" dirty="0">
                <a:solidFill>
                  <a:srgbClr val="0A5C5C"/>
                </a:solidFill>
                <a:latin typeface="Malgun Gothic" pitchFamily="34" charset="0"/>
                <a:ea typeface="Malgun Gothic" pitchFamily="34" charset="-122"/>
                <a:cs typeface="Malgun Gothic" pitchFamily="34" charset="-120"/>
              </a:rPr>
              <a:t>점 하나 = 숫자 한 줄 (위치 x, y, z + 색상 r, g, b)</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6309360" cy="914400"/>
        </p:xfrm>
        <a:graphic>
          <a:graphicData uri="http://schemas.openxmlformats.org/drawingml/2006/table">
            <a:tbl>
              <a:tblPr/>
              <a:tblGrid>
                <a:gridCol w="105156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gridCol w="1051560">
                  <a:extLst>
                    <a:ext uri="{9D8B030D-6E8A-4147-A177-3AD203B41FA5}">
                      <a16:colId xmlns:a16="http://schemas.microsoft.com/office/drawing/2014/main" val="20005"/>
                    </a:ext>
                  </a:extLst>
                </a:gridCol>
              </a:tblGrid>
              <a:tr h="329184">
                <a:tc gridSpan="3">
                  <a:txBody>
                    <a:bodyPr/>
                    <a:lstStyle/>
                    <a:p>
                      <a:pPr marL="0" indent="0" algn="ctr">
                        <a:buNone/>
                      </a:pPr>
                      <a:r>
                        <a:rPr lang="en-US" sz="1200" b="1" dirty="0">
                          <a:solidFill>
                            <a:srgbClr val="0A5C5C"/>
                          </a:solidFill>
                          <a:latin typeface="Segoe UI" pitchFamily="34" charset="0"/>
                          <a:ea typeface="Segoe UI" pitchFamily="34" charset="-122"/>
                          <a:cs typeface="Segoe UI" pitchFamily="34" charset="-120"/>
                        </a:rPr>
                        <a:t>position (metres)</a:t>
                      </a:r>
                      <a:endParaRPr lang="en-US" sz="1200" dirty="0">
                        <a:latin typeface="Segoe UI" charset="0"/>
                        <a:ea typeface="Segoe UI" charset="0"/>
                        <a:cs typeface="Segoe UI"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E3F0EF"/>
                    </a:solidFill>
                  </a:tcPr>
                </a:tc>
                <a:tc hMerge="1">
                  <a:txBody>
                    <a:bodyPr/>
                    <a:lstStyle/>
                    <a:p>
                      <a:endParaRPr lang="en-US"/>
                    </a:p>
                  </a:txBody>
                  <a:tcPr/>
                </a:tc>
                <a:tc hMerge="1">
                  <a:txBody>
                    <a:bodyPr/>
                    <a:lstStyle/>
                    <a:p>
                      <a:endParaRPr lang="en-US"/>
                    </a:p>
                  </a:txBody>
                  <a:tcPr/>
                </a:tc>
                <a:tc gridSpan="3">
                  <a:txBody>
                    <a:bodyPr/>
                    <a:lstStyle/>
                    <a:p>
                      <a:pPr marL="0" indent="0" algn="ctr">
                        <a:buNone/>
                      </a:pPr>
                      <a:r>
                        <a:rPr lang="en-US" sz="1200" b="1" dirty="0">
                          <a:solidFill>
                            <a:srgbClr val="A85808"/>
                          </a:solidFill>
                          <a:latin typeface="Segoe UI" pitchFamily="34" charset="0"/>
                          <a:ea typeface="Segoe UI" pitchFamily="34" charset="-122"/>
                          <a:cs typeface="Segoe UI" pitchFamily="34" charset="-120"/>
                        </a:rPr>
                        <a:t>colour (0–255)</a:t>
                      </a:r>
                      <a:endParaRPr lang="en-US" sz="1200" dirty="0">
                        <a:latin typeface="Segoe UI" charset="0"/>
                        <a:ea typeface="Segoe UI" charset="0"/>
                        <a:cs typeface="Segoe UI"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BF1E4"/>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29184">
                <a:tc>
                  <a:txBody>
                    <a:bodyPr/>
                    <a:lstStyle/>
                    <a:p>
                      <a:pPr marL="0" indent="0" algn="ctr">
                        <a:buNone/>
                      </a:pPr>
                      <a:r>
                        <a:rPr lang="en-US" sz="1400" b="1" dirty="0">
                          <a:solidFill>
                            <a:srgbClr val="FFFFFF"/>
                          </a:solidFill>
                          <a:latin typeface="Segoe UI" pitchFamily="34" charset="0"/>
                          <a:ea typeface="Segoe UI" pitchFamily="34" charset="-122"/>
                          <a:cs typeface="Segoe UI" pitchFamily="34" charset="-120"/>
                        </a:rPr>
                        <a:t>x</a:t>
                      </a:r>
                      <a:endParaRPr lang="en-US" sz="1400" dirty="0">
                        <a:latin typeface="Segoe UI" charset="0"/>
                        <a:ea typeface="Segoe UI" charset="0"/>
                        <a:cs typeface="Segoe UI"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0E7B7B"/>
                    </a:solidFill>
                  </a:tcPr>
                </a:tc>
                <a:tc>
                  <a:txBody>
                    <a:bodyPr/>
                    <a:lstStyle/>
                    <a:p>
                      <a:pPr marL="0" indent="0" algn="ctr">
                        <a:buNone/>
                      </a:pPr>
                      <a:r>
                        <a:rPr lang="en-US" sz="1400" b="1" dirty="0">
                          <a:solidFill>
                            <a:srgbClr val="FFFFFF"/>
                          </a:solidFill>
                          <a:latin typeface="Segoe UI" pitchFamily="34" charset="0"/>
                          <a:ea typeface="Segoe UI" pitchFamily="34" charset="-122"/>
                          <a:cs typeface="Segoe UI" pitchFamily="34" charset="-120"/>
                        </a:rPr>
                        <a:t>y</a:t>
                      </a:r>
                      <a:endParaRPr lang="en-US" sz="1400" dirty="0">
                        <a:latin typeface="Segoe UI" charset="0"/>
                        <a:ea typeface="Segoe UI" charset="0"/>
                        <a:cs typeface="Segoe UI"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0E7B7B"/>
                    </a:solidFill>
                  </a:tcPr>
                </a:tc>
                <a:tc>
                  <a:txBody>
                    <a:bodyPr/>
                    <a:lstStyle/>
                    <a:p>
                      <a:pPr marL="0" indent="0" algn="ctr">
                        <a:buNone/>
                      </a:pPr>
                      <a:r>
                        <a:rPr lang="en-US" sz="1400" b="1" dirty="0">
                          <a:solidFill>
                            <a:srgbClr val="FFFFFF"/>
                          </a:solidFill>
                          <a:latin typeface="Segoe UI" pitchFamily="34" charset="0"/>
                          <a:ea typeface="Segoe UI" pitchFamily="34" charset="-122"/>
                          <a:cs typeface="Segoe UI" pitchFamily="34" charset="-120"/>
                        </a:rPr>
                        <a:t>z</a:t>
                      </a:r>
                      <a:endParaRPr lang="en-US" sz="1400" dirty="0">
                        <a:latin typeface="Segoe UI" charset="0"/>
                        <a:ea typeface="Segoe UI" charset="0"/>
                        <a:cs typeface="Segoe UI"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0E7B7B"/>
                    </a:solidFill>
                  </a:tcPr>
                </a:tc>
                <a:tc>
                  <a:txBody>
                    <a:bodyPr/>
                    <a:lstStyle/>
                    <a:p>
                      <a:pPr marL="0" indent="0" algn="ctr">
                        <a:buNone/>
                      </a:pPr>
                      <a:r>
                        <a:rPr lang="en-US" sz="1400" b="1" dirty="0">
                          <a:solidFill>
                            <a:srgbClr val="FFFFFF"/>
                          </a:solidFill>
                          <a:latin typeface="Segoe UI" pitchFamily="34" charset="0"/>
                          <a:ea typeface="Segoe UI" pitchFamily="34" charset="-122"/>
                          <a:cs typeface="Segoe UI" pitchFamily="34" charset="-120"/>
                        </a:rPr>
                        <a:t>r</a:t>
                      </a:r>
                      <a:endParaRPr lang="en-US" sz="1400" dirty="0">
                        <a:latin typeface="Segoe UI" charset="0"/>
                        <a:ea typeface="Segoe UI" charset="0"/>
                        <a:cs typeface="Segoe UI"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B07A34"/>
                    </a:solidFill>
                  </a:tcPr>
                </a:tc>
                <a:tc>
                  <a:txBody>
                    <a:bodyPr/>
                    <a:lstStyle/>
                    <a:p>
                      <a:pPr marL="0" indent="0" algn="ctr">
                        <a:buNone/>
                      </a:pPr>
                      <a:r>
                        <a:rPr lang="en-US" sz="1400" b="1" dirty="0">
                          <a:solidFill>
                            <a:srgbClr val="FFFFFF"/>
                          </a:solidFill>
                          <a:latin typeface="Segoe UI" pitchFamily="34" charset="0"/>
                          <a:ea typeface="Segoe UI" pitchFamily="34" charset="-122"/>
                          <a:cs typeface="Segoe UI" pitchFamily="34" charset="-120"/>
                        </a:rPr>
                        <a:t>g</a:t>
                      </a:r>
                      <a:endParaRPr lang="en-US" sz="1400" dirty="0">
                        <a:latin typeface="Segoe UI" charset="0"/>
                        <a:ea typeface="Segoe UI" charset="0"/>
                        <a:cs typeface="Segoe UI"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B07A34"/>
                    </a:solidFill>
                  </a:tcPr>
                </a:tc>
                <a:tc>
                  <a:txBody>
                    <a:bodyPr/>
                    <a:lstStyle/>
                    <a:p>
                      <a:pPr marL="0" indent="0" algn="ctr">
                        <a:buNone/>
                      </a:pPr>
                      <a:r>
                        <a:rPr lang="en-US" sz="1400" b="1" dirty="0">
                          <a:solidFill>
                            <a:srgbClr val="FFFFFF"/>
                          </a:solidFill>
                          <a:latin typeface="Segoe UI" pitchFamily="34" charset="0"/>
                          <a:ea typeface="Segoe UI" pitchFamily="34" charset="-122"/>
                          <a:cs typeface="Segoe UI" pitchFamily="34" charset="-120"/>
                        </a:rPr>
                        <a:t>b</a:t>
                      </a:r>
                      <a:endParaRPr lang="en-US" sz="1400" dirty="0">
                        <a:latin typeface="Segoe UI" charset="0"/>
                        <a:ea typeface="Segoe UI" charset="0"/>
                        <a:cs typeface="Segoe UI"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B07A34"/>
                    </a:solidFill>
                  </a:tcPr>
                </a:tc>
                <a:extLst>
                  <a:ext uri="{0D108BD9-81ED-4DB2-BD59-A6C34878D82A}">
                    <a16:rowId xmlns:a16="http://schemas.microsoft.com/office/drawing/2014/main" val="10001"/>
                  </a:ext>
                </a:extLst>
              </a:tr>
              <a:tr h="329184">
                <a:tc>
                  <a:txBody>
                    <a:bodyPr/>
                    <a:lstStyle/>
                    <a:p>
                      <a:pPr marL="0" indent="0" algn="ctr">
                        <a:buNone/>
                      </a:pPr>
                      <a:r>
                        <a:rPr lang="en-US" sz="1300" b="1" dirty="0">
                          <a:solidFill>
                            <a:srgbClr val="152220"/>
                          </a:solidFill>
                          <a:latin typeface="Courier New" pitchFamily="34" charset="0"/>
                          <a:ea typeface="Courier New" pitchFamily="34" charset="-122"/>
                          <a:cs typeface="Courier New" pitchFamily="34" charset="-120"/>
                        </a:rPr>
                        <a:t>1.060</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3DC"/>
                    </a:solidFill>
                  </a:tcPr>
                </a:tc>
                <a:tc>
                  <a:txBody>
                    <a:bodyPr/>
                    <a:lstStyle/>
                    <a:p>
                      <a:pPr marL="0" indent="0" algn="ctr">
                        <a:buNone/>
                      </a:pPr>
                      <a:r>
                        <a:rPr lang="en-US" sz="1300" b="1" dirty="0">
                          <a:solidFill>
                            <a:srgbClr val="152220"/>
                          </a:solidFill>
                          <a:latin typeface="Courier New" pitchFamily="34" charset="0"/>
                          <a:ea typeface="Courier New" pitchFamily="34" charset="-122"/>
                          <a:cs typeface="Courier New" pitchFamily="34" charset="-120"/>
                        </a:rPr>
                        <a:t>-11.999</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3DC"/>
                    </a:solidFill>
                  </a:tcPr>
                </a:tc>
                <a:tc>
                  <a:txBody>
                    <a:bodyPr/>
                    <a:lstStyle/>
                    <a:p>
                      <a:pPr marL="0" indent="0" algn="ctr">
                        <a:buNone/>
                      </a:pPr>
                      <a:r>
                        <a:rPr lang="en-US" sz="1300" b="1" dirty="0">
                          <a:solidFill>
                            <a:srgbClr val="152220"/>
                          </a:solidFill>
                          <a:latin typeface="Courier New" pitchFamily="34" charset="0"/>
                          <a:ea typeface="Courier New" pitchFamily="34" charset="-122"/>
                          <a:cs typeface="Courier New" pitchFamily="34" charset="-120"/>
                        </a:rPr>
                        <a:t>0.601</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3DC"/>
                    </a:solidFill>
                  </a:tcPr>
                </a:tc>
                <a:tc>
                  <a:txBody>
                    <a:bodyPr/>
                    <a:lstStyle/>
                    <a:p>
                      <a:pPr marL="0" indent="0" algn="ctr">
                        <a:buNone/>
                      </a:pPr>
                      <a:r>
                        <a:rPr lang="en-US" sz="1300" b="1" dirty="0">
                          <a:solidFill>
                            <a:srgbClr val="152220"/>
                          </a:solidFill>
                          <a:latin typeface="Courier New" pitchFamily="34" charset="0"/>
                          <a:ea typeface="Courier New" pitchFamily="34" charset="-122"/>
                          <a:cs typeface="Courier New" pitchFamily="34" charset="-120"/>
                        </a:rPr>
                        <a:t>89</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3DC"/>
                    </a:solidFill>
                  </a:tcPr>
                </a:tc>
                <a:tc>
                  <a:txBody>
                    <a:bodyPr/>
                    <a:lstStyle/>
                    <a:p>
                      <a:pPr marL="0" indent="0" algn="ctr">
                        <a:buNone/>
                      </a:pPr>
                      <a:r>
                        <a:rPr lang="en-US" sz="1300" b="1" dirty="0">
                          <a:solidFill>
                            <a:srgbClr val="152220"/>
                          </a:solidFill>
                          <a:latin typeface="Courier New" pitchFamily="34" charset="0"/>
                          <a:ea typeface="Courier New" pitchFamily="34" charset="-122"/>
                          <a:cs typeface="Courier New" pitchFamily="34" charset="-120"/>
                        </a:rPr>
                        <a:t>82</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3DC"/>
                    </a:solidFill>
                  </a:tcPr>
                </a:tc>
                <a:tc>
                  <a:txBody>
                    <a:bodyPr/>
                    <a:lstStyle/>
                    <a:p>
                      <a:pPr marL="0" indent="0" algn="ctr">
                        <a:buNone/>
                      </a:pPr>
                      <a:r>
                        <a:rPr lang="en-US" sz="1300" b="1" dirty="0">
                          <a:solidFill>
                            <a:srgbClr val="152220"/>
                          </a:solidFill>
                          <a:latin typeface="Courier New" pitchFamily="34" charset="0"/>
                          <a:ea typeface="Courier New" pitchFamily="34" charset="-122"/>
                          <a:cs typeface="Courier New" pitchFamily="34" charset="-120"/>
                        </a:rPr>
                        <a:t>63</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3DC"/>
                    </a:solidFill>
                  </a:tcPr>
                </a:tc>
                <a:extLst>
                  <a:ext uri="{0D108BD9-81ED-4DB2-BD59-A6C34878D82A}">
                    <a16:rowId xmlns:a16="http://schemas.microsoft.com/office/drawing/2014/main" val="10002"/>
                  </a:ext>
                </a:extLst>
              </a:tr>
              <a:tr h="329184">
                <a:tc>
                  <a:txBody>
                    <a:bodyPr/>
                    <a:lstStyle/>
                    <a:p>
                      <a:pPr marL="0" indent="0" algn="ctr">
                        <a:buNone/>
                      </a:pPr>
                      <a:r>
                        <a:rPr lang="en-US" sz="1300" dirty="0">
                          <a:solidFill>
                            <a:srgbClr val="152220"/>
                          </a:solidFill>
                          <a:latin typeface="Courier New" pitchFamily="34" charset="0"/>
                          <a:ea typeface="Courier New" pitchFamily="34" charset="-122"/>
                          <a:cs typeface="Courier New" pitchFamily="34" charset="-120"/>
                        </a:rPr>
                        <a:t>1.101</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52220"/>
                          </a:solidFill>
                          <a:latin typeface="Courier New" pitchFamily="34" charset="0"/>
                          <a:ea typeface="Courier New" pitchFamily="34" charset="-122"/>
                          <a:cs typeface="Courier New" pitchFamily="34" charset="-120"/>
                        </a:rPr>
                        <a:t>-12.008</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52220"/>
                          </a:solidFill>
                          <a:latin typeface="Courier New" pitchFamily="34" charset="0"/>
                          <a:ea typeface="Courier New" pitchFamily="34" charset="-122"/>
                          <a:cs typeface="Courier New" pitchFamily="34" charset="-120"/>
                        </a:rPr>
                        <a:t>0.601</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52220"/>
                          </a:solidFill>
                          <a:latin typeface="Courier New" pitchFamily="34" charset="0"/>
                          <a:ea typeface="Courier New" pitchFamily="34" charset="-122"/>
                          <a:cs typeface="Courier New" pitchFamily="34" charset="-120"/>
                        </a:rPr>
                        <a:t>124</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52220"/>
                          </a:solidFill>
                          <a:latin typeface="Courier New" pitchFamily="34" charset="0"/>
                          <a:ea typeface="Courier New" pitchFamily="34" charset="-122"/>
                          <a:cs typeface="Courier New" pitchFamily="34" charset="-120"/>
                        </a:rPr>
                        <a:t>120</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52220"/>
                          </a:solidFill>
                          <a:latin typeface="Courier New" pitchFamily="34" charset="0"/>
                          <a:ea typeface="Courier New" pitchFamily="34" charset="-122"/>
                          <a:cs typeface="Courier New" pitchFamily="34" charset="-120"/>
                        </a:rPr>
                        <a:t>119</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ctr">
                        <a:buNone/>
                      </a:pPr>
                      <a:r>
                        <a:rPr lang="en-US" sz="1300" dirty="0">
                          <a:solidFill>
                            <a:srgbClr val="152220"/>
                          </a:solidFill>
                          <a:latin typeface="Courier New" pitchFamily="34" charset="0"/>
                          <a:ea typeface="Courier New" pitchFamily="34" charset="-122"/>
                          <a:cs typeface="Courier New" pitchFamily="34" charset="-120"/>
                        </a:rPr>
                        <a:t>1.017</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52220"/>
                          </a:solidFill>
                          <a:latin typeface="Courier New" pitchFamily="34" charset="0"/>
                          <a:ea typeface="Courier New" pitchFamily="34" charset="-122"/>
                          <a:cs typeface="Courier New" pitchFamily="34" charset="-120"/>
                        </a:rPr>
                        <a:t>-11.999</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52220"/>
                          </a:solidFill>
                          <a:latin typeface="Courier New" pitchFamily="34" charset="0"/>
                          <a:ea typeface="Courier New" pitchFamily="34" charset="-122"/>
                          <a:cs typeface="Courier New" pitchFamily="34" charset="-120"/>
                        </a:rPr>
                        <a:t>0.618</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52220"/>
                          </a:solidFill>
                          <a:latin typeface="Courier New" pitchFamily="34" charset="0"/>
                          <a:ea typeface="Courier New" pitchFamily="34" charset="-122"/>
                          <a:cs typeface="Courier New" pitchFamily="34" charset="-120"/>
                        </a:rPr>
                        <a:t>90</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52220"/>
                          </a:solidFill>
                          <a:latin typeface="Courier New" pitchFamily="34" charset="0"/>
                          <a:ea typeface="Courier New" pitchFamily="34" charset="-122"/>
                          <a:cs typeface="Courier New" pitchFamily="34" charset="-120"/>
                        </a:rPr>
                        <a:t>83</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52220"/>
                          </a:solidFill>
                          <a:latin typeface="Courier New" pitchFamily="34" charset="0"/>
                          <a:ea typeface="Courier New" pitchFamily="34" charset="-122"/>
                          <a:cs typeface="Courier New" pitchFamily="34" charset="-120"/>
                        </a:rPr>
                        <a:t>65</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lgn="ctr">
                        <a:buNone/>
                      </a:pPr>
                      <a:r>
                        <a:rPr lang="en-US" sz="1300" dirty="0">
                          <a:solidFill>
                            <a:srgbClr val="152220"/>
                          </a:solidFill>
                          <a:latin typeface="Courier New" pitchFamily="34" charset="0"/>
                          <a:ea typeface="Courier New" pitchFamily="34" charset="-122"/>
                          <a:cs typeface="Courier New" pitchFamily="34" charset="-120"/>
                        </a:rPr>
                        <a:t>1.108</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52220"/>
                          </a:solidFill>
                          <a:latin typeface="Courier New" pitchFamily="34" charset="0"/>
                          <a:ea typeface="Courier New" pitchFamily="34" charset="-122"/>
                          <a:cs typeface="Courier New" pitchFamily="34" charset="-120"/>
                        </a:rPr>
                        <a:t>-11.988</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52220"/>
                          </a:solidFill>
                          <a:latin typeface="Courier New" pitchFamily="34" charset="0"/>
                          <a:ea typeface="Courier New" pitchFamily="34" charset="-122"/>
                          <a:cs typeface="Courier New" pitchFamily="34" charset="-120"/>
                        </a:rPr>
                        <a:t>0.605</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52220"/>
                          </a:solidFill>
                          <a:latin typeface="Courier New" pitchFamily="34" charset="0"/>
                          <a:ea typeface="Courier New" pitchFamily="34" charset="-122"/>
                          <a:cs typeface="Courier New" pitchFamily="34" charset="-120"/>
                        </a:rPr>
                        <a:t>86</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52220"/>
                          </a:solidFill>
                          <a:latin typeface="Courier New" pitchFamily="34" charset="0"/>
                          <a:ea typeface="Courier New" pitchFamily="34" charset="-122"/>
                          <a:cs typeface="Courier New" pitchFamily="34" charset="-120"/>
                        </a:rPr>
                        <a:t>81</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52220"/>
                          </a:solidFill>
                          <a:latin typeface="Courier New" pitchFamily="34" charset="0"/>
                          <a:ea typeface="Courier New" pitchFamily="34" charset="-122"/>
                          <a:cs typeface="Courier New" pitchFamily="34" charset="-120"/>
                        </a:rPr>
                        <a:t>61</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lgn="ctr">
                        <a:buNone/>
                      </a:pPr>
                      <a:r>
                        <a:rPr lang="en-US" sz="1300" dirty="0">
                          <a:solidFill>
                            <a:srgbClr val="152220"/>
                          </a:solidFill>
                          <a:latin typeface="Courier New" pitchFamily="34" charset="0"/>
                          <a:ea typeface="Courier New" pitchFamily="34" charset="-122"/>
                          <a:cs typeface="Courier New" pitchFamily="34" charset="-120"/>
                        </a:rPr>
                        <a:t>1.072</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52220"/>
                          </a:solidFill>
                          <a:latin typeface="Courier New" pitchFamily="34" charset="0"/>
                          <a:ea typeface="Courier New" pitchFamily="34" charset="-122"/>
                          <a:cs typeface="Courier New" pitchFamily="34" charset="-120"/>
                        </a:rPr>
                        <a:t>-12.053</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52220"/>
                          </a:solidFill>
                          <a:latin typeface="Courier New" pitchFamily="34" charset="0"/>
                          <a:ea typeface="Courier New" pitchFamily="34" charset="-122"/>
                          <a:cs typeface="Courier New" pitchFamily="34" charset="-120"/>
                        </a:rPr>
                        <a:t>0.603</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52220"/>
                          </a:solidFill>
                          <a:latin typeface="Courier New" pitchFamily="34" charset="0"/>
                          <a:ea typeface="Courier New" pitchFamily="34" charset="-122"/>
                          <a:cs typeface="Courier New" pitchFamily="34" charset="-120"/>
                        </a:rPr>
                        <a:t>89</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52220"/>
                          </a:solidFill>
                          <a:latin typeface="Courier New" pitchFamily="34" charset="0"/>
                          <a:ea typeface="Courier New" pitchFamily="34" charset="-122"/>
                          <a:cs typeface="Courier New" pitchFamily="34" charset="-120"/>
                        </a:rPr>
                        <a:t>84</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52220"/>
                          </a:solidFill>
                          <a:latin typeface="Courier New" pitchFamily="34" charset="0"/>
                          <a:ea typeface="Courier New" pitchFamily="34" charset="-122"/>
                          <a:cs typeface="Courier New" pitchFamily="34" charset="-120"/>
                        </a:rPr>
                        <a:t>64</a:t>
                      </a:r>
                      <a:endParaRPr lang="en-US" sz="1300" dirty="0">
                        <a:latin typeface="Courier New" charset="0"/>
                        <a:ea typeface="Courier New" charset="0"/>
                        <a:cs typeface="Courier New"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9184">
                <a:tc gridSpan="6">
                  <a:txBody>
                    <a:bodyPr/>
                    <a:lstStyle/>
                    <a:p>
                      <a:pPr marL="0" indent="0" algn="ctr">
                        <a:buNone/>
                      </a:pPr>
                      <a:r>
                        <a:rPr lang="en-US" sz="1200" i="1" dirty="0">
                          <a:solidFill>
                            <a:srgbClr val="8A9793"/>
                          </a:solidFill>
                          <a:latin typeface="Segoe UI" pitchFamily="34" charset="0"/>
                          <a:ea typeface="Segoe UI" pitchFamily="34" charset="-122"/>
                          <a:cs typeface="Segoe UI" pitchFamily="34" charset="-120"/>
                        </a:rPr>
                        <a:t>… 660,034 rows in facility_scan_color.ply</a:t>
                      </a:r>
                      <a:endParaRPr lang="en-US" sz="1200" dirty="0">
                        <a:latin typeface="Segoe UI" charset="0"/>
                        <a:ea typeface="Segoe UI" charset="0"/>
                        <a:cs typeface="Segoe UI" charset="0"/>
                      </a:endParaRPr>
                    </a:p>
                  </a:txBody>
                  <a:tcPr marL="36576" marR="36576" marT="36576" marB="36576">
                    <a:lnL w="9525" cap="flat" cmpd="sng" algn="ctr">
                      <a:solidFill>
                        <a:srgbClr val="D6DEDC"/>
                      </a:solidFill>
                      <a:prstDash val="solid"/>
                      <a:round/>
                      <a:headEnd type="none" w="med" len="med"/>
                      <a:tailEnd type="none" w="med" len="med"/>
                    </a:lnL>
                    <a:lnR w="9525" cap="flat" cmpd="sng" algn="ctr">
                      <a:solidFill>
                        <a:srgbClr val="D6DEDC"/>
                      </a:solidFill>
                      <a:prstDash val="solid"/>
                      <a:round/>
                      <a:headEnd type="none" w="med" len="med"/>
                      <a:tailEnd type="none" w="med" len="med"/>
                    </a:lnR>
                    <a:lnT w="9525" cap="flat" cmpd="sng" algn="ctr">
                      <a:solidFill>
                        <a:srgbClr val="D6DEDC"/>
                      </a:solidFill>
                      <a:prstDash val="solid"/>
                      <a:round/>
                      <a:headEnd type="none" w="med" len="med"/>
                      <a:tailEnd type="none" w="med" len="med"/>
                    </a:lnT>
                    <a:lnB w="9525" cap="flat" cmpd="sng" algn="ctr">
                      <a:solidFill>
                        <a:srgbClr val="D6DEDC"/>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bl>
          </a:graphicData>
        </a:graphic>
      </p:graphicFrame>
      <p:sp>
        <p:nvSpPr>
          <p:cNvPr id="6" name="Shape 3"/>
          <p:cNvSpPr/>
          <p:nvPr/>
        </p:nvSpPr>
        <p:spPr>
          <a:xfrm>
            <a:off x="7178040" y="1783080"/>
            <a:ext cx="4465015" cy="3977640"/>
          </a:xfrm>
          <a:prstGeom prst="roundRect">
            <a:avLst>
              <a:gd name="adj" fmla="val 2759"/>
            </a:avLst>
          </a:prstGeom>
          <a:solidFill>
            <a:srgbClr val="FFFFFF"/>
          </a:solidFill>
          <a:ln w="12700">
            <a:solidFill>
              <a:srgbClr val="FFFFFF"/>
            </a:solidFill>
            <a:prstDash val="solid"/>
          </a:ln>
          <a:effectLst>
            <a:outerShdw blurRad="127000" dist="25400" dir="5400000" algn="bl" rotWithShape="0">
              <a:srgbClr val="14282A">
                <a:alpha val="12000"/>
              </a:srgbClr>
            </a:outerShdw>
          </a:effectLst>
        </p:spPr>
      </p:sp>
      <p:sp>
        <p:nvSpPr>
          <p:cNvPr id="7" name="Shape 4"/>
          <p:cNvSpPr/>
          <p:nvPr/>
        </p:nvSpPr>
        <p:spPr>
          <a:xfrm flipV="1">
            <a:off x="8275320" y="2331720"/>
            <a:ext cx="0" cy="2514600"/>
          </a:xfrm>
          <a:prstGeom prst="line">
            <a:avLst/>
          </a:prstGeom>
          <a:noFill/>
          <a:ln w="25400">
            <a:solidFill>
              <a:srgbClr val="576560"/>
            </a:solidFill>
            <a:prstDash val="solid"/>
            <a:tailEnd type="triangle"/>
          </a:ln>
        </p:spPr>
      </p:sp>
      <p:sp>
        <p:nvSpPr>
          <p:cNvPr id="8" name="Text 5"/>
          <p:cNvSpPr txBox="1"/>
          <p:nvPr/>
        </p:nvSpPr>
        <p:spPr>
          <a:xfrm>
            <a:off x="7955280" y="2240280"/>
            <a:ext cx="274320" cy="320040"/>
          </a:xfrm>
          <a:prstGeom prst="rect">
            <a:avLst/>
          </a:prstGeom>
          <a:noFill/>
          <a:ln/>
        </p:spPr>
        <p:txBody>
          <a:bodyPr wrap="square" lIns="0" tIns="0" rIns="0" bIns="0" rtlCol="0" anchor="t"/>
          <a:lstStyle/>
          <a:p>
            <a:pPr marL="0" indent="0">
              <a:buNone/>
            </a:pPr>
            <a:r>
              <a:rPr lang="en-US" sz="1600" b="1" dirty="0">
                <a:solidFill>
                  <a:srgbClr val="576560"/>
                </a:solidFill>
                <a:latin typeface="Courier New" pitchFamily="34" charset="0"/>
                <a:ea typeface="Courier New" pitchFamily="34" charset="-122"/>
                <a:cs typeface="Courier New" pitchFamily="34" charset="-120"/>
              </a:rPr>
              <a:t>z</a:t>
            </a:r>
            <a:endParaRPr lang="en-US" sz="1600" dirty="0"/>
          </a:p>
        </p:txBody>
      </p:sp>
      <p:sp>
        <p:nvSpPr>
          <p:cNvPr id="9" name="Shape 6"/>
          <p:cNvSpPr/>
          <p:nvPr/>
        </p:nvSpPr>
        <p:spPr>
          <a:xfrm>
            <a:off x="8275320" y="4846320"/>
            <a:ext cx="2651760" cy="0"/>
          </a:xfrm>
          <a:prstGeom prst="line">
            <a:avLst/>
          </a:prstGeom>
          <a:noFill/>
          <a:ln w="25400">
            <a:solidFill>
              <a:srgbClr val="576560"/>
            </a:solidFill>
            <a:prstDash val="solid"/>
            <a:tailEnd type="triangle"/>
          </a:ln>
        </p:spPr>
      </p:sp>
      <p:sp>
        <p:nvSpPr>
          <p:cNvPr id="10" name="Text 7"/>
          <p:cNvSpPr txBox="1"/>
          <p:nvPr/>
        </p:nvSpPr>
        <p:spPr>
          <a:xfrm>
            <a:off x="10972800" y="4681728"/>
            <a:ext cx="274320" cy="320040"/>
          </a:xfrm>
          <a:prstGeom prst="rect">
            <a:avLst/>
          </a:prstGeom>
          <a:noFill/>
          <a:ln/>
        </p:spPr>
        <p:txBody>
          <a:bodyPr wrap="square" lIns="0" tIns="0" rIns="0" bIns="0" rtlCol="0" anchor="t"/>
          <a:lstStyle/>
          <a:p>
            <a:pPr marL="0" indent="0">
              <a:buNone/>
            </a:pPr>
            <a:r>
              <a:rPr lang="en-US" sz="1600" b="1" dirty="0">
                <a:solidFill>
                  <a:srgbClr val="576560"/>
                </a:solidFill>
                <a:latin typeface="Courier New" pitchFamily="34" charset="0"/>
                <a:ea typeface="Courier New" pitchFamily="34" charset="-122"/>
                <a:cs typeface="Courier New" pitchFamily="34" charset="-120"/>
              </a:rPr>
              <a:t>x</a:t>
            </a:r>
            <a:endParaRPr lang="en-US" sz="1600" dirty="0"/>
          </a:p>
        </p:txBody>
      </p:sp>
      <p:sp>
        <p:nvSpPr>
          <p:cNvPr id="11" name="Shape 8"/>
          <p:cNvSpPr/>
          <p:nvPr/>
        </p:nvSpPr>
        <p:spPr>
          <a:xfrm flipV="1">
            <a:off x="8275320" y="3840480"/>
            <a:ext cx="1463040" cy="1005840"/>
          </a:xfrm>
          <a:prstGeom prst="line">
            <a:avLst/>
          </a:prstGeom>
          <a:noFill/>
          <a:ln w="25400">
            <a:solidFill>
              <a:srgbClr val="576560"/>
            </a:solidFill>
            <a:prstDash val="solid"/>
            <a:tailEnd type="triangle"/>
          </a:ln>
        </p:spPr>
      </p:sp>
      <p:sp>
        <p:nvSpPr>
          <p:cNvPr id="12" name="Text 9"/>
          <p:cNvSpPr txBox="1"/>
          <p:nvPr/>
        </p:nvSpPr>
        <p:spPr>
          <a:xfrm>
            <a:off x="9784080" y="3520440"/>
            <a:ext cx="274320" cy="320040"/>
          </a:xfrm>
          <a:prstGeom prst="rect">
            <a:avLst/>
          </a:prstGeom>
          <a:noFill/>
          <a:ln/>
        </p:spPr>
        <p:txBody>
          <a:bodyPr wrap="square" lIns="0" tIns="0" rIns="0" bIns="0" rtlCol="0" anchor="t"/>
          <a:lstStyle/>
          <a:p>
            <a:pPr marL="0" indent="0">
              <a:buNone/>
            </a:pPr>
            <a:r>
              <a:rPr lang="en-US" sz="1600" b="1" dirty="0">
                <a:solidFill>
                  <a:srgbClr val="576560"/>
                </a:solidFill>
                <a:latin typeface="Courier New" pitchFamily="34" charset="0"/>
                <a:ea typeface="Courier New" pitchFamily="34" charset="-122"/>
                <a:cs typeface="Courier New" pitchFamily="34" charset="-120"/>
              </a:rPr>
              <a:t>y</a:t>
            </a:r>
            <a:endParaRPr lang="en-US" sz="1600" dirty="0"/>
          </a:p>
        </p:txBody>
      </p:sp>
      <p:sp>
        <p:nvSpPr>
          <p:cNvPr id="13" name="Shape 10"/>
          <p:cNvSpPr/>
          <p:nvPr/>
        </p:nvSpPr>
        <p:spPr>
          <a:xfrm>
            <a:off x="10469880" y="2926080"/>
            <a:ext cx="0" cy="1417320"/>
          </a:xfrm>
          <a:prstGeom prst="line">
            <a:avLst/>
          </a:prstGeom>
          <a:noFill/>
          <a:ln w="15875">
            <a:solidFill>
              <a:srgbClr val="8A9793"/>
            </a:solidFill>
            <a:prstDash val="dash"/>
          </a:ln>
        </p:spPr>
      </p:sp>
      <p:sp>
        <p:nvSpPr>
          <p:cNvPr id="14" name="Shape 11"/>
          <p:cNvSpPr/>
          <p:nvPr/>
        </p:nvSpPr>
        <p:spPr>
          <a:xfrm>
            <a:off x="9006840" y="4343400"/>
            <a:ext cx="1463040" cy="0"/>
          </a:xfrm>
          <a:prstGeom prst="line">
            <a:avLst/>
          </a:prstGeom>
          <a:noFill/>
          <a:ln w="15875">
            <a:solidFill>
              <a:srgbClr val="8A9793"/>
            </a:solidFill>
            <a:prstDash val="dash"/>
          </a:ln>
        </p:spPr>
      </p:sp>
      <p:sp>
        <p:nvSpPr>
          <p:cNvPr id="15" name="Shape 12"/>
          <p:cNvSpPr/>
          <p:nvPr/>
        </p:nvSpPr>
        <p:spPr>
          <a:xfrm>
            <a:off x="10287000" y="2743200"/>
            <a:ext cx="365760" cy="365760"/>
          </a:xfrm>
          <a:prstGeom prst="ellipse">
            <a:avLst/>
          </a:prstGeom>
          <a:solidFill>
            <a:srgbClr val="59523F"/>
          </a:solidFill>
          <a:ln w="38100">
            <a:solidFill>
              <a:srgbClr val="E0A869"/>
            </a:solidFill>
            <a:prstDash val="solid"/>
          </a:ln>
        </p:spPr>
      </p:sp>
      <p:sp>
        <p:nvSpPr>
          <p:cNvPr id="16" name="Text 13"/>
          <p:cNvSpPr txBox="1"/>
          <p:nvPr/>
        </p:nvSpPr>
        <p:spPr>
          <a:xfrm>
            <a:off x="8321040" y="2807208"/>
            <a:ext cx="1828800" cy="274320"/>
          </a:xfrm>
          <a:prstGeom prst="rect">
            <a:avLst/>
          </a:prstGeom>
          <a:noFill/>
          <a:ln/>
        </p:spPr>
        <p:txBody>
          <a:bodyPr wrap="square" lIns="0" tIns="0" rIns="0" bIns="0" rtlCol="0" anchor="t"/>
          <a:lstStyle/>
          <a:p>
            <a:pPr marL="0" indent="0" algn="r">
              <a:buNone/>
            </a:pPr>
            <a:r>
              <a:rPr lang="en-US" sz="1300" b="1" dirty="0">
                <a:solidFill>
                  <a:srgbClr val="152220"/>
                </a:solidFill>
                <a:latin typeface="Segoe UI" pitchFamily="34" charset="0"/>
                <a:ea typeface="Segoe UI" pitchFamily="34" charset="-122"/>
                <a:cs typeface="Segoe UI" pitchFamily="34" charset="-120"/>
              </a:rPr>
              <a:t>the highlighted row</a:t>
            </a:r>
            <a:endParaRPr lang="en-US" sz="1300" dirty="0"/>
          </a:p>
        </p:txBody>
      </p:sp>
      <p:sp>
        <p:nvSpPr>
          <p:cNvPr id="17" name="Text 14"/>
          <p:cNvSpPr txBox="1"/>
          <p:nvPr/>
        </p:nvSpPr>
        <p:spPr>
          <a:xfrm>
            <a:off x="7452360" y="5074920"/>
            <a:ext cx="3916375" cy="548640"/>
          </a:xfrm>
          <a:prstGeom prst="rect">
            <a:avLst/>
          </a:prstGeom>
          <a:noFill/>
          <a:ln/>
        </p:spPr>
        <p:txBody>
          <a:bodyPr wrap="square" lIns="0" tIns="0" rIns="0" bIns="0" rtlCol="0" anchor="t"/>
          <a:lstStyle/>
          <a:p>
            <a:pPr marL="0" indent="0" algn="ctr">
              <a:buNone/>
            </a:pPr>
            <a:r>
              <a:rPr lang="en-US" sz="1200" dirty="0">
                <a:solidFill>
                  <a:srgbClr val="576560"/>
                </a:solidFill>
                <a:latin typeface="Courier New" pitchFamily="34" charset="0"/>
                <a:ea typeface="Courier New" pitchFamily="34" charset="-122"/>
                <a:cs typeface="Courier New" pitchFamily="34" charset="-120"/>
              </a:rPr>
              <a:t>x 1.060  y −11.999  z 0.601</a:t>
            </a:r>
            <a:endParaRPr lang="en-US" sz="1200" dirty="0"/>
          </a:p>
          <a:p>
            <a:pPr marL="0" indent="0" algn="ctr">
              <a:buNone/>
            </a:pPr>
            <a:r>
              <a:rPr lang="en-US" sz="1200" dirty="0">
                <a:solidFill>
                  <a:srgbClr val="A85808"/>
                </a:solidFill>
                <a:latin typeface="Courier New" pitchFamily="34" charset="0"/>
                <a:ea typeface="Courier New" pitchFamily="34" charset="-122"/>
                <a:cs typeface="Courier New" pitchFamily="34" charset="-120"/>
              </a:rPr>
              <a:t>rgb(89, 82, 63)</a:t>
            </a:r>
            <a:endParaRPr lang="en-US" sz="1200" dirty="0"/>
          </a:p>
        </p:txBody>
      </p:sp>
      <p:sp>
        <p:nvSpPr>
          <p:cNvPr id="18" name="Text 15"/>
          <p:cNvSpPr txBox="1"/>
          <p:nvPr/>
        </p:nvSpPr>
        <p:spPr>
          <a:xfrm>
            <a:off x="548640" y="4983480"/>
            <a:ext cx="6309360" cy="731520"/>
          </a:xfrm>
          <a:prstGeom prst="rect">
            <a:avLst/>
          </a:prstGeom>
          <a:noFill/>
          <a:ln/>
        </p:spPr>
        <p:txBody>
          <a:bodyPr wrap="square" lIns="0" tIns="0" rIns="0" bIns="0" rtlCol="0" anchor="t"/>
          <a:lstStyle/>
          <a:p>
            <a:pPr marL="0" indent="0">
              <a:buNone/>
            </a:pPr>
            <a:r>
              <a:rPr lang="en-US" sz="1300" b="1" dirty="0">
                <a:solidFill>
                  <a:srgbClr val="152220"/>
                </a:solidFill>
                <a:latin typeface="Segoe UI" pitchFamily="34" charset="0"/>
                <a:ea typeface="Segoe UI" pitchFamily="34" charset="-122"/>
                <a:cs typeface="Segoe UI" pitchFamily="34" charset="-120"/>
              </a:rPr>
              <a:t>Points can carry more than position and colour: </a:t>
            </a:r>
            <a:r>
              <a:rPr lang="en-US" sz="1300" dirty="0">
                <a:solidFill>
                  <a:srgbClr val="576560"/>
                </a:solidFill>
                <a:latin typeface="Segoe UI" pitchFamily="34" charset="0"/>
                <a:ea typeface="Segoe UI" pitchFamily="34" charset="-122"/>
                <a:cs typeface="Segoe UI" pitchFamily="34" charset="-120"/>
              </a:rPr>
              <a:t>laser intensity (how strongly it bounced back), time, surface direction (normal), and a class label such as wall, floor or door.</a:t>
            </a:r>
            <a:endParaRPr lang="en-US" sz="1300" dirty="0"/>
          </a:p>
        </p:txBody>
      </p:sp>
      <p:sp>
        <p:nvSpPr>
          <p:cNvPr id="19" name="Text 16"/>
          <p:cNvSpPr txBox="1"/>
          <p:nvPr/>
        </p:nvSpPr>
        <p:spPr>
          <a:xfrm>
            <a:off x="548640" y="5760720"/>
            <a:ext cx="6309360" cy="457200"/>
          </a:xfrm>
          <a:prstGeom prst="rect">
            <a:avLst/>
          </a:prstGeom>
          <a:noFill/>
          <a:ln/>
        </p:spPr>
        <p:txBody>
          <a:bodyPr wrap="square" lIns="0" tIns="0" rIns="0" bIns="0" rtlCol="0" anchor="t"/>
          <a:lstStyle/>
          <a:p>
            <a:pPr marL="0" indent="0">
              <a:buNone/>
            </a:pPr>
            <a:r>
              <a:rPr lang="en-US" sz="1150" dirty="0">
                <a:solidFill>
                  <a:srgbClr val="0A5C5C"/>
                </a:solidFill>
                <a:latin typeface="Malgun Gothic" pitchFamily="34" charset="0"/>
                <a:ea typeface="Malgun Gothic" pitchFamily="34" charset="-122"/>
                <a:cs typeface="Malgun Gothic" pitchFamily="34" charset="-120"/>
              </a:rPr>
              <a:t>위치와 색 외에도 반사 강도, 시간, 표면 방향, 분류(벽·바닥·문) 같은 정보를 담을 수 있습니다.</a:t>
            </a:r>
            <a:endParaRPr lang="en-US" sz="1150" dirty="0"/>
          </a:p>
        </p:txBody>
      </p:sp>
      <p:sp>
        <p:nvSpPr>
          <p:cNvPr id="20" name="Text 17"/>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50" dirty="0">
                <a:solidFill>
                  <a:srgbClr val="8A9793"/>
                </a:solidFill>
                <a:latin typeface="Segoe UI" pitchFamily="34" charset="0"/>
                <a:ea typeface="Segoe UI" pitchFamily="34" charset="-122"/>
                <a:cs typeface="Segoe UI" pitchFamily="34" charset="-120"/>
              </a:rPr>
              <a:t>Smart Facility Management  ·  Week 04  —  Point Cloud Data</a:t>
            </a:r>
            <a:endParaRPr lang="en-US" sz="950" dirty="0"/>
          </a:p>
        </p:txBody>
      </p:sp>
      <p:sp>
        <p:nvSpPr>
          <p:cNvPr id="21" name="Text 18"/>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50" dirty="0">
                <a:solidFill>
                  <a:srgbClr val="8A9793"/>
                </a:solidFill>
                <a:latin typeface="Segoe UI" pitchFamily="34" charset="0"/>
                <a:ea typeface="Segoe UI" pitchFamily="34" charset="-122"/>
                <a:cs typeface="Segoe UI" pitchFamily="34" charset="-120"/>
              </a:rPr>
              <a:t>4 / 15</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ECE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marL="0" indent="0">
              <a:buNone/>
            </a:pPr>
            <a:r>
              <a:rPr lang="en-US" sz="1100" b="1" kern="0" spc="200" dirty="0">
                <a:solidFill>
                  <a:srgbClr val="0E7B7B"/>
                </a:solidFill>
                <a:latin typeface="Segoe UI" pitchFamily="34" charset="0"/>
                <a:ea typeface="Segoe UI" pitchFamily="34" charset="-122"/>
                <a:cs typeface="Segoe UI" pitchFamily="34" charset="-120"/>
              </a:rPr>
              <a:t>POINT CLOUD DATA  ·  WEEK 04</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t"/>
          <a:lstStyle/>
          <a:p>
            <a:pPr marL="0" indent="0">
              <a:buNone/>
            </a:pPr>
            <a:r>
              <a:rPr lang="en-US" sz="3000" b="1" dirty="0">
                <a:solidFill>
                  <a:srgbClr val="152220"/>
                </a:solidFill>
                <a:latin typeface="Segoe UI" pitchFamily="34" charset="0"/>
                <a:ea typeface="Segoe UI" pitchFamily="34" charset="-122"/>
                <a:cs typeface="Segoe UI" pitchFamily="34" charset="-120"/>
              </a:rPr>
              <a:t>Where is (0, 0, 0)?</a:t>
            </a:r>
            <a:endParaRPr lang="en-US" sz="3000" dirty="0"/>
          </a:p>
        </p:txBody>
      </p:sp>
      <p:sp>
        <p:nvSpPr>
          <p:cNvPr id="4" name="Text 2"/>
          <p:cNvSpPr txBox="1"/>
          <p:nvPr/>
        </p:nvSpPr>
        <p:spPr>
          <a:xfrm>
            <a:off x="548640" y="1225296"/>
            <a:ext cx="11094415" cy="365760"/>
          </a:xfrm>
          <a:prstGeom prst="rect">
            <a:avLst/>
          </a:prstGeom>
          <a:noFill/>
          <a:ln/>
        </p:spPr>
        <p:txBody>
          <a:bodyPr wrap="square" lIns="0" tIns="0" rIns="0" bIns="0" rtlCol="0" anchor="t"/>
          <a:lstStyle/>
          <a:p>
            <a:pPr marL="0" indent="0">
              <a:buNone/>
            </a:pPr>
            <a:r>
              <a:rPr lang="en-US" sz="1500" dirty="0">
                <a:solidFill>
                  <a:srgbClr val="0A5C5C"/>
                </a:solidFill>
                <a:latin typeface="Malgun Gothic" pitchFamily="34" charset="0"/>
                <a:ea typeface="Malgun Gothic" pitchFamily="34" charset="-122"/>
                <a:cs typeface="Malgun Gothic" pitchFamily="34" charset="-120"/>
              </a:rPr>
              <a:t>좌표계 — (0, 0, 0)은 어디일까? 숫자를 위치로 읽는 법</a:t>
            </a:r>
            <a:endParaRPr lang="en-US" sz="1500" dirty="0"/>
          </a:p>
        </p:txBody>
      </p:sp>
      <p:sp>
        <p:nvSpPr>
          <p:cNvPr id="5" name="Shape 3"/>
          <p:cNvSpPr/>
          <p:nvPr/>
        </p:nvSpPr>
        <p:spPr>
          <a:xfrm>
            <a:off x="548640" y="1783080"/>
            <a:ext cx="5257800" cy="4480560"/>
          </a:xfrm>
          <a:prstGeom prst="roundRect">
            <a:avLst>
              <a:gd name="adj" fmla="val 2449"/>
            </a:avLst>
          </a:prstGeom>
          <a:solidFill>
            <a:srgbClr val="FFFFFF"/>
          </a:solidFill>
          <a:ln w="12700">
            <a:solidFill>
              <a:srgbClr val="FFFFFF"/>
            </a:solidFill>
            <a:prstDash val="solid"/>
          </a:ln>
          <a:effectLst>
            <a:outerShdw blurRad="127000" dist="25400" dir="5400000" algn="bl" rotWithShape="0">
              <a:srgbClr val="14282A">
                <a:alpha val="12000"/>
              </a:srgbClr>
            </a:outerShdw>
          </a:effectLst>
        </p:spPr>
      </p:sp>
      <p:pic>
        <p:nvPicPr>
          <p:cNvPr id="6" name="Image 0" descr="fig/coords.png"/>
          <p:cNvPicPr>
            <a:picLocks noChangeAspect="1"/>
          </p:cNvPicPr>
          <p:nvPr/>
        </p:nvPicPr>
        <p:blipFill>
          <a:blip r:embed="rId3"/>
          <a:stretch>
            <a:fillRect/>
          </a:stretch>
        </p:blipFill>
        <p:spPr>
          <a:xfrm>
            <a:off x="640080" y="1880616"/>
            <a:ext cx="5074920" cy="4285488"/>
          </a:xfrm>
          <a:prstGeom prst="rect">
            <a:avLst/>
          </a:prstGeom>
        </p:spPr>
      </p:pic>
      <p:sp>
        <p:nvSpPr>
          <p:cNvPr id="7" name="Shape 4"/>
          <p:cNvSpPr/>
          <p:nvPr/>
        </p:nvSpPr>
        <p:spPr>
          <a:xfrm>
            <a:off x="6172200" y="1828800"/>
            <a:ext cx="502920" cy="502920"/>
          </a:xfrm>
          <a:prstGeom prst="ellipse">
            <a:avLst/>
          </a:prstGeom>
          <a:solidFill>
            <a:srgbClr val="0E7B7B"/>
          </a:solidFill>
          <a:ln w="12700">
            <a:solidFill>
              <a:srgbClr val="0E7B7B"/>
            </a:solidFill>
            <a:prstDash val="solid"/>
          </a:ln>
        </p:spPr>
      </p:sp>
      <p:pic>
        <p:nvPicPr>
          <p:cNvPr id="8" name="Image 1" descr="preencoded.png"/>
          <p:cNvPicPr>
            <a:picLocks noChangeAspect="1"/>
          </p:cNvPicPr>
          <p:nvPr/>
        </p:nvPicPr>
        <p:blipFill>
          <a:blip r:embed="rId4"/>
          <a:stretch>
            <a:fillRect/>
          </a:stretch>
        </p:blipFill>
        <p:spPr>
          <a:xfrm>
            <a:off x="6297930" y="1954530"/>
            <a:ext cx="251460" cy="251460"/>
          </a:xfrm>
          <a:prstGeom prst="rect">
            <a:avLst/>
          </a:prstGeom>
        </p:spPr>
      </p:pic>
      <p:sp>
        <p:nvSpPr>
          <p:cNvPr id="9" name="Text 5"/>
          <p:cNvSpPr txBox="1"/>
          <p:nvPr/>
        </p:nvSpPr>
        <p:spPr>
          <a:xfrm>
            <a:off x="6858000" y="1810512"/>
            <a:ext cx="4785055" cy="731520"/>
          </a:xfrm>
          <a:prstGeom prst="rect">
            <a:avLst/>
          </a:prstGeom>
          <a:noFill/>
          <a:ln/>
        </p:spPr>
        <p:txBody>
          <a:bodyPr wrap="square" lIns="0" tIns="0" rIns="0" bIns="0" rtlCol="0" anchor="t"/>
          <a:lstStyle/>
          <a:p>
            <a:pPr marL="0" indent="0">
              <a:buNone/>
            </a:pPr>
            <a:r>
              <a:rPr lang="en-US" sz="1400" b="1" dirty="0">
                <a:solidFill>
                  <a:srgbClr val="152220"/>
                </a:solidFill>
                <a:latin typeface="Segoe UI" pitchFamily="34" charset="0"/>
                <a:ea typeface="Segoe UI" pitchFamily="34" charset="-122"/>
                <a:cs typeface="Segoe UI" pitchFamily="34" charset="-120"/>
              </a:rPr>
              <a:t>Origin = where the robot started</a:t>
            </a:r>
            <a:endParaRPr lang="en-US" sz="1400" dirty="0"/>
          </a:p>
          <a:p>
            <a:pPr marL="0" indent="0">
              <a:buNone/>
            </a:pPr>
            <a:r>
              <a:rPr lang="en-US" sz="1200" dirty="0">
                <a:solidFill>
                  <a:srgbClr val="576560"/>
                </a:solidFill>
                <a:latin typeface="Segoe UI" pitchFamily="34" charset="0"/>
                <a:ea typeface="Segoe UI" pitchFamily="34" charset="-122"/>
                <a:cs typeface="Segoe UI" pitchFamily="34" charset="-120"/>
              </a:rPr>
              <a:t>The map's (0, 0, 0) is the robot's start point, not a corner of the building.</a:t>
            </a:r>
            <a:endParaRPr lang="en-US" sz="1400" dirty="0"/>
          </a:p>
        </p:txBody>
      </p:sp>
      <p:sp>
        <p:nvSpPr>
          <p:cNvPr id="10" name="Shape 6"/>
          <p:cNvSpPr/>
          <p:nvPr/>
        </p:nvSpPr>
        <p:spPr>
          <a:xfrm>
            <a:off x="6172200" y="2788920"/>
            <a:ext cx="502920" cy="502920"/>
          </a:xfrm>
          <a:prstGeom prst="ellipse">
            <a:avLst/>
          </a:prstGeom>
          <a:solidFill>
            <a:srgbClr val="0E7B7B"/>
          </a:solidFill>
          <a:ln w="12700">
            <a:solidFill>
              <a:srgbClr val="0E7B7B"/>
            </a:solidFill>
            <a:prstDash val="solid"/>
          </a:ln>
        </p:spPr>
      </p:sp>
      <p:pic>
        <p:nvPicPr>
          <p:cNvPr id="11" name="Image 2" descr="preencoded.png"/>
          <p:cNvPicPr>
            <a:picLocks noChangeAspect="1"/>
          </p:cNvPicPr>
          <p:nvPr/>
        </p:nvPicPr>
        <p:blipFill>
          <a:blip r:embed="rId5"/>
          <a:stretch>
            <a:fillRect/>
          </a:stretch>
        </p:blipFill>
        <p:spPr>
          <a:xfrm>
            <a:off x="6297930" y="2914650"/>
            <a:ext cx="251460" cy="251460"/>
          </a:xfrm>
          <a:prstGeom prst="rect">
            <a:avLst/>
          </a:prstGeom>
        </p:spPr>
      </p:pic>
      <p:sp>
        <p:nvSpPr>
          <p:cNvPr id="12" name="Text 7"/>
          <p:cNvSpPr txBox="1"/>
          <p:nvPr/>
        </p:nvSpPr>
        <p:spPr>
          <a:xfrm>
            <a:off x="6858000" y="2770632"/>
            <a:ext cx="4785055" cy="731520"/>
          </a:xfrm>
          <a:prstGeom prst="rect">
            <a:avLst/>
          </a:prstGeom>
          <a:noFill/>
          <a:ln/>
        </p:spPr>
        <p:txBody>
          <a:bodyPr wrap="square" lIns="0" tIns="0" rIns="0" bIns="0" rtlCol="0" anchor="t"/>
          <a:lstStyle/>
          <a:p>
            <a:pPr marL="0" indent="0">
              <a:buNone/>
            </a:pPr>
            <a:r>
              <a:rPr lang="en-US" sz="1400" b="1" dirty="0">
                <a:solidFill>
                  <a:srgbClr val="152220"/>
                </a:solidFill>
                <a:latin typeface="Segoe UI" pitchFamily="34" charset="0"/>
                <a:ea typeface="Segoe UI" pitchFamily="34" charset="-122"/>
                <a:cs typeface="Segoe UI" pitchFamily="34" charset="-120"/>
              </a:rPr>
              <a:t>Units are metres</a:t>
            </a:r>
            <a:endParaRPr lang="en-US" sz="1400" dirty="0"/>
          </a:p>
          <a:p>
            <a:pPr marL="0" indent="0">
              <a:buNone/>
            </a:pPr>
            <a:r>
              <a:rPr lang="en-US" sz="1200" dirty="0">
                <a:solidFill>
                  <a:srgbClr val="576560"/>
                </a:solidFill>
                <a:latin typeface="Segoe UI" pitchFamily="34" charset="0"/>
                <a:ea typeface="Segoe UI" pitchFamily="34" charset="-122"/>
                <a:cs typeface="Segoe UI" pitchFamily="34" charset="-120"/>
              </a:rPr>
              <a:t>(−14.3, 5.2) means 14.3 m along −x and 5.2 m along +y from the start.</a:t>
            </a:r>
            <a:endParaRPr lang="en-US" sz="1400" dirty="0"/>
          </a:p>
        </p:txBody>
      </p:sp>
      <p:sp>
        <p:nvSpPr>
          <p:cNvPr id="13" name="Shape 8"/>
          <p:cNvSpPr/>
          <p:nvPr/>
        </p:nvSpPr>
        <p:spPr>
          <a:xfrm>
            <a:off x="6172200" y="3749040"/>
            <a:ext cx="502920" cy="502920"/>
          </a:xfrm>
          <a:prstGeom prst="ellipse">
            <a:avLst/>
          </a:prstGeom>
          <a:solidFill>
            <a:srgbClr val="0E7B7B"/>
          </a:solidFill>
          <a:ln w="12700">
            <a:solidFill>
              <a:srgbClr val="0E7B7B"/>
            </a:solidFill>
            <a:prstDash val="solid"/>
          </a:ln>
        </p:spPr>
      </p:sp>
      <p:pic>
        <p:nvPicPr>
          <p:cNvPr id="14" name="Image 3" descr="preencoded.png"/>
          <p:cNvPicPr>
            <a:picLocks noChangeAspect="1"/>
          </p:cNvPicPr>
          <p:nvPr/>
        </p:nvPicPr>
        <p:blipFill>
          <a:blip r:embed="rId6"/>
          <a:stretch>
            <a:fillRect/>
          </a:stretch>
        </p:blipFill>
        <p:spPr>
          <a:xfrm>
            <a:off x="6297930" y="3874770"/>
            <a:ext cx="251460" cy="251460"/>
          </a:xfrm>
          <a:prstGeom prst="rect">
            <a:avLst/>
          </a:prstGeom>
        </p:spPr>
      </p:pic>
      <p:sp>
        <p:nvSpPr>
          <p:cNvPr id="15" name="Text 9"/>
          <p:cNvSpPr txBox="1"/>
          <p:nvPr/>
        </p:nvSpPr>
        <p:spPr>
          <a:xfrm>
            <a:off x="6858000" y="3730752"/>
            <a:ext cx="4785055" cy="868680"/>
          </a:xfrm>
          <a:prstGeom prst="rect">
            <a:avLst/>
          </a:prstGeom>
          <a:noFill/>
          <a:ln/>
        </p:spPr>
        <p:txBody>
          <a:bodyPr wrap="square" lIns="0" tIns="0" rIns="0" bIns="0" rtlCol="0" anchor="t"/>
          <a:lstStyle/>
          <a:p>
            <a:pPr marL="0" indent="0">
              <a:buNone/>
            </a:pPr>
            <a:r>
              <a:rPr lang="en-US" sz="1400" b="1" dirty="0">
                <a:solidFill>
                  <a:srgbClr val="152220"/>
                </a:solidFill>
                <a:latin typeface="Segoe UI" pitchFamily="34" charset="0"/>
                <a:ea typeface="Segoe UI" pitchFamily="34" charset="-122"/>
                <a:cs typeface="Segoe UI" pitchFamily="34" charset="-120"/>
              </a:rPr>
              <a:t>z points up</a:t>
            </a:r>
            <a:endParaRPr lang="en-US" sz="1400" dirty="0"/>
          </a:p>
          <a:p>
            <a:pPr marL="0" indent="0">
              <a:buNone/>
            </a:pPr>
            <a:r>
              <a:rPr lang="en-US" sz="1200" dirty="0">
                <a:solidFill>
                  <a:srgbClr val="576560"/>
                </a:solidFill>
                <a:latin typeface="Segoe UI" pitchFamily="34" charset="0"/>
                <a:ea typeface="Segoe UI" pitchFamily="34" charset="-122"/>
                <a:cs typeface="Segoe UI" pitchFamily="34" charset="-120"/>
              </a:rPr>
              <a:t>Height above the start. The floor sits a little below 0 because the sensor is on top of the robot.</a:t>
            </a:r>
            <a:endParaRPr lang="en-US" sz="1400" dirty="0"/>
          </a:p>
        </p:txBody>
      </p:sp>
      <p:sp>
        <p:nvSpPr>
          <p:cNvPr id="16" name="Shape 10"/>
          <p:cNvSpPr/>
          <p:nvPr/>
        </p:nvSpPr>
        <p:spPr>
          <a:xfrm>
            <a:off x="6172200" y="4846320"/>
            <a:ext cx="502920" cy="502920"/>
          </a:xfrm>
          <a:prstGeom prst="ellipse">
            <a:avLst/>
          </a:prstGeom>
          <a:solidFill>
            <a:srgbClr val="0E7B7B"/>
          </a:solidFill>
          <a:ln w="12700">
            <a:solidFill>
              <a:srgbClr val="0E7B7B"/>
            </a:solidFill>
            <a:prstDash val="solid"/>
          </a:ln>
        </p:spPr>
      </p:sp>
      <p:pic>
        <p:nvPicPr>
          <p:cNvPr id="17" name="Image 4" descr="preencoded.png"/>
          <p:cNvPicPr>
            <a:picLocks noChangeAspect="1"/>
          </p:cNvPicPr>
          <p:nvPr/>
        </p:nvPicPr>
        <p:blipFill>
          <a:blip r:embed="rId7"/>
          <a:stretch>
            <a:fillRect/>
          </a:stretch>
        </p:blipFill>
        <p:spPr>
          <a:xfrm>
            <a:off x="6297930" y="4972050"/>
            <a:ext cx="251460" cy="251460"/>
          </a:xfrm>
          <a:prstGeom prst="rect">
            <a:avLst/>
          </a:prstGeom>
        </p:spPr>
      </p:pic>
      <p:sp>
        <p:nvSpPr>
          <p:cNvPr id="18" name="Text 11"/>
          <p:cNvSpPr txBox="1"/>
          <p:nvPr/>
        </p:nvSpPr>
        <p:spPr>
          <a:xfrm>
            <a:off x="6858000" y="4828032"/>
            <a:ext cx="4785055" cy="868680"/>
          </a:xfrm>
          <a:prstGeom prst="rect">
            <a:avLst/>
          </a:prstGeom>
          <a:noFill/>
          <a:ln/>
        </p:spPr>
        <p:txBody>
          <a:bodyPr wrap="square" lIns="0" tIns="0" rIns="0" bIns="0" rtlCol="0" anchor="t"/>
          <a:lstStyle/>
          <a:p>
            <a:pPr marL="0" indent="0">
              <a:buNone/>
            </a:pPr>
            <a:r>
              <a:rPr lang="en-US" sz="1400" b="1" dirty="0">
                <a:solidFill>
                  <a:srgbClr val="152220"/>
                </a:solidFill>
                <a:latin typeface="Segoe UI" pitchFamily="34" charset="0"/>
                <a:ea typeface="Segoe UI" pitchFamily="34" charset="-122"/>
                <a:cs typeface="Segoe UI" pitchFamily="34" charset="-120"/>
              </a:rPr>
              <a:t>Every scan has its own origin</a:t>
            </a:r>
            <a:endParaRPr lang="en-US" sz="1400" dirty="0"/>
          </a:p>
          <a:p>
            <a:pPr marL="0" indent="0">
              <a:buNone/>
            </a:pPr>
            <a:r>
              <a:rPr lang="en-US" sz="1200" dirty="0">
                <a:solidFill>
                  <a:srgbClr val="576560"/>
                </a:solidFill>
                <a:latin typeface="Segoe UI" pitchFamily="34" charset="0"/>
                <a:ea typeface="Segoe UI" pitchFamily="34" charset="-122"/>
                <a:cs typeface="Segoe UI" pitchFamily="34" charset="-120"/>
              </a:rPr>
              <a:t>The colour scan and the lidar map start from different places, so their numbers don't line up.</a:t>
            </a:r>
            <a:endParaRPr lang="en-US" sz="1400" dirty="0"/>
          </a:p>
        </p:txBody>
      </p:sp>
      <p:sp>
        <p:nvSpPr>
          <p:cNvPr id="19" name="Text 12"/>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50" dirty="0">
                <a:solidFill>
                  <a:srgbClr val="8A9793"/>
                </a:solidFill>
                <a:latin typeface="Segoe UI" pitchFamily="34" charset="0"/>
                <a:ea typeface="Segoe UI" pitchFamily="34" charset="-122"/>
                <a:cs typeface="Segoe UI" pitchFamily="34" charset="-120"/>
              </a:rPr>
              <a:t>Smart Facility Management  ·  Week 04  —  Point Cloud Data</a:t>
            </a:r>
            <a:endParaRPr lang="en-US" sz="950" dirty="0"/>
          </a:p>
        </p:txBody>
      </p:sp>
      <p:sp>
        <p:nvSpPr>
          <p:cNvPr id="20" name="Text 13"/>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50" dirty="0">
                <a:solidFill>
                  <a:srgbClr val="8A9793"/>
                </a:solidFill>
                <a:latin typeface="Segoe UI" pitchFamily="34" charset="0"/>
                <a:ea typeface="Segoe UI" pitchFamily="34" charset="-122"/>
                <a:cs typeface="Segoe UI" pitchFamily="34" charset="-120"/>
              </a:rPr>
              <a:t>5 / 15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9ECE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marL="0" indent="0">
              <a:buNone/>
            </a:pPr>
            <a:r>
              <a:rPr lang="en-US" sz="1100" b="1" kern="0" spc="200" dirty="0">
                <a:solidFill>
                  <a:srgbClr val="0E7B7B"/>
                </a:solidFill>
                <a:latin typeface="Segoe UI" pitchFamily="34" charset="0"/>
                <a:ea typeface="Segoe UI" pitchFamily="34" charset="-122"/>
                <a:cs typeface="Segoe UI" pitchFamily="34" charset="-120"/>
              </a:rPr>
              <a:t>POINT CLOUD DATA  ·  WEEK 04</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t"/>
          <a:lstStyle/>
          <a:p>
            <a:pPr marL="0" indent="0">
              <a:buNone/>
            </a:pPr>
            <a:r>
              <a:rPr lang="en-US" sz="3000" b="1" dirty="0">
                <a:solidFill>
                  <a:srgbClr val="152220"/>
                </a:solidFill>
                <a:latin typeface="Segoe UI" pitchFamily="34" charset="0"/>
                <a:ea typeface="Segoe UI" pitchFamily="34" charset="-122"/>
                <a:cs typeface="Segoe UI" pitchFamily="34" charset="-120"/>
              </a:rPr>
              <a:t>How a LiDAR measures distance</a:t>
            </a:r>
            <a:endParaRPr lang="en-US" sz="3000" dirty="0"/>
          </a:p>
        </p:txBody>
      </p:sp>
      <p:sp>
        <p:nvSpPr>
          <p:cNvPr id="4" name="Text 2"/>
          <p:cNvSpPr txBox="1"/>
          <p:nvPr/>
        </p:nvSpPr>
        <p:spPr>
          <a:xfrm>
            <a:off x="548640" y="1225296"/>
            <a:ext cx="11094415" cy="365760"/>
          </a:xfrm>
          <a:prstGeom prst="rect">
            <a:avLst/>
          </a:prstGeom>
          <a:noFill/>
          <a:ln/>
        </p:spPr>
        <p:txBody>
          <a:bodyPr wrap="square" lIns="0" tIns="0" rIns="0" bIns="0" rtlCol="0" anchor="t"/>
          <a:lstStyle/>
          <a:p>
            <a:pPr marL="0" indent="0">
              <a:buNone/>
            </a:pPr>
            <a:r>
              <a:rPr lang="en-US" sz="1500" dirty="0">
                <a:solidFill>
                  <a:srgbClr val="0A5C5C"/>
                </a:solidFill>
                <a:latin typeface="Malgun Gothic" pitchFamily="34" charset="0"/>
                <a:ea typeface="Malgun Gothic" pitchFamily="34" charset="-122"/>
                <a:cs typeface="Malgun Gothic" pitchFamily="34" charset="-120"/>
              </a:rPr>
              <a:t>라이다(LiDAR)는 어떻게 거리를 잴까? — 빛이 돌아오는 시간을 잰다</a:t>
            </a:r>
            <a:endParaRPr lang="en-US" sz="1500" dirty="0"/>
          </a:p>
        </p:txBody>
      </p:sp>
      <p:sp>
        <p:nvSpPr>
          <p:cNvPr id="5" name="Shape 3"/>
          <p:cNvSpPr/>
          <p:nvPr/>
        </p:nvSpPr>
        <p:spPr>
          <a:xfrm>
            <a:off x="548640" y="1856232"/>
            <a:ext cx="384048" cy="384048"/>
          </a:xfrm>
          <a:prstGeom prst="ellipse">
            <a:avLst/>
          </a:prstGeom>
          <a:solidFill>
            <a:srgbClr val="0E7B7B"/>
          </a:solidFill>
          <a:ln w="12700">
            <a:solidFill>
              <a:srgbClr val="0E7B7B"/>
            </a:solidFill>
            <a:prstDash val="solid"/>
          </a:ln>
        </p:spPr>
      </p:sp>
      <p:sp>
        <p:nvSpPr>
          <p:cNvPr id="6" name="Text 4"/>
          <p:cNvSpPr txBox="1"/>
          <p:nvPr/>
        </p:nvSpPr>
        <p:spPr>
          <a:xfrm>
            <a:off x="548640" y="185623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7" name="Text 5"/>
          <p:cNvSpPr txBox="1"/>
          <p:nvPr/>
        </p:nvSpPr>
        <p:spPr>
          <a:xfrm>
            <a:off x="1097280" y="1810512"/>
            <a:ext cx="3840480" cy="960120"/>
          </a:xfrm>
          <a:prstGeom prst="rect">
            <a:avLst/>
          </a:prstGeom>
          <a:noFill/>
          <a:ln/>
        </p:spPr>
        <p:txBody>
          <a:bodyPr wrap="square" lIns="0" tIns="0" rIns="0" bIns="0" rtlCol="0" anchor="t"/>
          <a:lstStyle/>
          <a:p>
            <a:pPr marL="0" indent="0">
              <a:buNone/>
            </a:pPr>
            <a:r>
              <a:rPr lang="en-US" sz="1500" b="1" dirty="0">
                <a:solidFill>
                  <a:srgbClr val="152220"/>
                </a:solidFill>
                <a:latin typeface="Segoe UI" pitchFamily="34" charset="0"/>
                <a:ea typeface="Segoe UI" pitchFamily="34" charset="-122"/>
                <a:cs typeface="Segoe UI" pitchFamily="34" charset="-120"/>
              </a:rPr>
              <a:t>Fire</a:t>
            </a:r>
            <a:endParaRPr lang="en-US" sz="1500" dirty="0"/>
          </a:p>
          <a:p>
            <a:pPr marL="0" indent="0">
              <a:buNone/>
            </a:pPr>
            <a:r>
              <a:rPr lang="en-US" sz="1250" dirty="0">
                <a:solidFill>
                  <a:srgbClr val="576560"/>
                </a:solidFill>
                <a:latin typeface="Segoe UI" pitchFamily="34" charset="0"/>
                <a:ea typeface="Segoe UI" pitchFamily="34" charset="-122"/>
                <a:cs typeface="Segoe UI" pitchFamily="34" charset="-120"/>
              </a:rPr>
              <a:t>Send a short, eye-safe laser pulse.</a:t>
            </a:r>
            <a:endParaRPr lang="en-US" sz="1500" dirty="0"/>
          </a:p>
        </p:txBody>
      </p:sp>
      <p:sp>
        <p:nvSpPr>
          <p:cNvPr id="8" name="Shape 6"/>
          <p:cNvSpPr/>
          <p:nvPr/>
        </p:nvSpPr>
        <p:spPr>
          <a:xfrm>
            <a:off x="548640" y="2880360"/>
            <a:ext cx="384048" cy="384048"/>
          </a:xfrm>
          <a:prstGeom prst="ellipse">
            <a:avLst/>
          </a:prstGeom>
          <a:solidFill>
            <a:srgbClr val="0E7B7B"/>
          </a:solidFill>
          <a:ln w="12700">
            <a:solidFill>
              <a:srgbClr val="0E7B7B"/>
            </a:solidFill>
            <a:prstDash val="solid"/>
          </a:ln>
        </p:spPr>
      </p:sp>
      <p:sp>
        <p:nvSpPr>
          <p:cNvPr id="9" name="Text 7"/>
          <p:cNvSpPr txBox="1"/>
          <p:nvPr/>
        </p:nvSpPr>
        <p:spPr>
          <a:xfrm>
            <a:off x="548640" y="28803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10" name="Text 8"/>
          <p:cNvSpPr txBox="1"/>
          <p:nvPr/>
        </p:nvSpPr>
        <p:spPr>
          <a:xfrm>
            <a:off x="1097280" y="2834640"/>
            <a:ext cx="3840480" cy="960120"/>
          </a:xfrm>
          <a:prstGeom prst="rect">
            <a:avLst/>
          </a:prstGeom>
          <a:noFill/>
          <a:ln/>
        </p:spPr>
        <p:txBody>
          <a:bodyPr wrap="square" lIns="0" tIns="0" rIns="0" bIns="0" rtlCol="0" anchor="t"/>
          <a:lstStyle/>
          <a:p>
            <a:pPr marL="0" indent="0">
              <a:buNone/>
            </a:pPr>
            <a:r>
              <a:rPr lang="en-US" sz="1500" b="1" dirty="0">
                <a:solidFill>
                  <a:srgbClr val="152220"/>
                </a:solidFill>
                <a:latin typeface="Segoe UI" pitchFamily="34" charset="0"/>
                <a:ea typeface="Segoe UI" pitchFamily="34" charset="-122"/>
                <a:cs typeface="Segoe UI" pitchFamily="34" charset="-120"/>
              </a:rPr>
              <a:t>Time the echo</a:t>
            </a:r>
            <a:endParaRPr lang="en-US" sz="1500" dirty="0"/>
          </a:p>
          <a:p>
            <a:pPr marL="0" indent="0">
              <a:buNone/>
            </a:pPr>
            <a:r>
              <a:rPr lang="en-US" sz="1250" dirty="0">
                <a:solidFill>
                  <a:srgbClr val="576560"/>
                </a:solidFill>
                <a:latin typeface="Segoe UI" pitchFamily="34" charset="0"/>
                <a:ea typeface="Segoe UI" pitchFamily="34" charset="-122"/>
                <a:cs typeface="Segoe UI" pitchFamily="34" charset="-120"/>
              </a:rPr>
              <a:t>Measure how long until the light bounces back.</a:t>
            </a:r>
            <a:endParaRPr lang="en-US" sz="1500" dirty="0"/>
          </a:p>
        </p:txBody>
      </p:sp>
      <p:sp>
        <p:nvSpPr>
          <p:cNvPr id="11" name="Shape 9"/>
          <p:cNvSpPr/>
          <p:nvPr/>
        </p:nvSpPr>
        <p:spPr>
          <a:xfrm>
            <a:off x="548640" y="3904488"/>
            <a:ext cx="384048" cy="384048"/>
          </a:xfrm>
          <a:prstGeom prst="ellipse">
            <a:avLst/>
          </a:prstGeom>
          <a:solidFill>
            <a:srgbClr val="0E7B7B"/>
          </a:solidFill>
          <a:ln w="12700">
            <a:solidFill>
              <a:srgbClr val="0E7B7B"/>
            </a:solidFill>
            <a:prstDash val="solid"/>
          </a:ln>
        </p:spPr>
      </p:sp>
      <p:sp>
        <p:nvSpPr>
          <p:cNvPr id="12" name="Text 10"/>
          <p:cNvSpPr txBox="1"/>
          <p:nvPr/>
        </p:nvSpPr>
        <p:spPr>
          <a:xfrm>
            <a:off x="548640" y="390448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13" name="Text 11"/>
          <p:cNvSpPr txBox="1"/>
          <p:nvPr/>
        </p:nvSpPr>
        <p:spPr>
          <a:xfrm>
            <a:off x="1097280" y="3858768"/>
            <a:ext cx="3840480" cy="960120"/>
          </a:xfrm>
          <a:prstGeom prst="rect">
            <a:avLst/>
          </a:prstGeom>
          <a:noFill/>
          <a:ln/>
        </p:spPr>
        <p:txBody>
          <a:bodyPr wrap="square" lIns="0" tIns="0" rIns="0" bIns="0" rtlCol="0" anchor="t"/>
          <a:lstStyle/>
          <a:p>
            <a:pPr marL="0" indent="0">
              <a:buNone/>
            </a:pPr>
            <a:r>
              <a:rPr lang="en-US" sz="1500" b="1" dirty="0">
                <a:solidFill>
                  <a:srgbClr val="152220"/>
                </a:solidFill>
                <a:latin typeface="Segoe UI" pitchFamily="34" charset="0"/>
                <a:ea typeface="Segoe UI" pitchFamily="34" charset="-122"/>
                <a:cs typeface="Segoe UI" pitchFamily="34" charset="-120"/>
              </a:rPr>
              <a:t>Compute distance</a:t>
            </a:r>
            <a:endParaRPr lang="en-US" sz="1500" dirty="0"/>
          </a:p>
          <a:p>
            <a:pPr marL="0" indent="0">
              <a:buNone/>
            </a:pPr>
            <a:r>
              <a:rPr lang="en-US" sz="1250" dirty="0">
                <a:solidFill>
                  <a:srgbClr val="576560"/>
                </a:solidFill>
                <a:latin typeface="Segoe UI" pitchFamily="34" charset="0"/>
                <a:ea typeface="Segoe UI" pitchFamily="34" charset="-122"/>
                <a:cs typeface="Segoe UI" pitchFamily="34" charset="-120"/>
              </a:rPr>
              <a:t>distance = speed of light × time ÷ 2</a:t>
            </a:r>
            <a:endParaRPr lang="en-US" sz="1500" dirty="0"/>
          </a:p>
          <a:p>
            <a:pPr marL="0" indent="0">
              <a:buNone/>
            </a:pPr>
            <a:r>
              <a:rPr lang="en-US" sz="1250" dirty="0">
                <a:solidFill>
                  <a:srgbClr val="576560"/>
                </a:solidFill>
                <a:latin typeface="Segoe UI" pitchFamily="34" charset="0"/>
                <a:ea typeface="Segoe UI" pitchFamily="34" charset="-122"/>
                <a:cs typeface="Segoe UI" pitchFamily="34" charset="-120"/>
              </a:rPr>
              <a:t>(echo after 20 ns → 3 m away)</a:t>
            </a:r>
            <a:endParaRPr lang="en-US" sz="1500" dirty="0"/>
          </a:p>
        </p:txBody>
      </p:sp>
      <p:sp>
        <p:nvSpPr>
          <p:cNvPr id="14" name="Shape 12"/>
          <p:cNvSpPr/>
          <p:nvPr/>
        </p:nvSpPr>
        <p:spPr>
          <a:xfrm>
            <a:off x="548640" y="4928616"/>
            <a:ext cx="384048" cy="384048"/>
          </a:xfrm>
          <a:prstGeom prst="ellipse">
            <a:avLst/>
          </a:prstGeom>
          <a:solidFill>
            <a:srgbClr val="0E7B7B"/>
          </a:solidFill>
          <a:ln w="12700">
            <a:solidFill>
              <a:srgbClr val="0E7B7B"/>
            </a:solidFill>
            <a:prstDash val="solid"/>
          </a:ln>
        </p:spPr>
      </p:sp>
      <p:sp>
        <p:nvSpPr>
          <p:cNvPr id="15" name="Text 13"/>
          <p:cNvSpPr txBox="1"/>
          <p:nvPr/>
        </p:nvSpPr>
        <p:spPr>
          <a:xfrm>
            <a:off x="548640" y="492861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16" name="Text 14"/>
          <p:cNvSpPr txBox="1"/>
          <p:nvPr/>
        </p:nvSpPr>
        <p:spPr>
          <a:xfrm>
            <a:off x="1097280" y="4882896"/>
            <a:ext cx="3840480" cy="960120"/>
          </a:xfrm>
          <a:prstGeom prst="rect">
            <a:avLst/>
          </a:prstGeom>
          <a:noFill/>
          <a:ln/>
        </p:spPr>
        <p:txBody>
          <a:bodyPr wrap="square" lIns="0" tIns="0" rIns="0" bIns="0" rtlCol="0" anchor="t"/>
          <a:lstStyle/>
          <a:p>
            <a:pPr marL="0" indent="0">
              <a:buNone/>
            </a:pPr>
            <a:r>
              <a:rPr lang="en-US" sz="1500" b="1" dirty="0">
                <a:solidFill>
                  <a:srgbClr val="152220"/>
                </a:solidFill>
                <a:latin typeface="Segoe UI" pitchFamily="34" charset="0"/>
                <a:ea typeface="Segoe UI" pitchFamily="34" charset="-122"/>
                <a:cs typeface="Segoe UI" pitchFamily="34" charset="-120"/>
              </a:rPr>
              <a:t>Spin and repeat</a:t>
            </a:r>
            <a:endParaRPr lang="en-US" sz="1500" dirty="0"/>
          </a:p>
          <a:p>
            <a:pPr marL="0" indent="0">
              <a:buNone/>
            </a:pPr>
            <a:r>
              <a:rPr lang="en-US" sz="1250" dirty="0">
                <a:solidFill>
                  <a:srgbClr val="576560"/>
                </a:solidFill>
                <a:latin typeface="Segoe UI" pitchFamily="34" charset="0"/>
                <a:ea typeface="Segoe UI" pitchFamily="34" charset="-122"/>
                <a:cs typeface="Segoe UI" pitchFamily="34" charset="-120"/>
              </a:rPr>
              <a:t>96 beams × 360°, 10 turns a second → up to 860,000 points every second.</a:t>
            </a:r>
            <a:endParaRPr lang="en-US" sz="1500" dirty="0"/>
          </a:p>
        </p:txBody>
      </p:sp>
      <p:sp>
        <p:nvSpPr>
          <p:cNvPr id="17" name="Shape 15"/>
          <p:cNvSpPr/>
          <p:nvPr/>
        </p:nvSpPr>
        <p:spPr>
          <a:xfrm>
            <a:off x="5074920" y="1783080"/>
            <a:ext cx="6568135" cy="4023360"/>
          </a:xfrm>
          <a:prstGeom prst="roundRect">
            <a:avLst>
              <a:gd name="adj" fmla="val 2727"/>
            </a:avLst>
          </a:prstGeom>
          <a:solidFill>
            <a:srgbClr val="FFFFFF"/>
          </a:solidFill>
          <a:ln w="12700">
            <a:solidFill>
              <a:srgbClr val="FFFFFF"/>
            </a:solidFill>
            <a:prstDash val="solid"/>
          </a:ln>
          <a:effectLst>
            <a:outerShdw blurRad="127000" dist="25400" dir="5400000" algn="bl" rotWithShape="0">
              <a:srgbClr val="14282A">
                <a:alpha val="12000"/>
              </a:srgbClr>
            </a:outerShdw>
          </a:effectLst>
        </p:spPr>
      </p:sp>
      <p:pic>
        <p:nvPicPr>
          <p:cNvPr id="18" name="Image 0" descr="fig/lidar.png"/>
          <p:cNvPicPr>
            <a:picLocks noChangeAspect="1"/>
          </p:cNvPicPr>
          <p:nvPr/>
        </p:nvPicPr>
        <p:blipFill>
          <a:blip r:embed="rId3"/>
          <a:stretch>
            <a:fillRect/>
          </a:stretch>
        </p:blipFill>
        <p:spPr>
          <a:xfrm>
            <a:off x="5257800" y="2069264"/>
            <a:ext cx="6202375" cy="2170831"/>
          </a:xfrm>
          <a:prstGeom prst="rect">
            <a:avLst/>
          </a:prstGeom>
        </p:spPr>
      </p:pic>
      <p:sp>
        <p:nvSpPr>
          <p:cNvPr id="19" name="Text 16"/>
          <p:cNvSpPr txBox="1"/>
          <p:nvPr/>
        </p:nvSpPr>
        <p:spPr>
          <a:xfrm>
            <a:off x="5349240" y="4572000"/>
            <a:ext cx="2918308" cy="914400"/>
          </a:xfrm>
          <a:prstGeom prst="rect">
            <a:avLst/>
          </a:prstGeom>
          <a:noFill/>
          <a:ln/>
        </p:spPr>
        <p:txBody>
          <a:bodyPr wrap="square" lIns="0" tIns="0" rIns="0" bIns="0" rtlCol="0" anchor="t"/>
          <a:lstStyle/>
          <a:p>
            <a:pPr marL="0" indent="0">
              <a:buNone/>
            </a:pPr>
            <a:r>
              <a:rPr lang="en-US" sz="1400" b="1" dirty="0">
                <a:solidFill>
                  <a:srgbClr val="152220"/>
                </a:solidFill>
                <a:latin typeface="Segoe UI" pitchFamily="34" charset="0"/>
                <a:ea typeface="Segoe UI" pitchFamily="34" charset="-122"/>
                <a:cs typeface="Segoe UI" pitchFamily="34" charset="-120"/>
              </a:rPr>
              <a:t>What the sensor does</a:t>
            </a:r>
            <a:endParaRPr lang="en-US" sz="1400" dirty="0"/>
          </a:p>
          <a:p>
            <a:pPr marL="0" indent="0">
              <a:buNone/>
            </a:pPr>
            <a:r>
              <a:rPr lang="en-US" sz="1200" dirty="0">
                <a:solidFill>
                  <a:srgbClr val="576560"/>
                </a:solidFill>
                <a:latin typeface="Segoe UI" pitchFamily="34" charset="0"/>
                <a:ea typeface="Segoe UI" pitchFamily="34" charset="-122"/>
                <a:cs typeface="Segoe UI" pitchFamily="34" charset="-120"/>
              </a:rPr>
              <a:t>Beams spin out and hit the walls, a table and a column.</a:t>
            </a:r>
            <a:endParaRPr lang="en-US" sz="1400" dirty="0"/>
          </a:p>
        </p:txBody>
      </p:sp>
      <p:sp>
        <p:nvSpPr>
          <p:cNvPr id="20" name="Text 17"/>
          <p:cNvSpPr txBox="1"/>
          <p:nvPr/>
        </p:nvSpPr>
        <p:spPr>
          <a:xfrm>
            <a:off x="8450428" y="4572000"/>
            <a:ext cx="2918308" cy="914400"/>
          </a:xfrm>
          <a:prstGeom prst="rect">
            <a:avLst/>
          </a:prstGeom>
          <a:noFill/>
          <a:ln/>
        </p:spPr>
        <p:txBody>
          <a:bodyPr wrap="square" lIns="0" tIns="0" rIns="0" bIns="0" rtlCol="0" anchor="t"/>
          <a:lstStyle/>
          <a:p>
            <a:pPr marL="0" indent="0">
              <a:buNone/>
            </a:pPr>
            <a:r>
              <a:rPr lang="en-US" sz="1400" b="1" dirty="0">
                <a:solidFill>
                  <a:srgbClr val="152220"/>
                </a:solidFill>
                <a:latin typeface="Segoe UI" pitchFamily="34" charset="0"/>
                <a:ea typeface="Segoe UI" pitchFamily="34" charset="-122"/>
                <a:cs typeface="Segoe UI" pitchFamily="34" charset="-120"/>
              </a:rPr>
              <a:t>What the robot actually gets</a:t>
            </a:r>
            <a:endParaRPr lang="en-US" sz="1400" dirty="0"/>
          </a:p>
          <a:p>
            <a:pPr marL="0" indent="0">
              <a:buNone/>
            </a:pPr>
            <a:r>
              <a:rPr lang="en-US" sz="1200" dirty="0">
                <a:solidFill>
                  <a:srgbClr val="576560"/>
                </a:solidFill>
                <a:latin typeface="Segoe UI" pitchFamily="34" charset="0"/>
                <a:ea typeface="Segoe UI" pitchFamily="34" charset="-122"/>
                <a:cs typeface="Segoe UI" pitchFamily="34" charset="-120"/>
              </a:rPr>
              <a:t>Only the points. Notice the gaps — shadows behind objects the laser couldn't see.</a:t>
            </a:r>
            <a:endParaRPr lang="en-US" sz="1400" dirty="0"/>
          </a:p>
        </p:txBody>
      </p:sp>
      <p:sp>
        <p:nvSpPr>
          <p:cNvPr id="21" name="Text 18"/>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50" dirty="0">
                <a:solidFill>
                  <a:srgbClr val="8A9793"/>
                </a:solidFill>
                <a:latin typeface="Segoe UI" pitchFamily="34" charset="0"/>
                <a:ea typeface="Segoe UI" pitchFamily="34" charset="-122"/>
                <a:cs typeface="Segoe UI" pitchFamily="34" charset="-120"/>
              </a:rPr>
              <a:t>Smart Facility Management  ·  Week 04  —  Point Cloud Data</a:t>
            </a:r>
            <a:endParaRPr lang="en-US" sz="950" dirty="0"/>
          </a:p>
        </p:txBody>
      </p:sp>
      <p:sp>
        <p:nvSpPr>
          <p:cNvPr id="22" name="Text 19"/>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50" dirty="0">
                <a:solidFill>
                  <a:srgbClr val="8A9793"/>
                </a:solidFill>
                <a:latin typeface="Segoe UI" pitchFamily="34" charset="0"/>
                <a:ea typeface="Segoe UI" pitchFamily="34" charset="-122"/>
                <a:cs typeface="Segoe UI" pitchFamily="34" charset="-120"/>
              </a:rPr>
              <a:t>6 / 15</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9ECE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marL="0" indent="0">
              <a:buNone/>
            </a:pPr>
            <a:r>
              <a:rPr lang="en-US" sz="1100" b="1" kern="0" spc="200" dirty="0">
                <a:solidFill>
                  <a:srgbClr val="0E7B7B"/>
                </a:solidFill>
                <a:latin typeface="Segoe UI" pitchFamily="34" charset="0"/>
                <a:ea typeface="Segoe UI" pitchFamily="34" charset="-122"/>
                <a:cs typeface="Segoe UI" pitchFamily="34" charset="-120"/>
              </a:rPr>
              <a:t>POINT CLOUD DATA  ·  WEEK 04</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t"/>
          <a:lstStyle/>
          <a:p>
            <a:pPr marL="0" indent="0">
              <a:buNone/>
            </a:pPr>
            <a:r>
              <a:rPr lang="en-US" sz="3000" b="1" dirty="0">
                <a:solidFill>
                  <a:srgbClr val="152220"/>
                </a:solidFill>
                <a:latin typeface="Segoe UI" pitchFamily="34" charset="0"/>
                <a:ea typeface="Segoe UI" pitchFamily="34" charset="-122"/>
                <a:cs typeface="Segoe UI" pitchFamily="34" charset="-120"/>
              </a:rPr>
              <a:t>Our robot and its two 'eyes'</a:t>
            </a:r>
            <a:endParaRPr lang="en-US" sz="3000" dirty="0"/>
          </a:p>
        </p:txBody>
      </p:sp>
      <p:sp>
        <p:nvSpPr>
          <p:cNvPr id="4" name="Text 2"/>
          <p:cNvSpPr txBox="1"/>
          <p:nvPr/>
        </p:nvSpPr>
        <p:spPr>
          <a:xfrm>
            <a:off x="548640" y="1225296"/>
            <a:ext cx="11094415" cy="365760"/>
          </a:xfrm>
          <a:prstGeom prst="rect">
            <a:avLst/>
          </a:prstGeom>
          <a:noFill/>
          <a:ln/>
        </p:spPr>
        <p:txBody>
          <a:bodyPr wrap="square" lIns="0" tIns="0" rIns="0" bIns="0" rtlCol="0" anchor="t"/>
          <a:lstStyle/>
          <a:p>
            <a:pPr marL="0" indent="0">
              <a:buNone/>
            </a:pPr>
            <a:r>
              <a:rPr lang="en-US" sz="1500" dirty="0">
                <a:solidFill>
                  <a:srgbClr val="0A5C5C"/>
                </a:solidFill>
                <a:latin typeface="Malgun Gothic" pitchFamily="34" charset="0"/>
                <a:ea typeface="Malgun Gothic" pitchFamily="34" charset="-122"/>
                <a:cs typeface="Malgun Gothic" pitchFamily="34" charset="-120"/>
              </a:rPr>
              <a:t>우리 로봇과 두 개의 '눈' — 라이다는 형태, 카메라는 색</a:t>
            </a:r>
            <a:endParaRPr lang="en-US" sz="1500" dirty="0"/>
          </a:p>
        </p:txBody>
      </p:sp>
      <p:sp>
        <p:nvSpPr>
          <p:cNvPr id="5" name="Shape 3"/>
          <p:cNvSpPr/>
          <p:nvPr/>
        </p:nvSpPr>
        <p:spPr>
          <a:xfrm>
            <a:off x="548640" y="1783080"/>
            <a:ext cx="3017520" cy="4480560"/>
          </a:xfrm>
          <a:prstGeom prst="roundRect">
            <a:avLst>
              <a:gd name="adj" fmla="val 3636"/>
            </a:avLst>
          </a:prstGeom>
          <a:solidFill>
            <a:srgbClr val="FFFFFF"/>
          </a:solidFill>
          <a:ln w="12700">
            <a:solidFill>
              <a:srgbClr val="FFFFFF"/>
            </a:solidFill>
            <a:prstDash val="solid"/>
          </a:ln>
          <a:effectLst>
            <a:outerShdw blurRad="127000" dist="25400" dir="5400000" algn="bl" rotWithShape="0">
              <a:srgbClr val="14282A">
                <a:alpha val="12000"/>
              </a:srgbClr>
            </a:outerShdw>
          </a:effectLst>
        </p:spPr>
      </p:sp>
      <p:pic>
        <p:nvPicPr>
          <p:cNvPr id="6" name="Image 0" descr="media/robot_close.jpg"/>
          <p:cNvPicPr>
            <a:picLocks noChangeAspect="1"/>
          </p:cNvPicPr>
          <p:nvPr/>
        </p:nvPicPr>
        <p:blipFill>
          <a:blip r:embed="rId3"/>
          <a:srcRect/>
          <a:stretch/>
        </p:blipFill>
        <p:spPr>
          <a:xfrm>
            <a:off x="548640" y="1783080"/>
            <a:ext cx="3017520" cy="4480560"/>
          </a:xfrm>
          <a:prstGeom prst="rect">
            <a:avLst/>
          </a:prstGeom>
        </p:spPr>
      </p:pic>
      <p:sp>
        <p:nvSpPr>
          <p:cNvPr id="7" name="Shape 4"/>
          <p:cNvSpPr/>
          <p:nvPr/>
        </p:nvSpPr>
        <p:spPr>
          <a:xfrm>
            <a:off x="3840480" y="1783080"/>
            <a:ext cx="3822192" cy="4480560"/>
          </a:xfrm>
          <a:prstGeom prst="roundRect">
            <a:avLst>
              <a:gd name="adj" fmla="val 2871"/>
            </a:avLst>
          </a:prstGeom>
          <a:solidFill>
            <a:srgbClr val="FFFFFF"/>
          </a:solidFill>
          <a:ln w="12700">
            <a:solidFill>
              <a:srgbClr val="FFFFFF"/>
            </a:solidFill>
            <a:prstDash val="solid"/>
          </a:ln>
          <a:effectLst>
            <a:outerShdw blurRad="127000" dist="25400" dir="5400000" algn="bl" rotWithShape="0">
              <a:srgbClr val="14282A">
                <a:alpha val="12000"/>
              </a:srgbClr>
            </a:outerShdw>
          </a:effectLst>
        </p:spPr>
      </p:sp>
      <p:pic>
        <p:nvPicPr>
          <p:cNvPr id="8" name="Image 1" descr="media/lidar_a_trim.png"/>
          <p:cNvPicPr>
            <a:picLocks noChangeAspect="1"/>
          </p:cNvPicPr>
          <p:nvPr/>
        </p:nvPicPr>
        <p:blipFill>
          <a:blip r:embed="rId4"/>
          <a:stretch>
            <a:fillRect/>
          </a:stretch>
        </p:blipFill>
        <p:spPr>
          <a:xfrm>
            <a:off x="5220358" y="1965960"/>
            <a:ext cx="1062436" cy="1143000"/>
          </a:xfrm>
          <a:prstGeom prst="rect">
            <a:avLst/>
          </a:prstGeom>
        </p:spPr>
      </p:pic>
      <p:sp>
        <p:nvSpPr>
          <p:cNvPr id="9" name="Text 5"/>
          <p:cNvSpPr txBox="1"/>
          <p:nvPr/>
        </p:nvSpPr>
        <p:spPr>
          <a:xfrm>
            <a:off x="4114800" y="3246120"/>
            <a:ext cx="3273552" cy="365760"/>
          </a:xfrm>
          <a:prstGeom prst="rect">
            <a:avLst/>
          </a:prstGeom>
          <a:noFill/>
          <a:ln/>
        </p:spPr>
        <p:txBody>
          <a:bodyPr wrap="square" lIns="0" tIns="0" rIns="0" bIns="0" rtlCol="0" anchor="t"/>
          <a:lstStyle/>
          <a:p>
            <a:pPr marL="0" indent="0">
              <a:buNone/>
            </a:pPr>
            <a:r>
              <a:rPr lang="en-US" sz="1800" b="1" dirty="0">
                <a:solidFill>
                  <a:srgbClr val="152220"/>
                </a:solidFill>
                <a:latin typeface="Segoe UI" pitchFamily="34" charset="0"/>
                <a:ea typeface="Segoe UI" pitchFamily="34" charset="-122"/>
                <a:cs typeface="Segoe UI" pitchFamily="34" charset="-120"/>
              </a:rPr>
              <a:t>3D LiDAR</a:t>
            </a:r>
            <a:endParaRPr lang="en-US" sz="1800" dirty="0"/>
          </a:p>
        </p:txBody>
      </p:sp>
      <p:sp>
        <p:nvSpPr>
          <p:cNvPr id="10" name="Text 6"/>
          <p:cNvSpPr txBox="1"/>
          <p:nvPr/>
        </p:nvSpPr>
        <p:spPr>
          <a:xfrm>
            <a:off x="4114800" y="3584448"/>
            <a:ext cx="3273552" cy="274320"/>
          </a:xfrm>
          <a:prstGeom prst="rect">
            <a:avLst/>
          </a:prstGeom>
          <a:noFill/>
          <a:ln/>
        </p:spPr>
        <p:txBody>
          <a:bodyPr wrap="square" lIns="0" tIns="0" rIns="0" bIns="0" rtlCol="0" anchor="t"/>
          <a:lstStyle/>
          <a:p>
            <a:pPr marL="0" indent="0">
              <a:buNone/>
            </a:pPr>
            <a:r>
              <a:rPr lang="en-US" sz="1200" dirty="0">
                <a:solidFill>
                  <a:srgbClr val="8A9793"/>
                </a:solidFill>
                <a:latin typeface="Segoe UI" pitchFamily="34" charset="0"/>
                <a:ea typeface="Segoe UI" pitchFamily="34" charset="-122"/>
                <a:cs typeface="Segoe UI" pitchFamily="34" charset="-120"/>
              </a:rPr>
              <a:t>RoboSense Airy</a:t>
            </a:r>
            <a:endParaRPr lang="en-US" sz="1200" dirty="0"/>
          </a:p>
        </p:txBody>
      </p:sp>
      <p:sp>
        <p:nvSpPr>
          <p:cNvPr id="11" name="Text 7"/>
          <p:cNvSpPr txBox="1"/>
          <p:nvPr/>
        </p:nvSpPr>
        <p:spPr>
          <a:xfrm>
            <a:off x="4114800" y="3913632"/>
            <a:ext cx="3273552" cy="274320"/>
          </a:xfrm>
          <a:prstGeom prst="rect">
            <a:avLst/>
          </a:prstGeom>
          <a:noFill/>
          <a:ln/>
        </p:spPr>
        <p:txBody>
          <a:bodyPr wrap="square" lIns="0" tIns="0" rIns="0" bIns="0" rtlCol="0" anchor="t"/>
          <a:lstStyle/>
          <a:p>
            <a:pPr marL="0" indent="0">
              <a:buNone/>
            </a:pPr>
            <a:r>
              <a:rPr lang="en-US" sz="1300" b="1" dirty="0">
                <a:solidFill>
                  <a:srgbClr val="0E7B7B"/>
                </a:solidFill>
                <a:latin typeface="Segoe UI" pitchFamily="34" charset="0"/>
                <a:ea typeface="Segoe UI" pitchFamily="34" charset="-122"/>
                <a:cs typeface="Segoe UI" pitchFamily="34" charset="-120"/>
              </a:rPr>
              <a:t>Measures shape: where things are</a:t>
            </a:r>
            <a:endParaRPr lang="en-US" sz="1300" dirty="0"/>
          </a:p>
        </p:txBody>
      </p:sp>
      <p:sp>
        <p:nvSpPr>
          <p:cNvPr id="12" name="Text 8"/>
          <p:cNvSpPr txBox="1"/>
          <p:nvPr/>
        </p:nvSpPr>
        <p:spPr>
          <a:xfrm>
            <a:off x="4114800" y="4169664"/>
            <a:ext cx="3273552" cy="274320"/>
          </a:xfrm>
          <a:prstGeom prst="rect">
            <a:avLst/>
          </a:prstGeom>
          <a:noFill/>
          <a:ln/>
        </p:spPr>
        <p:txBody>
          <a:bodyPr wrap="square" lIns="0" tIns="0" rIns="0" bIns="0" rtlCol="0" anchor="t"/>
          <a:lstStyle/>
          <a:p>
            <a:pPr marL="0" indent="0">
              <a:buNone/>
            </a:pPr>
            <a:r>
              <a:rPr lang="en-US" sz="1100" dirty="0">
                <a:solidFill>
                  <a:srgbClr val="0A5C5C"/>
                </a:solidFill>
                <a:latin typeface="Malgun Gothic" pitchFamily="34" charset="0"/>
                <a:ea typeface="Malgun Gothic" pitchFamily="34" charset="-122"/>
                <a:cs typeface="Malgun Gothic" pitchFamily="34" charset="-120"/>
              </a:rPr>
              <a:t>형태 측정 — 사물의 위치</a:t>
            </a:r>
            <a:endParaRPr lang="en-US" sz="1100" dirty="0"/>
          </a:p>
        </p:txBody>
      </p:sp>
      <p:sp>
        <p:nvSpPr>
          <p:cNvPr id="13" name="Text 9"/>
          <p:cNvSpPr txBox="1"/>
          <p:nvPr/>
        </p:nvSpPr>
        <p:spPr>
          <a:xfrm>
            <a:off x="4114800" y="4553712"/>
            <a:ext cx="3273552" cy="155448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576560"/>
                </a:solidFill>
                <a:latin typeface="Segoe UI" pitchFamily="34" charset="0"/>
                <a:ea typeface="Segoe UI" pitchFamily="34" charset="-122"/>
                <a:cs typeface="Segoe UI" pitchFamily="34" charset="-120"/>
              </a:rPr>
              <a:t>96 laser beams</a:t>
            </a:r>
            <a:endParaRPr lang="en-US" sz="1250" dirty="0"/>
          </a:p>
          <a:p>
            <a:pPr marL="342900" indent="-342900">
              <a:spcAft>
                <a:spcPts val="400"/>
              </a:spcAft>
              <a:buSzPct val="100000"/>
              <a:buChar char="•"/>
            </a:pPr>
            <a:r>
              <a:rPr lang="en-US" sz="1250" dirty="0">
                <a:solidFill>
                  <a:srgbClr val="576560"/>
                </a:solidFill>
                <a:latin typeface="Segoe UI" pitchFamily="34" charset="0"/>
                <a:ea typeface="Segoe UI" pitchFamily="34" charset="-122"/>
                <a:cs typeface="Segoe UI" pitchFamily="34" charset="-120"/>
              </a:rPr>
              <a:t>360° × 90° field of view</a:t>
            </a:r>
            <a:endParaRPr lang="en-US" sz="1250" dirty="0"/>
          </a:p>
          <a:p>
            <a:pPr marL="342900" indent="-342900">
              <a:spcAft>
                <a:spcPts val="400"/>
              </a:spcAft>
              <a:buSzPct val="100000"/>
              <a:buChar char="•"/>
            </a:pPr>
            <a:r>
              <a:rPr lang="en-US" sz="1250" dirty="0">
                <a:solidFill>
                  <a:srgbClr val="576560"/>
                </a:solidFill>
                <a:latin typeface="Segoe UI" pitchFamily="34" charset="0"/>
                <a:ea typeface="Segoe UI" pitchFamily="34" charset="-122"/>
                <a:cs typeface="Segoe UI" pitchFamily="34" charset="-120"/>
              </a:rPr>
              <a:t>Up to 860,000 points / second</a:t>
            </a:r>
            <a:endParaRPr lang="en-US" sz="1250" dirty="0"/>
          </a:p>
          <a:p>
            <a:pPr marL="342900" indent="-342900">
              <a:spcAft>
                <a:spcPts val="400"/>
              </a:spcAft>
              <a:buSzPct val="100000"/>
              <a:buChar char="•"/>
            </a:pPr>
            <a:r>
              <a:rPr lang="en-US" sz="1250" dirty="0">
                <a:solidFill>
                  <a:srgbClr val="576560"/>
                </a:solidFill>
                <a:latin typeface="Segoe UI" pitchFamily="34" charset="0"/>
                <a:ea typeface="Segoe UI" pitchFamily="34" charset="-122"/>
                <a:cs typeface="Segoe UI" pitchFamily="34" charset="-120"/>
              </a:rPr>
              <a:t>Range up to 60 m</a:t>
            </a:r>
            <a:endParaRPr lang="en-US" sz="1250" dirty="0"/>
          </a:p>
        </p:txBody>
      </p:sp>
      <p:sp>
        <p:nvSpPr>
          <p:cNvPr id="14" name="Shape 10"/>
          <p:cNvSpPr/>
          <p:nvPr/>
        </p:nvSpPr>
        <p:spPr>
          <a:xfrm>
            <a:off x="7818120" y="1783080"/>
            <a:ext cx="3822192" cy="4480560"/>
          </a:xfrm>
          <a:prstGeom prst="roundRect">
            <a:avLst>
              <a:gd name="adj" fmla="val 2871"/>
            </a:avLst>
          </a:prstGeom>
          <a:solidFill>
            <a:srgbClr val="FFFFFF"/>
          </a:solidFill>
          <a:ln w="12700">
            <a:solidFill>
              <a:srgbClr val="FFFFFF"/>
            </a:solidFill>
            <a:prstDash val="solid"/>
          </a:ln>
          <a:effectLst>
            <a:outerShdw blurRad="127000" dist="25400" dir="5400000" algn="bl" rotWithShape="0">
              <a:srgbClr val="14282A">
                <a:alpha val="12000"/>
              </a:srgbClr>
            </a:outerShdw>
          </a:effectLst>
        </p:spPr>
      </p:sp>
      <p:pic>
        <p:nvPicPr>
          <p:cNvPr id="15" name="Image 2" descr="media/zed_a_trim.png"/>
          <p:cNvPicPr>
            <a:picLocks noChangeAspect="1"/>
          </p:cNvPicPr>
          <p:nvPr/>
        </p:nvPicPr>
        <p:blipFill>
          <a:blip r:embed="rId5"/>
          <a:stretch>
            <a:fillRect/>
          </a:stretch>
        </p:blipFill>
        <p:spPr>
          <a:xfrm>
            <a:off x="8275320" y="2244880"/>
            <a:ext cx="2907792" cy="585159"/>
          </a:xfrm>
          <a:prstGeom prst="rect">
            <a:avLst/>
          </a:prstGeom>
        </p:spPr>
      </p:pic>
      <p:sp>
        <p:nvSpPr>
          <p:cNvPr id="16" name="Text 11"/>
          <p:cNvSpPr txBox="1"/>
          <p:nvPr/>
        </p:nvSpPr>
        <p:spPr>
          <a:xfrm>
            <a:off x="8092440" y="3246120"/>
            <a:ext cx="3273552" cy="365760"/>
          </a:xfrm>
          <a:prstGeom prst="rect">
            <a:avLst/>
          </a:prstGeom>
          <a:noFill/>
          <a:ln/>
        </p:spPr>
        <p:txBody>
          <a:bodyPr wrap="square" lIns="0" tIns="0" rIns="0" bIns="0" rtlCol="0" anchor="t"/>
          <a:lstStyle/>
          <a:p>
            <a:pPr marL="0" indent="0">
              <a:buNone/>
            </a:pPr>
            <a:r>
              <a:rPr lang="en-US" sz="1800" b="1" dirty="0">
                <a:solidFill>
                  <a:srgbClr val="152220"/>
                </a:solidFill>
                <a:latin typeface="Segoe UI" pitchFamily="34" charset="0"/>
                <a:ea typeface="Segoe UI" pitchFamily="34" charset="-122"/>
                <a:cs typeface="Segoe UI" pitchFamily="34" charset="-120"/>
              </a:rPr>
              <a:t>Stereo camera</a:t>
            </a:r>
            <a:endParaRPr lang="en-US" sz="1800" dirty="0"/>
          </a:p>
        </p:txBody>
      </p:sp>
      <p:sp>
        <p:nvSpPr>
          <p:cNvPr id="17" name="Text 12"/>
          <p:cNvSpPr txBox="1"/>
          <p:nvPr/>
        </p:nvSpPr>
        <p:spPr>
          <a:xfrm>
            <a:off x="8092440" y="3584448"/>
            <a:ext cx="3273552" cy="274320"/>
          </a:xfrm>
          <a:prstGeom prst="rect">
            <a:avLst/>
          </a:prstGeom>
          <a:noFill/>
          <a:ln/>
        </p:spPr>
        <p:txBody>
          <a:bodyPr wrap="square" lIns="0" tIns="0" rIns="0" bIns="0" rtlCol="0" anchor="t"/>
          <a:lstStyle/>
          <a:p>
            <a:pPr marL="0" indent="0">
              <a:buNone/>
            </a:pPr>
            <a:r>
              <a:rPr lang="en-US" sz="1200" dirty="0">
                <a:solidFill>
                  <a:srgbClr val="8A9793"/>
                </a:solidFill>
                <a:latin typeface="Segoe UI" pitchFamily="34" charset="0"/>
                <a:ea typeface="Segoe UI" pitchFamily="34" charset="-122"/>
                <a:cs typeface="Segoe UI" pitchFamily="34" charset="-120"/>
              </a:rPr>
              <a:t>ZED X</a:t>
            </a:r>
            <a:endParaRPr lang="en-US" sz="1200" dirty="0"/>
          </a:p>
        </p:txBody>
      </p:sp>
      <p:sp>
        <p:nvSpPr>
          <p:cNvPr id="18" name="Text 13"/>
          <p:cNvSpPr txBox="1"/>
          <p:nvPr/>
        </p:nvSpPr>
        <p:spPr>
          <a:xfrm>
            <a:off x="8092440" y="3913632"/>
            <a:ext cx="3273552" cy="274320"/>
          </a:xfrm>
          <a:prstGeom prst="rect">
            <a:avLst/>
          </a:prstGeom>
          <a:noFill/>
          <a:ln/>
        </p:spPr>
        <p:txBody>
          <a:bodyPr wrap="square" lIns="0" tIns="0" rIns="0" bIns="0" rtlCol="0" anchor="t"/>
          <a:lstStyle/>
          <a:p>
            <a:pPr marL="0" indent="0">
              <a:buNone/>
            </a:pPr>
            <a:r>
              <a:rPr lang="en-US" sz="1300" b="1" dirty="0">
                <a:solidFill>
                  <a:srgbClr val="0E7B7B"/>
                </a:solidFill>
                <a:latin typeface="Segoe UI" pitchFamily="34" charset="0"/>
                <a:ea typeface="Segoe UI" pitchFamily="34" charset="-122"/>
                <a:cs typeface="Segoe UI" pitchFamily="34" charset="-120"/>
              </a:rPr>
              <a:t>Adds colour: what things look like</a:t>
            </a:r>
            <a:endParaRPr lang="en-US" sz="1300" dirty="0"/>
          </a:p>
        </p:txBody>
      </p:sp>
      <p:sp>
        <p:nvSpPr>
          <p:cNvPr id="19" name="Text 14"/>
          <p:cNvSpPr txBox="1"/>
          <p:nvPr/>
        </p:nvSpPr>
        <p:spPr>
          <a:xfrm>
            <a:off x="8092440" y="4169664"/>
            <a:ext cx="3273552" cy="274320"/>
          </a:xfrm>
          <a:prstGeom prst="rect">
            <a:avLst/>
          </a:prstGeom>
          <a:noFill/>
          <a:ln/>
        </p:spPr>
        <p:txBody>
          <a:bodyPr wrap="square" lIns="0" tIns="0" rIns="0" bIns="0" rtlCol="0" anchor="t"/>
          <a:lstStyle/>
          <a:p>
            <a:pPr marL="0" indent="0">
              <a:buNone/>
            </a:pPr>
            <a:r>
              <a:rPr lang="en-US" sz="1100" dirty="0">
                <a:solidFill>
                  <a:srgbClr val="0A5C5C"/>
                </a:solidFill>
                <a:latin typeface="Malgun Gothic" pitchFamily="34" charset="0"/>
                <a:ea typeface="Malgun Gothic" pitchFamily="34" charset="-122"/>
                <a:cs typeface="Malgun Gothic" pitchFamily="34" charset="-120"/>
              </a:rPr>
              <a:t>색상 추가 — 사물의 모습</a:t>
            </a:r>
            <a:endParaRPr lang="en-US" sz="1100" dirty="0"/>
          </a:p>
        </p:txBody>
      </p:sp>
      <p:sp>
        <p:nvSpPr>
          <p:cNvPr id="20" name="Text 15"/>
          <p:cNvSpPr txBox="1"/>
          <p:nvPr/>
        </p:nvSpPr>
        <p:spPr>
          <a:xfrm>
            <a:off x="8092440" y="4553712"/>
            <a:ext cx="3273552" cy="155448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576560"/>
                </a:solidFill>
                <a:latin typeface="Segoe UI" pitchFamily="34" charset="0"/>
                <a:ea typeface="Segoe UI" pitchFamily="34" charset="-122"/>
                <a:cs typeface="Segoe UI" pitchFamily="34" charset="-120"/>
              </a:rPr>
              <a:t>Two lenses, like human eyes</a:t>
            </a:r>
            <a:endParaRPr lang="en-US" sz="1250" dirty="0"/>
          </a:p>
          <a:p>
            <a:pPr marL="342900" indent="-342900">
              <a:spcAft>
                <a:spcPts val="400"/>
              </a:spcAft>
              <a:buSzPct val="100000"/>
              <a:buChar char="•"/>
            </a:pPr>
            <a:r>
              <a:rPr lang="en-US" sz="1250" dirty="0">
                <a:solidFill>
                  <a:srgbClr val="576560"/>
                </a:solidFill>
                <a:latin typeface="Segoe UI" pitchFamily="34" charset="0"/>
                <a:ea typeface="Segoe UI" pitchFamily="34" charset="-122"/>
                <a:cs typeface="Segoe UI" pitchFamily="34" charset="-120"/>
              </a:rPr>
              <a:t>Depth from 0.3 to 20 m</a:t>
            </a:r>
            <a:endParaRPr lang="en-US" sz="1250" dirty="0"/>
          </a:p>
          <a:p>
            <a:pPr marL="342900" indent="-342900">
              <a:spcAft>
                <a:spcPts val="400"/>
              </a:spcAft>
              <a:buSzPct val="100000"/>
              <a:buChar char="•"/>
            </a:pPr>
            <a:r>
              <a:rPr lang="en-US" sz="1250" dirty="0">
                <a:solidFill>
                  <a:srgbClr val="576560"/>
                </a:solidFill>
                <a:latin typeface="Segoe UI" pitchFamily="34" charset="0"/>
                <a:ea typeface="Segoe UI" pitchFamily="34" charset="-122"/>
                <a:cs typeface="Segoe UI" pitchFamily="34" charset="-120"/>
              </a:rPr>
              <a:t>1920 × 1200 colour at 60 fps</a:t>
            </a:r>
            <a:endParaRPr lang="en-US" sz="1250" dirty="0"/>
          </a:p>
          <a:p>
            <a:pPr marL="342900" indent="-342900">
              <a:spcAft>
                <a:spcPts val="400"/>
              </a:spcAft>
              <a:buSzPct val="100000"/>
              <a:buChar char="•"/>
            </a:pPr>
            <a:r>
              <a:rPr lang="en-US" sz="1250" dirty="0">
                <a:solidFill>
                  <a:srgbClr val="576560"/>
                </a:solidFill>
                <a:latin typeface="Segoe UI" pitchFamily="34" charset="0"/>
                <a:ea typeface="Segoe UI" pitchFamily="34" charset="-122"/>
                <a:cs typeface="Segoe UI" pitchFamily="34" charset="-120"/>
              </a:rPr>
              <a:t>Gives each point its r, g, b</a:t>
            </a:r>
            <a:endParaRPr lang="en-US" sz="1250" dirty="0"/>
          </a:p>
        </p:txBody>
      </p:sp>
      <p:sp>
        <p:nvSpPr>
          <p:cNvPr id="21" name="Text 16"/>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50" dirty="0">
                <a:solidFill>
                  <a:srgbClr val="8A9793"/>
                </a:solidFill>
                <a:latin typeface="Segoe UI" pitchFamily="34" charset="0"/>
                <a:ea typeface="Segoe UI" pitchFamily="34" charset="-122"/>
                <a:cs typeface="Segoe UI" pitchFamily="34" charset="-120"/>
              </a:rPr>
              <a:t>Smart Facility Management  ·  Week 04  —  Point Cloud Data</a:t>
            </a:r>
            <a:endParaRPr lang="en-US" sz="950" dirty="0"/>
          </a:p>
        </p:txBody>
      </p:sp>
      <p:sp>
        <p:nvSpPr>
          <p:cNvPr id="22" name="Text 17"/>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50" dirty="0">
                <a:solidFill>
                  <a:srgbClr val="8A9793"/>
                </a:solidFill>
                <a:latin typeface="Segoe UI" pitchFamily="34" charset="0"/>
                <a:ea typeface="Segoe UI" pitchFamily="34" charset="-122"/>
                <a:cs typeface="Segoe UI" pitchFamily="34" charset="-120"/>
              </a:rPr>
              <a:t>7 / 15</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9ECE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marL="0" indent="0">
              <a:buNone/>
            </a:pPr>
            <a:r>
              <a:rPr lang="en-US" sz="1100" b="1" kern="0" spc="200" dirty="0">
                <a:solidFill>
                  <a:srgbClr val="0E7B7B"/>
                </a:solidFill>
                <a:latin typeface="Segoe UI" pitchFamily="34" charset="0"/>
                <a:ea typeface="Segoe UI" pitchFamily="34" charset="-122"/>
                <a:cs typeface="Segoe UI" pitchFamily="34" charset="-120"/>
              </a:rPr>
              <a:t>POINT CLOUD DATA  ·  WEEK 04</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t"/>
          <a:lstStyle/>
          <a:p>
            <a:pPr marL="0" indent="0">
              <a:buNone/>
            </a:pPr>
            <a:r>
              <a:rPr lang="en-US" sz="3000" b="1" dirty="0">
                <a:solidFill>
                  <a:srgbClr val="152220"/>
                </a:solidFill>
                <a:latin typeface="Segoe UI" pitchFamily="34" charset="0"/>
                <a:ea typeface="Segoe UI" pitchFamily="34" charset="-122"/>
                <a:cs typeface="Segoe UI" pitchFamily="34" charset="-120"/>
              </a:rPr>
              <a:t>Building the map while driving (SLAM)</a:t>
            </a:r>
            <a:endParaRPr lang="en-US" sz="3000" dirty="0"/>
          </a:p>
        </p:txBody>
      </p:sp>
      <p:sp>
        <p:nvSpPr>
          <p:cNvPr id="4" name="Text 2"/>
          <p:cNvSpPr txBox="1"/>
          <p:nvPr/>
        </p:nvSpPr>
        <p:spPr>
          <a:xfrm>
            <a:off x="548640" y="1225296"/>
            <a:ext cx="11094415" cy="365760"/>
          </a:xfrm>
          <a:prstGeom prst="rect">
            <a:avLst/>
          </a:prstGeom>
          <a:noFill/>
          <a:ln/>
        </p:spPr>
        <p:txBody>
          <a:bodyPr wrap="square" lIns="0" tIns="0" rIns="0" bIns="0" rtlCol="0" anchor="t"/>
          <a:lstStyle/>
          <a:p>
            <a:pPr marL="0" indent="0">
              <a:buNone/>
            </a:pPr>
            <a:r>
              <a:rPr lang="en-US" sz="1500" dirty="0">
                <a:solidFill>
                  <a:srgbClr val="0A5C5C"/>
                </a:solidFill>
                <a:latin typeface="Malgun Gothic" pitchFamily="34" charset="0"/>
                <a:ea typeface="Malgun Gothic" pitchFamily="34" charset="-122"/>
                <a:cs typeface="Malgun Gothic" pitchFamily="34" charset="-120"/>
              </a:rPr>
              <a:t>주행하면서 지도 만들기 — SLAM: 위치 추정과 지도 작성을 동시에</a:t>
            </a:r>
            <a:endParaRPr lang="en-US" sz="1500" dirty="0"/>
          </a:p>
        </p:txBody>
      </p:sp>
      <p:sp>
        <p:nvSpPr>
          <p:cNvPr id="5" name="Shape 3"/>
          <p:cNvSpPr/>
          <p:nvPr/>
        </p:nvSpPr>
        <p:spPr>
          <a:xfrm>
            <a:off x="548640" y="1783080"/>
            <a:ext cx="8229600" cy="3200400"/>
          </a:xfrm>
          <a:prstGeom prst="roundRect">
            <a:avLst>
              <a:gd name="adj" fmla="val 3429"/>
            </a:avLst>
          </a:prstGeom>
          <a:solidFill>
            <a:srgbClr val="FFFFFF"/>
          </a:solidFill>
          <a:ln w="12700">
            <a:solidFill>
              <a:srgbClr val="FFFFFF"/>
            </a:solidFill>
            <a:prstDash val="solid"/>
          </a:ln>
          <a:effectLst>
            <a:outerShdw blurRad="127000" dist="25400" dir="5400000" algn="bl" rotWithShape="0">
              <a:srgbClr val="14282A">
                <a:alpha val="12000"/>
              </a:srgbClr>
            </a:outerShdw>
          </a:effectLst>
        </p:spPr>
      </p:sp>
      <p:pic>
        <p:nvPicPr>
          <p:cNvPr id="6" name="Image 0" descr="fig/slam.png"/>
          <p:cNvPicPr>
            <a:picLocks noChangeAspect="1"/>
          </p:cNvPicPr>
          <p:nvPr/>
        </p:nvPicPr>
        <p:blipFill>
          <a:blip r:embed="rId3"/>
          <a:stretch>
            <a:fillRect/>
          </a:stretch>
        </p:blipFill>
        <p:spPr>
          <a:xfrm>
            <a:off x="640080" y="1952752"/>
            <a:ext cx="8046720" cy="2861056"/>
          </a:xfrm>
          <a:prstGeom prst="rect">
            <a:avLst/>
          </a:prstGeom>
        </p:spPr>
      </p:pic>
      <p:sp>
        <p:nvSpPr>
          <p:cNvPr id="7" name="Shape 4"/>
          <p:cNvSpPr/>
          <p:nvPr/>
        </p:nvSpPr>
        <p:spPr>
          <a:xfrm>
            <a:off x="9098280" y="1783080"/>
            <a:ext cx="2544775" cy="932688"/>
          </a:xfrm>
          <a:prstGeom prst="roundRect">
            <a:avLst>
              <a:gd name="adj" fmla="val 11765"/>
            </a:avLst>
          </a:prstGeom>
          <a:solidFill>
            <a:srgbClr val="FFFFFF"/>
          </a:solidFill>
          <a:ln w="12700">
            <a:solidFill>
              <a:srgbClr val="FFFFFF"/>
            </a:solidFill>
            <a:prstDash val="solid"/>
          </a:ln>
          <a:effectLst>
            <a:outerShdw blurRad="127000" dist="25400" dir="5400000" algn="bl" rotWithShape="0">
              <a:srgbClr val="14282A">
                <a:alpha val="12000"/>
              </a:srgbClr>
            </a:outerShdw>
          </a:effectLst>
        </p:spPr>
      </p:sp>
      <p:sp>
        <p:nvSpPr>
          <p:cNvPr id="8" name="Text 5"/>
          <p:cNvSpPr txBox="1"/>
          <p:nvPr/>
        </p:nvSpPr>
        <p:spPr>
          <a:xfrm>
            <a:off x="9281160" y="1874520"/>
            <a:ext cx="2286000" cy="502920"/>
          </a:xfrm>
          <a:prstGeom prst="rect">
            <a:avLst/>
          </a:prstGeom>
          <a:noFill/>
          <a:ln/>
        </p:spPr>
        <p:txBody>
          <a:bodyPr wrap="square" lIns="0" tIns="0" rIns="0" bIns="0" rtlCol="0" anchor="t"/>
          <a:lstStyle/>
          <a:p>
            <a:pPr marL="0" indent="0">
              <a:buNone/>
            </a:pPr>
            <a:r>
              <a:rPr lang="en-US" sz="2800" b="1" dirty="0">
                <a:solidFill>
                  <a:srgbClr val="0E7B7B"/>
                </a:solidFill>
                <a:latin typeface="Segoe UI" pitchFamily="34" charset="0"/>
                <a:ea typeface="Segoe UI" pitchFamily="34" charset="-122"/>
                <a:cs typeface="Segoe UI" pitchFamily="34" charset="-120"/>
              </a:rPr>
              <a:t>10.5 min</a:t>
            </a:r>
            <a:endParaRPr lang="en-US" sz="2800" dirty="0"/>
          </a:p>
        </p:txBody>
      </p:sp>
      <p:sp>
        <p:nvSpPr>
          <p:cNvPr id="9" name="Text 6"/>
          <p:cNvSpPr txBox="1"/>
          <p:nvPr/>
        </p:nvSpPr>
        <p:spPr>
          <a:xfrm>
            <a:off x="9281160" y="2359152"/>
            <a:ext cx="2286000" cy="274320"/>
          </a:xfrm>
          <a:prstGeom prst="rect">
            <a:avLst/>
          </a:prstGeom>
          <a:noFill/>
          <a:ln/>
        </p:spPr>
        <p:txBody>
          <a:bodyPr wrap="square" lIns="0" tIns="0" rIns="0" bIns="0" rtlCol="0" anchor="t"/>
          <a:lstStyle/>
          <a:p>
            <a:pPr marL="0" indent="0">
              <a:buNone/>
            </a:pPr>
            <a:r>
              <a:rPr lang="en-US" sz="1200" dirty="0">
                <a:solidFill>
                  <a:srgbClr val="576560"/>
                </a:solidFill>
                <a:latin typeface="Segoe UI" pitchFamily="34" charset="0"/>
                <a:ea typeface="Segoe UI" pitchFamily="34" charset="-122"/>
                <a:cs typeface="Segoe UI" pitchFamily="34" charset="-120"/>
              </a:rPr>
              <a:t>of driving</a:t>
            </a:r>
            <a:endParaRPr lang="en-US" sz="1200" dirty="0"/>
          </a:p>
        </p:txBody>
      </p:sp>
      <p:sp>
        <p:nvSpPr>
          <p:cNvPr id="10" name="Shape 7"/>
          <p:cNvSpPr/>
          <p:nvPr/>
        </p:nvSpPr>
        <p:spPr>
          <a:xfrm>
            <a:off x="9098280" y="2862072"/>
            <a:ext cx="2544775" cy="932688"/>
          </a:xfrm>
          <a:prstGeom prst="roundRect">
            <a:avLst>
              <a:gd name="adj" fmla="val 11765"/>
            </a:avLst>
          </a:prstGeom>
          <a:solidFill>
            <a:srgbClr val="FFFFFF"/>
          </a:solidFill>
          <a:ln w="12700">
            <a:solidFill>
              <a:srgbClr val="FFFFFF"/>
            </a:solidFill>
            <a:prstDash val="solid"/>
          </a:ln>
          <a:effectLst>
            <a:outerShdw blurRad="127000" dist="25400" dir="5400000" algn="bl" rotWithShape="0">
              <a:srgbClr val="14282A">
                <a:alpha val="12000"/>
              </a:srgbClr>
            </a:outerShdw>
          </a:effectLst>
        </p:spPr>
      </p:sp>
      <p:sp>
        <p:nvSpPr>
          <p:cNvPr id="11" name="Text 8"/>
          <p:cNvSpPr txBox="1"/>
          <p:nvPr/>
        </p:nvSpPr>
        <p:spPr>
          <a:xfrm>
            <a:off x="9281160" y="2953512"/>
            <a:ext cx="2286000" cy="502920"/>
          </a:xfrm>
          <a:prstGeom prst="rect">
            <a:avLst/>
          </a:prstGeom>
          <a:noFill/>
          <a:ln/>
        </p:spPr>
        <p:txBody>
          <a:bodyPr wrap="square" lIns="0" tIns="0" rIns="0" bIns="0" rtlCol="0" anchor="t"/>
          <a:lstStyle/>
          <a:p>
            <a:pPr marL="0" indent="0">
              <a:buNone/>
            </a:pPr>
            <a:r>
              <a:rPr lang="en-US" sz="2800" b="1" dirty="0">
                <a:solidFill>
                  <a:srgbClr val="0E7B7B"/>
                </a:solidFill>
                <a:latin typeface="Segoe UI" pitchFamily="34" charset="0"/>
                <a:ea typeface="Segoe UI" pitchFamily="34" charset="-122"/>
                <a:cs typeface="Segoe UI" pitchFamily="34" charset="-120"/>
              </a:rPr>
              <a:t>64 m</a:t>
            </a:r>
            <a:endParaRPr lang="en-US" sz="2800" dirty="0"/>
          </a:p>
        </p:txBody>
      </p:sp>
      <p:sp>
        <p:nvSpPr>
          <p:cNvPr id="12" name="Text 9"/>
          <p:cNvSpPr txBox="1"/>
          <p:nvPr/>
        </p:nvSpPr>
        <p:spPr>
          <a:xfrm>
            <a:off x="9281160" y="3438144"/>
            <a:ext cx="2286000" cy="274320"/>
          </a:xfrm>
          <a:prstGeom prst="rect">
            <a:avLst/>
          </a:prstGeom>
          <a:noFill/>
          <a:ln/>
        </p:spPr>
        <p:txBody>
          <a:bodyPr wrap="square" lIns="0" tIns="0" rIns="0" bIns="0" rtlCol="0" anchor="t"/>
          <a:lstStyle/>
          <a:p>
            <a:pPr marL="0" indent="0">
              <a:buNone/>
            </a:pPr>
            <a:r>
              <a:rPr lang="en-US" sz="1200" dirty="0">
                <a:solidFill>
                  <a:srgbClr val="576560"/>
                </a:solidFill>
                <a:latin typeface="Segoe UI" pitchFamily="34" charset="0"/>
                <a:ea typeface="Segoe UI" pitchFamily="34" charset="-122"/>
                <a:cs typeface="Segoe UI" pitchFamily="34" charset="-120"/>
              </a:rPr>
              <a:t>travelled</a:t>
            </a:r>
            <a:endParaRPr lang="en-US" sz="1200" dirty="0"/>
          </a:p>
        </p:txBody>
      </p:sp>
      <p:sp>
        <p:nvSpPr>
          <p:cNvPr id="13" name="Shape 10"/>
          <p:cNvSpPr/>
          <p:nvPr/>
        </p:nvSpPr>
        <p:spPr>
          <a:xfrm>
            <a:off x="9098280" y="3941064"/>
            <a:ext cx="2544775" cy="932688"/>
          </a:xfrm>
          <a:prstGeom prst="roundRect">
            <a:avLst>
              <a:gd name="adj" fmla="val 11765"/>
            </a:avLst>
          </a:prstGeom>
          <a:solidFill>
            <a:srgbClr val="FFFFFF"/>
          </a:solidFill>
          <a:ln w="12700">
            <a:solidFill>
              <a:srgbClr val="FFFFFF"/>
            </a:solidFill>
            <a:prstDash val="solid"/>
          </a:ln>
          <a:effectLst>
            <a:outerShdw blurRad="127000" dist="25400" dir="5400000" algn="bl" rotWithShape="0">
              <a:srgbClr val="14282A">
                <a:alpha val="12000"/>
              </a:srgbClr>
            </a:outerShdw>
          </a:effectLst>
        </p:spPr>
      </p:sp>
      <p:sp>
        <p:nvSpPr>
          <p:cNvPr id="14" name="Text 11"/>
          <p:cNvSpPr txBox="1"/>
          <p:nvPr/>
        </p:nvSpPr>
        <p:spPr>
          <a:xfrm>
            <a:off x="9281160" y="4032504"/>
            <a:ext cx="2286000" cy="502920"/>
          </a:xfrm>
          <a:prstGeom prst="rect">
            <a:avLst/>
          </a:prstGeom>
          <a:noFill/>
          <a:ln/>
        </p:spPr>
        <p:txBody>
          <a:bodyPr wrap="square" lIns="0" tIns="0" rIns="0" bIns="0" rtlCol="0" anchor="t"/>
          <a:lstStyle/>
          <a:p>
            <a:pPr marL="0" indent="0">
              <a:buNone/>
            </a:pPr>
            <a:r>
              <a:rPr lang="en-US" sz="2800" b="1" dirty="0">
                <a:solidFill>
                  <a:srgbClr val="0E7B7B"/>
                </a:solidFill>
                <a:latin typeface="Segoe UI" pitchFamily="34" charset="0"/>
                <a:ea typeface="Segoe UI" pitchFamily="34" charset="-122"/>
                <a:cs typeface="Segoe UI" pitchFamily="34" charset="-120"/>
              </a:rPr>
              <a:t>4,856</a:t>
            </a:r>
            <a:endParaRPr lang="en-US" sz="2800" dirty="0"/>
          </a:p>
        </p:txBody>
      </p:sp>
      <p:sp>
        <p:nvSpPr>
          <p:cNvPr id="15" name="Text 12"/>
          <p:cNvSpPr txBox="1"/>
          <p:nvPr/>
        </p:nvSpPr>
        <p:spPr>
          <a:xfrm>
            <a:off x="9281160" y="4517136"/>
            <a:ext cx="2286000" cy="274320"/>
          </a:xfrm>
          <a:prstGeom prst="rect">
            <a:avLst/>
          </a:prstGeom>
          <a:noFill/>
          <a:ln/>
        </p:spPr>
        <p:txBody>
          <a:bodyPr wrap="square" lIns="0" tIns="0" rIns="0" bIns="0" rtlCol="0" anchor="t"/>
          <a:lstStyle/>
          <a:p>
            <a:pPr marL="0" indent="0">
              <a:buNone/>
            </a:pPr>
            <a:r>
              <a:rPr lang="en-US" sz="1200" dirty="0">
                <a:solidFill>
                  <a:srgbClr val="576560"/>
                </a:solidFill>
                <a:latin typeface="Segoe UI" pitchFamily="34" charset="0"/>
                <a:ea typeface="Segoe UI" pitchFamily="34" charset="-122"/>
                <a:cs typeface="Segoe UI" pitchFamily="34" charset="-120"/>
              </a:rPr>
              <a:t>robot positions logged</a:t>
            </a:r>
            <a:endParaRPr lang="en-US" sz="1200" dirty="0"/>
          </a:p>
        </p:txBody>
      </p:sp>
      <p:sp>
        <p:nvSpPr>
          <p:cNvPr id="16" name="Text 13"/>
          <p:cNvSpPr txBox="1"/>
          <p:nvPr/>
        </p:nvSpPr>
        <p:spPr>
          <a:xfrm>
            <a:off x="548640" y="5120640"/>
            <a:ext cx="11094415" cy="731520"/>
          </a:xfrm>
          <a:prstGeom prst="rect">
            <a:avLst/>
          </a:prstGeom>
          <a:noFill/>
          <a:ln/>
        </p:spPr>
        <p:txBody>
          <a:bodyPr wrap="square" lIns="0" tIns="0" rIns="0" bIns="0" rtlCol="0" anchor="t"/>
          <a:lstStyle/>
          <a:p>
            <a:pPr marL="0" indent="0">
              <a:buNone/>
            </a:pPr>
            <a:r>
              <a:rPr lang="en-US" sz="1300" b="1" dirty="0">
                <a:solidFill>
                  <a:srgbClr val="152220"/>
                </a:solidFill>
                <a:latin typeface="Segoe UI" pitchFamily="34" charset="0"/>
                <a:ea typeface="Segoe UI" pitchFamily="34" charset="-122"/>
                <a:cs typeface="Segoe UI" pitchFamily="34" charset="-120"/>
              </a:rPr>
              <a:t>SLAM = Simultaneous Localization And Mapping. </a:t>
            </a:r>
            <a:r>
              <a:rPr lang="en-US" sz="1300" dirty="0">
                <a:solidFill>
                  <a:srgbClr val="576560"/>
                </a:solidFill>
                <a:latin typeface="Segoe UI" pitchFamily="34" charset="0"/>
                <a:ea typeface="Segoe UI" pitchFamily="34" charset="-122"/>
                <a:cs typeface="Segoe UI" pitchFamily="34" charset="-120"/>
              </a:rPr>
              <a:t>Each new scan is matched to the map so far: that tells the robot where it is, and the new points extend the map. Orange = robot path, teal = robot now, dark = map built so far.</a:t>
            </a:r>
            <a:endParaRPr lang="en-US" sz="1300" dirty="0"/>
          </a:p>
        </p:txBody>
      </p:sp>
      <p:sp>
        <p:nvSpPr>
          <p:cNvPr id="17" name="Text 14"/>
          <p:cNvSpPr txBox="1"/>
          <p:nvPr/>
        </p:nvSpPr>
        <p:spPr>
          <a:xfrm>
            <a:off x="548640" y="5870448"/>
            <a:ext cx="11094415" cy="320040"/>
          </a:xfrm>
          <a:prstGeom prst="rect">
            <a:avLst/>
          </a:prstGeom>
          <a:noFill/>
          <a:ln/>
        </p:spPr>
        <p:txBody>
          <a:bodyPr wrap="square" lIns="0" tIns="0" rIns="0" bIns="0" rtlCol="0" anchor="t"/>
          <a:lstStyle/>
          <a:p>
            <a:pPr marL="0" indent="0">
              <a:buNone/>
            </a:pPr>
            <a:r>
              <a:rPr lang="en-US" sz="1150" dirty="0">
                <a:solidFill>
                  <a:srgbClr val="0A5C5C"/>
                </a:solidFill>
                <a:latin typeface="Malgun Gothic" pitchFamily="34" charset="0"/>
                <a:ea typeface="Malgun Gothic" pitchFamily="34" charset="-122"/>
                <a:cs typeface="Malgun Gothic" pitchFamily="34" charset="-120"/>
              </a:rPr>
              <a:t>새 스캔을 기존 지도와 맞춰 로봇의 위치를 알아내고, 새 점들로 지도를 넓혀 갑니다.</a:t>
            </a:r>
            <a:endParaRPr lang="en-US" sz="1150" dirty="0"/>
          </a:p>
        </p:txBody>
      </p:sp>
      <p:sp>
        <p:nvSpPr>
          <p:cNvPr id="18" name="Text 15"/>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50" dirty="0">
                <a:solidFill>
                  <a:srgbClr val="8A9793"/>
                </a:solidFill>
                <a:latin typeface="Segoe UI" pitchFamily="34" charset="0"/>
                <a:ea typeface="Segoe UI" pitchFamily="34" charset="-122"/>
                <a:cs typeface="Segoe UI" pitchFamily="34" charset="-120"/>
              </a:rPr>
              <a:t>Smart Facility Management  ·  Week 04  —  Point Cloud Data</a:t>
            </a:r>
            <a:endParaRPr lang="en-US" sz="950" dirty="0"/>
          </a:p>
        </p:txBody>
      </p:sp>
      <p:sp>
        <p:nvSpPr>
          <p:cNvPr id="19" name="Text 16"/>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50" dirty="0">
                <a:solidFill>
                  <a:srgbClr val="8A9793"/>
                </a:solidFill>
                <a:latin typeface="Segoe UI" pitchFamily="34" charset="0"/>
                <a:ea typeface="Segoe UI" pitchFamily="34" charset="-122"/>
                <a:cs typeface="Segoe UI" pitchFamily="34" charset="-120"/>
              </a:rPr>
              <a:t>8 / 15</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CE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marL="0" indent="0">
              <a:buNone/>
            </a:pPr>
            <a:r>
              <a:rPr lang="en-US" sz="1100" b="1" kern="0" spc="200" dirty="0">
                <a:solidFill>
                  <a:srgbClr val="0E7B7B"/>
                </a:solidFill>
                <a:latin typeface="Segoe UI" pitchFamily="34" charset="0"/>
                <a:ea typeface="Segoe UI" pitchFamily="34" charset="-122"/>
                <a:cs typeface="Segoe UI" pitchFamily="34" charset="-120"/>
              </a:rPr>
              <a:t>POINT CLOUD DATA  ·  WEEK 04</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t"/>
          <a:lstStyle/>
          <a:p>
            <a:pPr marL="0" indent="0">
              <a:buNone/>
            </a:pPr>
            <a:r>
              <a:rPr lang="en-US" sz="3000" b="1" dirty="0">
                <a:solidFill>
                  <a:srgbClr val="152220"/>
                </a:solidFill>
                <a:latin typeface="Segoe UI" pitchFamily="34" charset="0"/>
                <a:ea typeface="Segoe UI" pitchFamily="34" charset="-122"/>
                <a:cs typeface="Segoe UI" pitchFamily="34" charset="-120"/>
              </a:rPr>
              <a:t>More points = more detail (and bigger files)</a:t>
            </a:r>
            <a:endParaRPr lang="en-US" sz="3000" dirty="0"/>
          </a:p>
        </p:txBody>
      </p:sp>
      <p:sp>
        <p:nvSpPr>
          <p:cNvPr id="4" name="Text 2"/>
          <p:cNvSpPr txBox="1"/>
          <p:nvPr/>
        </p:nvSpPr>
        <p:spPr>
          <a:xfrm>
            <a:off x="548640" y="1225296"/>
            <a:ext cx="11094415" cy="365760"/>
          </a:xfrm>
          <a:prstGeom prst="rect">
            <a:avLst/>
          </a:prstGeom>
          <a:noFill/>
          <a:ln/>
        </p:spPr>
        <p:txBody>
          <a:bodyPr wrap="square" lIns="0" tIns="0" rIns="0" bIns="0" rtlCol="0" anchor="t"/>
          <a:lstStyle/>
          <a:p>
            <a:pPr marL="0" indent="0">
              <a:buNone/>
            </a:pPr>
            <a:r>
              <a:rPr lang="en-US" sz="1500" dirty="0">
                <a:solidFill>
                  <a:srgbClr val="0A5C5C"/>
                </a:solidFill>
                <a:latin typeface="Malgun Gothic" pitchFamily="34" charset="0"/>
                <a:ea typeface="Malgun Gothic" pitchFamily="34" charset="-122"/>
                <a:cs typeface="Malgun Gothic" pitchFamily="34" charset="-120"/>
              </a:rPr>
              <a:t>점이 많을수록 더 자세하지만 파일도 커집니다</a:t>
            </a:r>
            <a:endParaRPr lang="en-US" sz="1500" dirty="0"/>
          </a:p>
        </p:txBody>
      </p:sp>
      <p:sp>
        <p:nvSpPr>
          <p:cNvPr id="5" name="Shape 3"/>
          <p:cNvSpPr/>
          <p:nvPr/>
        </p:nvSpPr>
        <p:spPr>
          <a:xfrm>
            <a:off x="548640" y="1783080"/>
            <a:ext cx="11094415" cy="2440771"/>
          </a:xfrm>
          <a:prstGeom prst="roundRect">
            <a:avLst>
              <a:gd name="adj" fmla="val 4496"/>
            </a:avLst>
          </a:prstGeom>
          <a:solidFill>
            <a:srgbClr val="0E1A19"/>
          </a:solidFill>
          <a:ln w="12700">
            <a:solidFill>
              <a:srgbClr val="0E1A19"/>
            </a:solidFill>
            <a:prstDash val="solid"/>
          </a:ln>
          <a:effectLst>
            <a:outerShdw blurRad="127000" dist="25400" dir="5400000" algn="bl" rotWithShape="0">
              <a:srgbClr val="14282A">
                <a:alpha val="12000"/>
              </a:srgbClr>
            </a:outerShdw>
          </a:effectLst>
        </p:spPr>
      </p:sp>
      <p:pic>
        <p:nvPicPr>
          <p:cNvPr id="6" name="Image 0" descr="fig/density.png"/>
          <p:cNvPicPr>
            <a:picLocks noChangeAspect="1"/>
          </p:cNvPicPr>
          <p:nvPr/>
        </p:nvPicPr>
        <p:blipFill>
          <a:blip r:embed="rId3"/>
          <a:stretch>
            <a:fillRect/>
          </a:stretch>
        </p:blipFill>
        <p:spPr>
          <a:xfrm>
            <a:off x="548640" y="1783080"/>
            <a:ext cx="11094415" cy="2440771"/>
          </a:xfrm>
          <a:prstGeom prst="rect">
            <a:avLst/>
          </a:prstGeom>
        </p:spPr>
      </p:pic>
      <p:sp>
        <p:nvSpPr>
          <p:cNvPr id="7" name="Shape 4"/>
          <p:cNvSpPr/>
          <p:nvPr/>
        </p:nvSpPr>
        <p:spPr>
          <a:xfrm>
            <a:off x="548640" y="4498171"/>
            <a:ext cx="3566160" cy="1417320"/>
          </a:xfrm>
          <a:prstGeom prst="roundRect">
            <a:avLst>
              <a:gd name="adj" fmla="val 7742"/>
            </a:avLst>
          </a:prstGeom>
          <a:solidFill>
            <a:srgbClr val="FFFFFF"/>
          </a:solidFill>
          <a:ln w="12700">
            <a:solidFill>
              <a:srgbClr val="FFFFFF"/>
            </a:solidFill>
            <a:prstDash val="solid"/>
          </a:ln>
          <a:effectLst>
            <a:outerShdw blurRad="127000" dist="25400" dir="5400000" algn="bl" rotWithShape="0">
              <a:srgbClr val="14282A">
                <a:alpha val="12000"/>
              </a:srgbClr>
            </a:outerShdw>
          </a:effectLst>
        </p:spPr>
      </p:sp>
      <p:sp>
        <p:nvSpPr>
          <p:cNvPr id="8" name="Text 5"/>
          <p:cNvSpPr txBox="1"/>
          <p:nvPr/>
        </p:nvSpPr>
        <p:spPr>
          <a:xfrm>
            <a:off x="822960" y="4662763"/>
            <a:ext cx="3017520" cy="274320"/>
          </a:xfrm>
          <a:prstGeom prst="rect">
            <a:avLst/>
          </a:prstGeom>
          <a:noFill/>
          <a:ln/>
        </p:spPr>
        <p:txBody>
          <a:bodyPr wrap="square" lIns="0" tIns="0" rIns="0" bIns="0" rtlCol="0" anchor="t"/>
          <a:lstStyle/>
          <a:p>
            <a:pPr marL="0" indent="0">
              <a:buNone/>
            </a:pPr>
            <a:r>
              <a:rPr lang="en-US" sz="1300" dirty="0">
                <a:solidFill>
                  <a:srgbClr val="576560"/>
                </a:solidFill>
                <a:latin typeface="Segoe UI" pitchFamily="34" charset="0"/>
                <a:ea typeface="Segoe UI" pitchFamily="34" charset="-122"/>
                <a:cs typeface="Segoe UI" pitchFamily="34" charset="-120"/>
              </a:rPr>
              <a:t>Raw scan from the robot</a:t>
            </a:r>
            <a:endParaRPr lang="en-US" sz="1300" dirty="0"/>
          </a:p>
        </p:txBody>
      </p:sp>
      <p:sp>
        <p:nvSpPr>
          <p:cNvPr id="9" name="Text 6"/>
          <p:cNvSpPr txBox="1"/>
          <p:nvPr/>
        </p:nvSpPr>
        <p:spPr>
          <a:xfrm>
            <a:off x="822960" y="4955371"/>
            <a:ext cx="3017520" cy="457200"/>
          </a:xfrm>
          <a:prstGeom prst="rect">
            <a:avLst/>
          </a:prstGeom>
          <a:noFill/>
          <a:ln/>
        </p:spPr>
        <p:txBody>
          <a:bodyPr wrap="square" lIns="0" tIns="0" rIns="0" bIns="0" rtlCol="0" anchor="t"/>
          <a:lstStyle/>
          <a:p>
            <a:pPr marL="0" indent="0">
              <a:buNone/>
            </a:pPr>
            <a:r>
              <a:rPr lang="en-US" sz="2400" b="1" dirty="0">
                <a:solidFill>
                  <a:srgbClr val="152220"/>
                </a:solidFill>
                <a:latin typeface="Segoe UI" pitchFamily="34" charset="0"/>
                <a:ea typeface="Segoe UI" pitchFamily="34" charset="-122"/>
                <a:cs typeface="Segoe UI" pitchFamily="34" charset="-120"/>
              </a:rPr>
              <a:t>8.1 million points</a:t>
            </a:r>
            <a:endParaRPr lang="en-US" sz="2400" dirty="0"/>
          </a:p>
        </p:txBody>
      </p:sp>
      <p:sp>
        <p:nvSpPr>
          <p:cNvPr id="10" name="Text 7"/>
          <p:cNvSpPr txBox="1"/>
          <p:nvPr/>
        </p:nvSpPr>
        <p:spPr>
          <a:xfrm>
            <a:off x="822960" y="5412571"/>
            <a:ext cx="3017520" cy="365760"/>
          </a:xfrm>
          <a:prstGeom prst="rect">
            <a:avLst/>
          </a:prstGeom>
          <a:noFill/>
          <a:ln/>
        </p:spPr>
        <p:txBody>
          <a:bodyPr wrap="square" lIns="0" tIns="0" rIns="0" bIns="0" rtlCol="0" anchor="t"/>
          <a:lstStyle/>
          <a:p>
            <a:pPr marL="0" indent="0">
              <a:buNone/>
            </a:pPr>
            <a:r>
              <a:rPr lang="en-US" sz="1600" b="1" dirty="0">
                <a:solidFill>
                  <a:srgbClr val="A85808"/>
                </a:solidFill>
                <a:latin typeface="Segoe UI" pitchFamily="34" charset="0"/>
                <a:ea typeface="Segoe UI" pitchFamily="34" charset="-122"/>
                <a:cs typeface="Segoe UI" pitchFamily="34" charset="-120"/>
              </a:rPr>
              <a:t>252 MB</a:t>
            </a:r>
            <a:endParaRPr lang="en-US" sz="1600" dirty="0"/>
          </a:p>
        </p:txBody>
      </p:sp>
      <p:sp>
        <p:nvSpPr>
          <p:cNvPr id="11" name="Shape 8"/>
          <p:cNvSpPr/>
          <p:nvPr/>
        </p:nvSpPr>
        <p:spPr>
          <a:xfrm>
            <a:off x="4297680" y="5001091"/>
            <a:ext cx="502920" cy="411480"/>
          </a:xfrm>
          <a:prstGeom prst="rightArrow">
            <a:avLst/>
          </a:prstGeom>
          <a:solidFill>
            <a:srgbClr val="0E7B7B"/>
          </a:solidFill>
          <a:ln w="12700">
            <a:solidFill>
              <a:srgbClr val="0E7B7B"/>
            </a:solidFill>
            <a:prstDash val="solid"/>
          </a:ln>
        </p:spPr>
      </p:sp>
      <p:sp>
        <p:nvSpPr>
          <p:cNvPr id="12" name="Shape 9"/>
          <p:cNvSpPr/>
          <p:nvPr/>
        </p:nvSpPr>
        <p:spPr>
          <a:xfrm>
            <a:off x="4983480" y="4498171"/>
            <a:ext cx="3566160" cy="1417320"/>
          </a:xfrm>
          <a:prstGeom prst="roundRect">
            <a:avLst>
              <a:gd name="adj" fmla="val 7742"/>
            </a:avLst>
          </a:prstGeom>
          <a:solidFill>
            <a:srgbClr val="FFFFFF"/>
          </a:solidFill>
          <a:ln w="12700">
            <a:solidFill>
              <a:srgbClr val="FFFFFF"/>
            </a:solidFill>
            <a:prstDash val="solid"/>
          </a:ln>
          <a:effectLst>
            <a:outerShdw blurRad="127000" dist="25400" dir="5400000" algn="bl" rotWithShape="0">
              <a:srgbClr val="14282A">
                <a:alpha val="12000"/>
              </a:srgbClr>
            </a:outerShdw>
          </a:effectLst>
        </p:spPr>
      </p:sp>
      <p:sp>
        <p:nvSpPr>
          <p:cNvPr id="13" name="Text 10"/>
          <p:cNvSpPr txBox="1"/>
          <p:nvPr/>
        </p:nvSpPr>
        <p:spPr>
          <a:xfrm>
            <a:off x="5257800" y="4662763"/>
            <a:ext cx="3017520" cy="274320"/>
          </a:xfrm>
          <a:prstGeom prst="rect">
            <a:avLst/>
          </a:prstGeom>
          <a:noFill/>
          <a:ln/>
        </p:spPr>
        <p:txBody>
          <a:bodyPr wrap="square" lIns="0" tIns="0" rIns="0" bIns="0" rtlCol="0" anchor="t"/>
          <a:lstStyle/>
          <a:p>
            <a:pPr marL="0" indent="0">
              <a:buNone/>
            </a:pPr>
            <a:r>
              <a:rPr lang="en-US" sz="1300" dirty="0">
                <a:solidFill>
                  <a:srgbClr val="576560"/>
                </a:solidFill>
                <a:latin typeface="Segoe UI" pitchFamily="34" charset="0"/>
                <a:ea typeface="Segoe UI" pitchFamily="34" charset="-122"/>
                <a:cs typeface="Segoe UI" pitchFamily="34" charset="-120"/>
              </a:rPr>
              <a:t>Class file you'll download</a:t>
            </a:r>
            <a:endParaRPr lang="en-US" sz="1300" dirty="0"/>
          </a:p>
        </p:txBody>
      </p:sp>
      <p:sp>
        <p:nvSpPr>
          <p:cNvPr id="14" name="Text 11"/>
          <p:cNvSpPr txBox="1"/>
          <p:nvPr/>
        </p:nvSpPr>
        <p:spPr>
          <a:xfrm>
            <a:off x="5257800" y="4955371"/>
            <a:ext cx="3017520" cy="457200"/>
          </a:xfrm>
          <a:prstGeom prst="rect">
            <a:avLst/>
          </a:prstGeom>
          <a:noFill/>
          <a:ln/>
        </p:spPr>
        <p:txBody>
          <a:bodyPr wrap="square" lIns="0" tIns="0" rIns="0" bIns="0" rtlCol="0" anchor="t"/>
          <a:lstStyle/>
          <a:p>
            <a:pPr marL="0" indent="0">
              <a:buNone/>
            </a:pPr>
            <a:r>
              <a:rPr lang="en-US" sz="2400" b="1" dirty="0">
                <a:solidFill>
                  <a:srgbClr val="152220"/>
                </a:solidFill>
                <a:latin typeface="Segoe UI" pitchFamily="34" charset="0"/>
                <a:ea typeface="Segoe UI" pitchFamily="34" charset="-122"/>
                <a:cs typeface="Segoe UI" pitchFamily="34" charset="-120"/>
              </a:rPr>
              <a:t>660,000 points</a:t>
            </a:r>
            <a:endParaRPr lang="en-US" sz="2400" dirty="0"/>
          </a:p>
        </p:txBody>
      </p:sp>
      <p:sp>
        <p:nvSpPr>
          <p:cNvPr id="15" name="Text 12"/>
          <p:cNvSpPr txBox="1"/>
          <p:nvPr/>
        </p:nvSpPr>
        <p:spPr>
          <a:xfrm>
            <a:off x="5257800" y="5412571"/>
            <a:ext cx="3017520" cy="365760"/>
          </a:xfrm>
          <a:prstGeom prst="rect">
            <a:avLst/>
          </a:prstGeom>
          <a:noFill/>
          <a:ln/>
        </p:spPr>
        <p:txBody>
          <a:bodyPr wrap="square" lIns="0" tIns="0" rIns="0" bIns="0" rtlCol="0" anchor="t"/>
          <a:lstStyle/>
          <a:p>
            <a:pPr marL="0" indent="0">
              <a:buNone/>
            </a:pPr>
            <a:r>
              <a:rPr lang="en-US" sz="1600" b="1" dirty="0">
                <a:solidFill>
                  <a:srgbClr val="0E7B7B"/>
                </a:solidFill>
                <a:latin typeface="Segoe UI" pitchFamily="34" charset="0"/>
                <a:ea typeface="Segoe UI" pitchFamily="34" charset="-122"/>
                <a:cs typeface="Segoe UI" pitchFamily="34" charset="-120"/>
              </a:rPr>
              <a:t>10 MB</a:t>
            </a:r>
            <a:endParaRPr lang="en-US" sz="1600" dirty="0"/>
          </a:p>
        </p:txBody>
      </p:sp>
      <p:sp>
        <p:nvSpPr>
          <p:cNvPr id="16" name="Text 13"/>
          <p:cNvSpPr txBox="1"/>
          <p:nvPr/>
        </p:nvSpPr>
        <p:spPr>
          <a:xfrm>
            <a:off x="8823960" y="4589611"/>
            <a:ext cx="2819095" cy="1325880"/>
          </a:xfrm>
          <a:prstGeom prst="rect">
            <a:avLst/>
          </a:prstGeom>
          <a:noFill/>
          <a:ln/>
        </p:spPr>
        <p:txBody>
          <a:bodyPr wrap="square" lIns="0" tIns="0" rIns="0" bIns="0" rtlCol="0" anchor="t"/>
          <a:lstStyle/>
          <a:p>
            <a:pPr marL="0" indent="0">
              <a:buNone/>
            </a:pPr>
            <a:r>
              <a:rPr lang="en-US" sz="1250" b="1" dirty="0">
                <a:solidFill>
                  <a:srgbClr val="152220"/>
                </a:solidFill>
                <a:latin typeface="Segoe UI" pitchFamily="34" charset="0"/>
                <a:ea typeface="Segoe UI" pitchFamily="34" charset="-122"/>
                <a:cs typeface="Segoe UI" pitchFamily="34" charset="-120"/>
              </a:rPr>
              <a:t>Downsampling</a:t>
            </a:r>
            <a:endParaRPr lang="en-US" sz="1250" dirty="0"/>
          </a:p>
          <a:p>
            <a:pPr marL="0" indent="0">
              <a:buNone/>
            </a:pPr>
            <a:r>
              <a:rPr lang="en-US" sz="1250" dirty="0">
                <a:solidFill>
                  <a:srgbClr val="576560"/>
                </a:solidFill>
                <a:latin typeface="Segoe UI" pitchFamily="34" charset="0"/>
                <a:ea typeface="Segoe UI" pitchFamily="34" charset="-122"/>
                <a:cs typeface="Segoe UI" pitchFamily="34" charset="-120"/>
              </a:rPr>
              <a:t>Keep one point per 5 cm cube (a “voxel”). Plenty for measuring a corridor — and it loads in a second.</a:t>
            </a:r>
            <a:endParaRPr lang="en-US" sz="1250" dirty="0"/>
          </a:p>
        </p:txBody>
      </p:sp>
      <p:sp>
        <p:nvSpPr>
          <p:cNvPr id="17" name="Text 14"/>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50" dirty="0">
                <a:solidFill>
                  <a:srgbClr val="8A9793"/>
                </a:solidFill>
                <a:latin typeface="Segoe UI" pitchFamily="34" charset="0"/>
                <a:ea typeface="Segoe UI" pitchFamily="34" charset="-122"/>
                <a:cs typeface="Segoe UI" pitchFamily="34" charset="-120"/>
              </a:rPr>
              <a:t>Smart Facility Management  ·  Week 04  —  Point Cloud Data</a:t>
            </a:r>
            <a:endParaRPr lang="en-US" sz="950" dirty="0"/>
          </a:p>
        </p:txBody>
      </p:sp>
      <p:sp>
        <p:nvSpPr>
          <p:cNvPr id="18" name="Text 15"/>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50" dirty="0">
                <a:solidFill>
                  <a:srgbClr val="8A9793"/>
                </a:solidFill>
                <a:latin typeface="Segoe UI" pitchFamily="34" charset="0"/>
                <a:ea typeface="Segoe UI" pitchFamily="34" charset="-122"/>
                <a:cs typeface="Segoe UI" pitchFamily="34" charset="-120"/>
              </a:rPr>
              <a:t>9 / 15</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9ECE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marL="0" indent="0">
              <a:buNone/>
            </a:pPr>
            <a:r>
              <a:rPr lang="en-US" sz="1100" b="1" kern="0" spc="200" dirty="0">
                <a:solidFill>
                  <a:srgbClr val="0E7B7B"/>
                </a:solidFill>
                <a:latin typeface="Segoe UI" pitchFamily="34" charset="0"/>
                <a:ea typeface="Segoe UI" pitchFamily="34" charset="-122"/>
                <a:cs typeface="Segoe UI" pitchFamily="34" charset="-120"/>
              </a:rPr>
              <a:t>POINT CLOUD DATA  ·  WEEK 04</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t"/>
          <a:lstStyle/>
          <a:p>
            <a:pPr marL="0" indent="0">
              <a:buNone/>
            </a:pPr>
            <a:r>
              <a:rPr lang="en-US" sz="3000" b="1" dirty="0">
                <a:solidFill>
                  <a:srgbClr val="152220"/>
                </a:solidFill>
                <a:latin typeface="Segoe UI" pitchFamily="34" charset="0"/>
                <a:ea typeface="Segoe UI" pitchFamily="34" charset="-122"/>
                <a:cs typeface="Segoe UI" pitchFamily="34" charset="-120"/>
              </a:rPr>
              <a:t>Same points, different colours</a:t>
            </a:r>
            <a:endParaRPr lang="en-US" sz="3000" dirty="0"/>
          </a:p>
        </p:txBody>
      </p:sp>
      <p:sp>
        <p:nvSpPr>
          <p:cNvPr id="4" name="Text 2"/>
          <p:cNvSpPr txBox="1"/>
          <p:nvPr/>
        </p:nvSpPr>
        <p:spPr>
          <a:xfrm>
            <a:off x="548640" y="1225296"/>
            <a:ext cx="11094415" cy="365760"/>
          </a:xfrm>
          <a:prstGeom prst="rect">
            <a:avLst/>
          </a:prstGeom>
          <a:noFill/>
          <a:ln/>
        </p:spPr>
        <p:txBody>
          <a:bodyPr wrap="square" lIns="0" tIns="0" rIns="0" bIns="0" rtlCol="0" anchor="t"/>
          <a:lstStyle/>
          <a:p>
            <a:pPr marL="0" indent="0">
              <a:buNone/>
            </a:pPr>
            <a:r>
              <a:rPr lang="en-US" sz="1500" dirty="0">
                <a:solidFill>
                  <a:srgbClr val="0A5C5C"/>
                </a:solidFill>
                <a:latin typeface="Malgun Gothic" pitchFamily="34" charset="0"/>
                <a:ea typeface="Malgun Gothic" pitchFamily="34" charset="-122"/>
                <a:cs typeface="Malgun Gothic" pitchFamily="34" charset="-120"/>
              </a:rPr>
              <a:t>같은 점, 다른 색 — 무엇으로 색을 칠할지 고를 수 있습니다</a:t>
            </a:r>
            <a:endParaRPr lang="en-US" sz="1500" dirty="0"/>
          </a:p>
        </p:txBody>
      </p:sp>
      <p:sp>
        <p:nvSpPr>
          <p:cNvPr id="5" name="Shape 3"/>
          <p:cNvSpPr/>
          <p:nvPr/>
        </p:nvSpPr>
        <p:spPr>
          <a:xfrm>
            <a:off x="548640" y="1783080"/>
            <a:ext cx="11094415" cy="3017520"/>
          </a:xfrm>
          <a:prstGeom prst="roundRect">
            <a:avLst>
              <a:gd name="adj" fmla="val 3636"/>
            </a:avLst>
          </a:prstGeom>
          <a:solidFill>
            <a:srgbClr val="0E1A19"/>
          </a:solidFill>
          <a:ln w="12700">
            <a:solidFill>
              <a:srgbClr val="0E1A19"/>
            </a:solidFill>
            <a:prstDash val="solid"/>
          </a:ln>
          <a:effectLst>
            <a:outerShdw blurRad="127000" dist="25400" dir="5400000" algn="bl" rotWithShape="0">
              <a:srgbClr val="14282A">
                <a:alpha val="12000"/>
              </a:srgbClr>
            </a:outerShdw>
          </a:effectLst>
        </p:spPr>
      </p:sp>
      <p:pic>
        <p:nvPicPr>
          <p:cNvPr id="6" name="Image 0" descr="fig/attr.png"/>
          <p:cNvPicPr>
            <a:picLocks noChangeAspect="1"/>
          </p:cNvPicPr>
          <p:nvPr/>
        </p:nvPicPr>
        <p:blipFill>
          <a:blip r:embed="rId3"/>
          <a:stretch>
            <a:fillRect/>
          </a:stretch>
        </p:blipFill>
        <p:spPr>
          <a:xfrm>
            <a:off x="1066648" y="1783080"/>
            <a:ext cx="10058400" cy="3017520"/>
          </a:xfrm>
          <a:prstGeom prst="rect">
            <a:avLst/>
          </a:prstGeom>
        </p:spPr>
      </p:pic>
      <p:sp>
        <p:nvSpPr>
          <p:cNvPr id="7" name="Text 4"/>
          <p:cNvSpPr txBox="1"/>
          <p:nvPr/>
        </p:nvSpPr>
        <p:spPr>
          <a:xfrm>
            <a:off x="548640" y="4983480"/>
            <a:ext cx="5272888" cy="868680"/>
          </a:xfrm>
          <a:prstGeom prst="rect">
            <a:avLst/>
          </a:prstGeom>
          <a:noFill/>
          <a:ln/>
        </p:spPr>
        <p:txBody>
          <a:bodyPr wrap="square" lIns="0" tIns="0" rIns="0" bIns="0" rtlCol="0" anchor="t"/>
          <a:lstStyle/>
          <a:p>
            <a:pPr marL="0" indent="0">
              <a:buNone/>
            </a:pPr>
            <a:r>
              <a:rPr lang="en-US" sz="1400" b="1" dirty="0">
                <a:solidFill>
                  <a:srgbClr val="152220"/>
                </a:solidFill>
                <a:latin typeface="Segoe UI" pitchFamily="34" charset="0"/>
                <a:ea typeface="Segoe UI" pitchFamily="34" charset="-122"/>
                <a:cs typeface="Segoe UI" pitchFamily="34" charset="-120"/>
              </a:rPr>
              <a:t>Coloured by height (z)</a:t>
            </a:r>
            <a:endParaRPr lang="en-US" sz="1400" dirty="0"/>
          </a:p>
          <a:p>
            <a:pPr marL="0" indent="0">
              <a:buNone/>
            </a:pPr>
            <a:r>
              <a:rPr lang="en-US" sz="1200" dirty="0">
                <a:solidFill>
                  <a:srgbClr val="576560"/>
                </a:solidFill>
                <a:latin typeface="Segoe UI" pitchFamily="34" charset="0"/>
                <a:ea typeface="Segoe UI" pitchFamily="34" charset="-122"/>
                <a:cs typeface="Segoe UI" pitchFamily="34" charset="-120"/>
              </a:rPr>
              <a:t>Blue = floor, red = about 2 m up (ceiling removed so we can see inside). Great for spotting the floor, steps and clutter.</a:t>
            </a:r>
            <a:endParaRPr lang="en-US" sz="1400" dirty="0"/>
          </a:p>
        </p:txBody>
      </p:sp>
      <p:sp>
        <p:nvSpPr>
          <p:cNvPr id="8" name="Text 5"/>
          <p:cNvSpPr txBox="1"/>
          <p:nvPr/>
        </p:nvSpPr>
        <p:spPr>
          <a:xfrm>
            <a:off x="6187288" y="4983480"/>
            <a:ext cx="5272888" cy="868680"/>
          </a:xfrm>
          <a:prstGeom prst="rect">
            <a:avLst/>
          </a:prstGeom>
          <a:noFill/>
          <a:ln/>
        </p:spPr>
        <p:txBody>
          <a:bodyPr wrap="square" lIns="0" tIns="0" rIns="0" bIns="0" rtlCol="0" anchor="t"/>
          <a:lstStyle/>
          <a:p>
            <a:pPr marL="0" indent="0">
              <a:buNone/>
            </a:pPr>
            <a:r>
              <a:rPr lang="en-US" sz="1400" b="1" dirty="0">
                <a:solidFill>
                  <a:srgbClr val="152220"/>
                </a:solidFill>
                <a:latin typeface="Segoe UI" pitchFamily="34" charset="0"/>
                <a:ea typeface="Segoe UI" pitchFamily="34" charset="-122"/>
                <a:cs typeface="Segoe UI" pitchFamily="34" charset="-120"/>
              </a:rPr>
              <a:t>Coloured by the camera (r, g, b)</a:t>
            </a:r>
            <a:endParaRPr lang="en-US" sz="1400" dirty="0"/>
          </a:p>
          <a:p>
            <a:pPr marL="0" indent="0">
              <a:buNone/>
            </a:pPr>
            <a:r>
              <a:rPr lang="en-US" sz="1200" dirty="0">
                <a:solidFill>
                  <a:srgbClr val="576560"/>
                </a:solidFill>
                <a:latin typeface="Segoe UI" pitchFamily="34" charset="0"/>
                <a:ea typeface="Segoe UI" pitchFamily="34" charset="-122"/>
                <a:cs typeface="Segoe UI" pitchFamily="34" charset="-120"/>
              </a:rPr>
              <a:t>The real colours of walls, panels and doors. Great for recognising what things are.</a:t>
            </a:r>
            <a:endParaRPr lang="en-US" sz="1400" dirty="0"/>
          </a:p>
        </p:txBody>
      </p:sp>
      <p:sp>
        <p:nvSpPr>
          <p:cNvPr id="9" name="Shape 6"/>
          <p:cNvSpPr/>
          <p:nvPr/>
        </p:nvSpPr>
        <p:spPr>
          <a:xfrm>
            <a:off x="548640" y="5806440"/>
            <a:ext cx="11094415" cy="475488"/>
          </a:xfrm>
          <a:prstGeom prst="roundRect">
            <a:avLst>
              <a:gd name="adj" fmla="val 23077"/>
            </a:avLst>
          </a:prstGeom>
          <a:solidFill>
            <a:srgbClr val="E3F0EF"/>
          </a:solidFill>
          <a:ln w="12700">
            <a:solidFill>
              <a:srgbClr val="E3F0EF"/>
            </a:solidFill>
            <a:prstDash val="solid"/>
          </a:ln>
          <a:effectLst>
            <a:outerShdw blurRad="127000" dist="25400" dir="5400000" algn="bl" rotWithShape="0">
              <a:srgbClr val="14282A">
                <a:alpha val="12000"/>
              </a:srgbClr>
            </a:outerShdw>
          </a:effectLst>
        </p:spPr>
      </p:sp>
      <p:sp>
        <p:nvSpPr>
          <p:cNvPr id="10" name="Text 7"/>
          <p:cNvSpPr txBox="1"/>
          <p:nvPr/>
        </p:nvSpPr>
        <p:spPr>
          <a:xfrm>
            <a:off x="777240" y="5806440"/>
            <a:ext cx="10637215" cy="475488"/>
          </a:xfrm>
          <a:prstGeom prst="rect">
            <a:avLst/>
          </a:prstGeom>
          <a:noFill/>
          <a:ln/>
        </p:spPr>
        <p:txBody>
          <a:bodyPr wrap="square" lIns="0" tIns="0" rIns="0" bIns="0" rtlCol="0" anchor="ctr"/>
          <a:lstStyle/>
          <a:p>
            <a:pPr marL="0" indent="0">
              <a:buNone/>
            </a:pPr>
            <a:r>
              <a:rPr lang="en-US" sz="1400" b="1" dirty="0">
                <a:solidFill>
                  <a:srgbClr val="0A5C5C"/>
                </a:solidFill>
                <a:latin typeface="Segoe UI" pitchFamily="34" charset="0"/>
                <a:ea typeface="Segoe UI" pitchFamily="34" charset="-122"/>
                <a:cs typeface="Segoe UI" pitchFamily="34" charset="-120"/>
              </a:rPr>
              <a:t>The geometry doesn't change — only the rule for colouring each point. In Python it's a single line of code.</a:t>
            </a:r>
            <a:endParaRPr lang="en-US" sz="1400" dirty="0"/>
          </a:p>
        </p:txBody>
      </p:sp>
      <p:sp>
        <p:nvSpPr>
          <p:cNvPr id="11" name="Text 8"/>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50" dirty="0">
                <a:solidFill>
                  <a:srgbClr val="8A9793"/>
                </a:solidFill>
                <a:latin typeface="Segoe UI" pitchFamily="34" charset="0"/>
                <a:ea typeface="Segoe UI" pitchFamily="34" charset="-122"/>
                <a:cs typeface="Segoe UI" pitchFamily="34" charset="-120"/>
              </a:rPr>
              <a:t>Smart Facility Management  ·  Week 04  —  Point Cloud Data</a:t>
            </a:r>
            <a:endParaRPr lang="en-US" sz="950" dirty="0"/>
          </a:p>
        </p:txBody>
      </p:sp>
      <p:sp>
        <p:nvSpPr>
          <p:cNvPr id="12" name="Text 9"/>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50" dirty="0">
                <a:solidFill>
                  <a:srgbClr val="8A9793"/>
                </a:solidFill>
                <a:latin typeface="Segoe UI" pitchFamily="34" charset="0"/>
                <a:ea typeface="Segoe UI" pitchFamily="34" charset="-122"/>
                <a:cs typeface="Segoe UI" pitchFamily="34" charset="-120"/>
              </a:rPr>
              <a:t>10 / 15</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9ECE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marL="0" indent="0">
              <a:buNone/>
            </a:pPr>
            <a:r>
              <a:rPr lang="en-US" sz="1100" b="1" kern="0" spc="200" dirty="0">
                <a:solidFill>
                  <a:srgbClr val="0E7B7B"/>
                </a:solidFill>
                <a:latin typeface="Segoe UI" pitchFamily="34" charset="0"/>
                <a:ea typeface="Segoe UI" pitchFamily="34" charset="-122"/>
                <a:cs typeface="Segoe UI" pitchFamily="34" charset="-120"/>
              </a:rPr>
              <a:t>POINT CLOUD DATA  ·  WEEK 04</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t"/>
          <a:lstStyle/>
          <a:p>
            <a:pPr marL="0" indent="0">
              <a:buNone/>
            </a:pPr>
            <a:r>
              <a:rPr lang="en-US" sz="3000" b="1" dirty="0">
                <a:solidFill>
                  <a:srgbClr val="152220"/>
                </a:solidFill>
                <a:latin typeface="Segoe UI" pitchFamily="34" charset="0"/>
                <a:ea typeface="Segoe UI" pitchFamily="34" charset="-122"/>
                <a:cs typeface="Segoe UI" pitchFamily="34" charset="-120"/>
              </a:rPr>
              <a:t>From points to surfaces: meshes</a:t>
            </a:r>
            <a:endParaRPr lang="en-US" sz="3000" dirty="0"/>
          </a:p>
        </p:txBody>
      </p:sp>
      <p:sp>
        <p:nvSpPr>
          <p:cNvPr id="4" name="Text 2"/>
          <p:cNvSpPr txBox="1"/>
          <p:nvPr/>
        </p:nvSpPr>
        <p:spPr>
          <a:xfrm>
            <a:off x="548640" y="1225296"/>
            <a:ext cx="11094415" cy="365760"/>
          </a:xfrm>
          <a:prstGeom prst="rect">
            <a:avLst/>
          </a:prstGeom>
          <a:noFill/>
          <a:ln/>
        </p:spPr>
        <p:txBody>
          <a:bodyPr wrap="square" lIns="0" tIns="0" rIns="0" bIns="0" rtlCol="0" anchor="t"/>
          <a:lstStyle/>
          <a:p>
            <a:pPr marL="0" indent="0">
              <a:buNone/>
            </a:pPr>
            <a:r>
              <a:rPr lang="en-US" sz="1500" dirty="0">
                <a:solidFill>
                  <a:srgbClr val="0A5C5C"/>
                </a:solidFill>
                <a:latin typeface="Malgun Gothic" pitchFamily="34" charset="0"/>
                <a:ea typeface="Malgun Gothic" pitchFamily="34" charset="-122"/>
                <a:cs typeface="Malgun Gothic" pitchFamily="34" charset="-120"/>
              </a:rPr>
              <a:t>점에서 면으로 — 메시(mesh): 점들을 삼각형으로 연결</a:t>
            </a:r>
            <a:endParaRPr lang="en-US" sz="1500" dirty="0"/>
          </a:p>
        </p:txBody>
      </p:sp>
      <p:sp>
        <p:nvSpPr>
          <p:cNvPr id="5" name="Shape 3"/>
          <p:cNvSpPr/>
          <p:nvPr/>
        </p:nvSpPr>
        <p:spPr>
          <a:xfrm>
            <a:off x="548640" y="1783080"/>
            <a:ext cx="11094415" cy="2835239"/>
          </a:xfrm>
          <a:prstGeom prst="roundRect">
            <a:avLst>
              <a:gd name="adj" fmla="val 3870"/>
            </a:avLst>
          </a:prstGeom>
          <a:solidFill>
            <a:srgbClr val="0E1A19"/>
          </a:solidFill>
          <a:ln w="12700">
            <a:solidFill>
              <a:srgbClr val="0E1A19"/>
            </a:solidFill>
            <a:prstDash val="solid"/>
          </a:ln>
          <a:effectLst>
            <a:outerShdw blurRad="127000" dist="25400" dir="5400000" algn="bl" rotWithShape="0">
              <a:srgbClr val="14282A">
                <a:alpha val="12000"/>
              </a:srgbClr>
            </a:outerShdw>
          </a:effectLst>
        </p:spPr>
      </p:sp>
      <p:pic>
        <p:nvPicPr>
          <p:cNvPr id="6" name="Image 0" descr="fig/mesh.png"/>
          <p:cNvPicPr>
            <a:picLocks noChangeAspect="1"/>
          </p:cNvPicPr>
          <p:nvPr/>
        </p:nvPicPr>
        <p:blipFill>
          <a:blip r:embed="rId3"/>
          <a:stretch>
            <a:fillRect/>
          </a:stretch>
        </p:blipFill>
        <p:spPr>
          <a:xfrm>
            <a:off x="548640" y="1783080"/>
            <a:ext cx="11094415" cy="2835239"/>
          </a:xfrm>
          <a:prstGeom prst="rect">
            <a:avLst/>
          </a:prstGeom>
        </p:spPr>
      </p:pic>
      <p:sp>
        <p:nvSpPr>
          <p:cNvPr id="7" name="Text 4"/>
          <p:cNvSpPr txBox="1"/>
          <p:nvPr/>
        </p:nvSpPr>
        <p:spPr>
          <a:xfrm>
            <a:off x="594360" y="4801199"/>
            <a:ext cx="3423818" cy="685800"/>
          </a:xfrm>
          <a:prstGeom prst="rect">
            <a:avLst/>
          </a:prstGeom>
          <a:noFill/>
          <a:ln/>
        </p:spPr>
        <p:txBody>
          <a:bodyPr wrap="square" lIns="0" tIns="0" rIns="0" bIns="0" rtlCol="0" anchor="t"/>
          <a:lstStyle/>
          <a:p>
            <a:pPr marL="0" indent="0">
              <a:buNone/>
            </a:pPr>
            <a:r>
              <a:rPr lang="en-US" sz="1400" b="1" dirty="0">
                <a:solidFill>
                  <a:srgbClr val="152220"/>
                </a:solidFill>
                <a:latin typeface="Segoe UI" pitchFamily="34" charset="0"/>
                <a:ea typeface="Segoe UI" pitchFamily="34" charset="-122"/>
                <a:cs typeface="Segoe UI" pitchFamily="34" charset="-120"/>
              </a:rPr>
              <a:t>1 · Point cloud</a:t>
            </a:r>
            <a:endParaRPr lang="en-US" sz="1400" dirty="0"/>
          </a:p>
          <a:p>
            <a:pPr marL="0" indent="0">
              <a:buNone/>
            </a:pPr>
            <a:r>
              <a:rPr lang="en-US" sz="1200" dirty="0">
                <a:solidFill>
                  <a:srgbClr val="576560"/>
                </a:solidFill>
                <a:latin typeface="Segoe UI" pitchFamily="34" charset="0"/>
                <a:ea typeface="Segoe UI" pitchFamily="34" charset="-122"/>
                <a:cs typeface="Segoe UI" pitchFamily="34" charset="-120"/>
              </a:rPr>
              <a:t>Separate dots with gaps in between.</a:t>
            </a:r>
            <a:endParaRPr lang="en-US" sz="1400" dirty="0"/>
          </a:p>
        </p:txBody>
      </p:sp>
      <p:sp>
        <p:nvSpPr>
          <p:cNvPr id="8" name="Text 5"/>
          <p:cNvSpPr txBox="1"/>
          <p:nvPr/>
        </p:nvSpPr>
        <p:spPr>
          <a:xfrm>
            <a:off x="4292498" y="4801199"/>
            <a:ext cx="3423818" cy="685800"/>
          </a:xfrm>
          <a:prstGeom prst="rect">
            <a:avLst/>
          </a:prstGeom>
          <a:noFill/>
          <a:ln/>
        </p:spPr>
        <p:txBody>
          <a:bodyPr wrap="square" lIns="0" tIns="0" rIns="0" bIns="0" rtlCol="0" anchor="t"/>
          <a:lstStyle/>
          <a:p>
            <a:pPr marL="0" indent="0">
              <a:buNone/>
            </a:pPr>
            <a:r>
              <a:rPr lang="en-US" sz="1400" b="1" dirty="0">
                <a:solidFill>
                  <a:srgbClr val="152220"/>
                </a:solidFill>
                <a:latin typeface="Segoe UI" pitchFamily="34" charset="0"/>
                <a:ea typeface="Segoe UI" pitchFamily="34" charset="-122"/>
                <a:cs typeface="Segoe UI" pitchFamily="34" charset="-120"/>
              </a:rPr>
              <a:t>2 · Mesh (zoomed in)</a:t>
            </a:r>
            <a:endParaRPr lang="en-US" sz="1400" dirty="0"/>
          </a:p>
          <a:p>
            <a:pPr marL="0" indent="0">
              <a:buNone/>
            </a:pPr>
            <a:r>
              <a:rPr lang="en-US" sz="1200" dirty="0">
                <a:solidFill>
                  <a:srgbClr val="576560"/>
                </a:solidFill>
                <a:latin typeface="Segoe UI" pitchFamily="34" charset="0"/>
                <a:ea typeface="Segoe UI" pitchFamily="34" charset="-122"/>
                <a:cs typeface="Segoe UI" pitchFamily="34" charset="-120"/>
              </a:rPr>
              <a:t>Triangles connect neighbouring points into surfaces.</a:t>
            </a:r>
            <a:endParaRPr lang="en-US" sz="1400" dirty="0"/>
          </a:p>
        </p:txBody>
      </p:sp>
      <p:sp>
        <p:nvSpPr>
          <p:cNvPr id="9" name="Text 6"/>
          <p:cNvSpPr txBox="1"/>
          <p:nvPr/>
        </p:nvSpPr>
        <p:spPr>
          <a:xfrm>
            <a:off x="7990637" y="4801199"/>
            <a:ext cx="3423818" cy="685800"/>
          </a:xfrm>
          <a:prstGeom prst="rect">
            <a:avLst/>
          </a:prstGeom>
          <a:noFill/>
          <a:ln/>
        </p:spPr>
        <p:txBody>
          <a:bodyPr wrap="square" lIns="0" tIns="0" rIns="0" bIns="0" rtlCol="0" anchor="t"/>
          <a:lstStyle/>
          <a:p>
            <a:pPr marL="0" indent="0">
              <a:buNone/>
            </a:pPr>
            <a:r>
              <a:rPr lang="en-US" sz="1400" b="1" dirty="0">
                <a:solidFill>
                  <a:srgbClr val="152220"/>
                </a:solidFill>
                <a:latin typeface="Segoe UI" pitchFamily="34" charset="0"/>
                <a:ea typeface="Segoe UI" pitchFamily="34" charset="-122"/>
                <a:cs typeface="Segoe UI" pitchFamily="34" charset="-120"/>
              </a:rPr>
              <a:t>3 · Textured mesh</a:t>
            </a:r>
            <a:endParaRPr lang="en-US" sz="1400" dirty="0"/>
          </a:p>
          <a:p>
            <a:pPr marL="0" indent="0">
              <a:buNone/>
            </a:pPr>
            <a:r>
              <a:rPr lang="en-US" sz="1200" dirty="0">
                <a:solidFill>
                  <a:srgbClr val="576560"/>
                </a:solidFill>
                <a:latin typeface="Segoe UI" pitchFamily="34" charset="0"/>
                <a:ea typeface="Segoe UI" pitchFamily="34" charset="-122"/>
                <a:cs typeface="Segoe UI" pitchFamily="34" charset="-120"/>
              </a:rPr>
              <a:t>The camera's photos painted onto the triangles.</a:t>
            </a:r>
            <a:endParaRPr lang="en-US" sz="1400" dirty="0"/>
          </a:p>
        </p:txBody>
      </p:sp>
      <p:sp>
        <p:nvSpPr>
          <p:cNvPr id="10" name="Shape 7"/>
          <p:cNvSpPr/>
          <p:nvPr/>
        </p:nvSpPr>
        <p:spPr>
          <a:xfrm>
            <a:off x="548640" y="5806440"/>
            <a:ext cx="11094415" cy="475488"/>
          </a:xfrm>
          <a:prstGeom prst="roundRect">
            <a:avLst>
              <a:gd name="adj" fmla="val 23077"/>
            </a:avLst>
          </a:prstGeom>
          <a:solidFill>
            <a:srgbClr val="E3F0EF"/>
          </a:solidFill>
          <a:ln w="12700">
            <a:solidFill>
              <a:srgbClr val="E3F0EF"/>
            </a:solidFill>
            <a:prstDash val="solid"/>
          </a:ln>
          <a:effectLst>
            <a:outerShdw blurRad="127000" dist="25400" dir="5400000" algn="bl" rotWithShape="0">
              <a:srgbClr val="14282A">
                <a:alpha val="12000"/>
              </a:srgbClr>
            </a:outerShdw>
          </a:effectLst>
        </p:spPr>
      </p:sp>
      <p:sp>
        <p:nvSpPr>
          <p:cNvPr id="11" name="Text 8"/>
          <p:cNvSpPr txBox="1"/>
          <p:nvPr/>
        </p:nvSpPr>
        <p:spPr>
          <a:xfrm>
            <a:off x="777240" y="5806440"/>
            <a:ext cx="10637215" cy="475488"/>
          </a:xfrm>
          <a:prstGeom prst="rect">
            <a:avLst/>
          </a:prstGeom>
          <a:noFill/>
          <a:ln/>
        </p:spPr>
        <p:txBody>
          <a:bodyPr wrap="square" lIns="0" tIns="0" rIns="0" bIns="0" rtlCol="0" anchor="ctr"/>
          <a:lstStyle/>
          <a:p>
            <a:pPr marL="0" indent="0">
              <a:buNone/>
            </a:pPr>
            <a:r>
              <a:rPr lang="en-US" sz="1400" b="1" dirty="0">
                <a:solidFill>
                  <a:srgbClr val="0A5C5C"/>
                </a:solidFill>
                <a:latin typeface="Segoe UI" pitchFamily="34" charset="0"/>
                <a:ea typeface="Segoe UI" pitchFamily="34" charset="-122"/>
                <a:cs typeface="Segoe UI" pitchFamily="34" charset="-120"/>
              </a:rPr>
              <a:t>Meshes look solid and feed digital twins and BIM — but they leave holes wherever the scanner saw nothing.</a:t>
            </a:r>
            <a:endParaRPr lang="en-US" sz="1400" dirty="0"/>
          </a:p>
        </p:txBody>
      </p:sp>
      <p:sp>
        <p:nvSpPr>
          <p:cNvPr id="12" name="Text 9"/>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50" dirty="0">
                <a:solidFill>
                  <a:srgbClr val="8A9793"/>
                </a:solidFill>
                <a:latin typeface="Segoe UI" pitchFamily="34" charset="0"/>
                <a:ea typeface="Segoe UI" pitchFamily="34" charset="-122"/>
                <a:cs typeface="Segoe UI" pitchFamily="34" charset="-120"/>
              </a:rPr>
              <a:t>Smart Facility Management  ·  Week 04  —  Point Cloud Data</a:t>
            </a:r>
            <a:endParaRPr lang="en-US" sz="950" dirty="0"/>
          </a:p>
        </p:txBody>
      </p:sp>
      <p:sp>
        <p:nvSpPr>
          <p:cNvPr id="13" name="Text 10"/>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50" dirty="0">
                <a:solidFill>
                  <a:srgbClr val="8A9793"/>
                </a:solidFill>
                <a:latin typeface="Segoe UI" pitchFamily="34" charset="0"/>
                <a:ea typeface="Segoe UI" pitchFamily="34" charset="-122"/>
                <a:cs typeface="Segoe UI" pitchFamily="34" charset="-120"/>
              </a:rPr>
              <a:t>11 / 15</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9ECE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marL="0" indent="0">
              <a:buNone/>
            </a:pPr>
            <a:r>
              <a:rPr lang="en-US" sz="1100" b="1" kern="0" spc="200" dirty="0">
                <a:solidFill>
                  <a:srgbClr val="0E7B7B"/>
                </a:solidFill>
                <a:latin typeface="Segoe UI" pitchFamily="34" charset="0"/>
                <a:ea typeface="Segoe UI" pitchFamily="34" charset="-122"/>
                <a:cs typeface="Segoe UI" pitchFamily="34" charset="-120"/>
              </a:rPr>
              <a:t>POINT CLOUD DATA  ·  WEEK 04</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t"/>
          <a:lstStyle/>
          <a:p>
            <a:pPr marL="0" indent="0">
              <a:buNone/>
            </a:pPr>
            <a:r>
              <a:rPr lang="en-US" sz="3000" b="1" dirty="0">
                <a:solidFill>
                  <a:srgbClr val="152220"/>
                </a:solidFill>
                <a:latin typeface="Segoe UI" pitchFamily="34" charset="0"/>
                <a:ea typeface="Segoe UI" pitchFamily="34" charset="-122"/>
                <a:cs typeface="Segoe UI" pitchFamily="34" charset="-120"/>
              </a:rPr>
              <a:t>Scans aren't perfect</a:t>
            </a:r>
            <a:endParaRPr lang="en-US" sz="3000" dirty="0"/>
          </a:p>
        </p:txBody>
      </p:sp>
      <p:sp>
        <p:nvSpPr>
          <p:cNvPr id="4" name="Text 2"/>
          <p:cNvSpPr txBox="1"/>
          <p:nvPr/>
        </p:nvSpPr>
        <p:spPr>
          <a:xfrm>
            <a:off x="548640" y="1225296"/>
            <a:ext cx="11094415" cy="365760"/>
          </a:xfrm>
          <a:prstGeom prst="rect">
            <a:avLst/>
          </a:prstGeom>
          <a:noFill/>
          <a:ln/>
        </p:spPr>
        <p:txBody>
          <a:bodyPr wrap="square" lIns="0" tIns="0" rIns="0" bIns="0" rtlCol="0" anchor="t"/>
          <a:lstStyle/>
          <a:p>
            <a:pPr marL="0" indent="0">
              <a:buNone/>
            </a:pPr>
            <a:r>
              <a:rPr lang="en-US" sz="1500" dirty="0">
                <a:solidFill>
                  <a:srgbClr val="0A5C5C"/>
                </a:solidFill>
                <a:latin typeface="Malgun Gothic" pitchFamily="34" charset="0"/>
                <a:ea typeface="Malgun Gothic" pitchFamily="34" charset="-122"/>
                <a:cs typeface="Malgun Gothic" pitchFamily="34" charset="-120"/>
              </a:rPr>
              <a:t>스캔은 완벽하지 않습니다 — 흔한 오차 알아보기</a:t>
            </a:r>
            <a:endParaRPr lang="en-US" sz="1500" dirty="0"/>
          </a:p>
        </p:txBody>
      </p:sp>
      <p:sp>
        <p:nvSpPr>
          <p:cNvPr id="5" name="Shape 3"/>
          <p:cNvSpPr/>
          <p:nvPr/>
        </p:nvSpPr>
        <p:spPr>
          <a:xfrm>
            <a:off x="548640" y="1783080"/>
            <a:ext cx="7406640" cy="3131167"/>
          </a:xfrm>
          <a:prstGeom prst="roundRect">
            <a:avLst>
              <a:gd name="adj" fmla="val 3504"/>
            </a:avLst>
          </a:prstGeom>
          <a:solidFill>
            <a:srgbClr val="FFFFFF"/>
          </a:solidFill>
          <a:ln w="12700">
            <a:solidFill>
              <a:srgbClr val="FFFFFF"/>
            </a:solidFill>
            <a:prstDash val="solid"/>
          </a:ln>
          <a:effectLst>
            <a:outerShdw blurRad="127000" dist="25400" dir="5400000" algn="bl" rotWithShape="0">
              <a:srgbClr val="14282A">
                <a:alpha val="12000"/>
              </a:srgbClr>
            </a:outerShdw>
          </a:effectLst>
        </p:spPr>
      </p:sp>
      <p:pic>
        <p:nvPicPr>
          <p:cNvPr id="6" name="Image 0" descr="fig/noise.png"/>
          <p:cNvPicPr>
            <a:picLocks noChangeAspect="1"/>
          </p:cNvPicPr>
          <p:nvPr/>
        </p:nvPicPr>
        <p:blipFill>
          <a:blip r:embed="rId3"/>
          <a:stretch>
            <a:fillRect/>
          </a:stretch>
        </p:blipFill>
        <p:spPr>
          <a:xfrm>
            <a:off x="685800" y="1973145"/>
            <a:ext cx="7132320" cy="2751038"/>
          </a:xfrm>
          <a:prstGeom prst="rect">
            <a:avLst/>
          </a:prstGeom>
        </p:spPr>
      </p:pic>
      <p:sp>
        <p:nvSpPr>
          <p:cNvPr id="7" name="Text 4"/>
          <p:cNvSpPr txBox="1"/>
          <p:nvPr/>
        </p:nvSpPr>
        <p:spPr>
          <a:xfrm>
            <a:off x="548640" y="5051407"/>
            <a:ext cx="3407054" cy="914400"/>
          </a:xfrm>
          <a:prstGeom prst="rect">
            <a:avLst/>
          </a:prstGeom>
          <a:noFill/>
          <a:ln/>
        </p:spPr>
        <p:txBody>
          <a:bodyPr wrap="square" lIns="0" tIns="0" rIns="0" bIns="0" rtlCol="0" anchor="t"/>
          <a:lstStyle/>
          <a:p>
            <a:pPr marL="0" indent="0">
              <a:buNone/>
            </a:pPr>
            <a:r>
              <a:rPr lang="en-US" sz="1400" b="1" dirty="0">
                <a:solidFill>
                  <a:srgbClr val="152220"/>
                </a:solidFill>
                <a:latin typeface="Segoe UI" pitchFamily="34" charset="0"/>
                <a:ea typeface="Segoe UI" pitchFamily="34" charset="-122"/>
                <a:cs typeface="Segoe UI" pitchFamily="34" charset="-120"/>
              </a:rPr>
              <a:t>Ghost walls</a:t>
            </a:r>
            <a:endParaRPr lang="en-US" sz="1400" dirty="0"/>
          </a:p>
          <a:p>
            <a:pPr marL="0" indent="0">
              <a:buNone/>
            </a:pPr>
            <a:r>
              <a:rPr lang="en-US" sz="1150" dirty="0">
                <a:solidFill>
                  <a:srgbClr val="576560"/>
                </a:solidFill>
                <a:latin typeface="Segoe UI" pitchFamily="34" charset="0"/>
                <a:ea typeface="Segoe UI" pitchFamily="34" charset="-122"/>
                <a:cs typeface="Segoe UI" pitchFamily="34" charset="-120"/>
              </a:rPr>
              <a:t>A slice across the corridor at y = −6 m. The robot passed twice and saw the wall in slightly different places.</a:t>
            </a:r>
            <a:endParaRPr lang="en-US" sz="1400" dirty="0"/>
          </a:p>
        </p:txBody>
      </p:sp>
      <p:sp>
        <p:nvSpPr>
          <p:cNvPr id="8" name="Text 5"/>
          <p:cNvSpPr txBox="1"/>
          <p:nvPr/>
        </p:nvSpPr>
        <p:spPr>
          <a:xfrm>
            <a:off x="4066794" y="5051407"/>
            <a:ext cx="3888486" cy="914400"/>
          </a:xfrm>
          <a:prstGeom prst="rect">
            <a:avLst/>
          </a:prstGeom>
          <a:noFill/>
          <a:ln/>
        </p:spPr>
        <p:txBody>
          <a:bodyPr wrap="square" lIns="0" tIns="0" rIns="0" bIns="0" rtlCol="0" anchor="t"/>
          <a:lstStyle/>
          <a:p>
            <a:pPr marL="0" indent="0">
              <a:buNone/>
            </a:pPr>
            <a:r>
              <a:rPr lang="en-US" sz="1400" b="1" dirty="0">
                <a:solidFill>
                  <a:srgbClr val="152220"/>
                </a:solidFill>
                <a:latin typeface="Segoe UI" pitchFamily="34" charset="0"/>
                <a:ea typeface="Segoe UI" pitchFamily="34" charset="-122"/>
                <a:cs typeface="Segoe UI" pitchFamily="34" charset="-120"/>
              </a:rPr>
              <a:t>Drift</a:t>
            </a:r>
            <a:endParaRPr lang="en-US" sz="1400" dirty="0"/>
          </a:p>
          <a:p>
            <a:pPr marL="0" indent="0">
              <a:buNone/>
            </a:pPr>
            <a:r>
              <a:rPr lang="en-US" sz="1150" dirty="0">
                <a:solidFill>
                  <a:srgbClr val="576560"/>
                </a:solidFill>
                <a:latin typeface="Segoe UI" pitchFamily="34" charset="0"/>
                <a:ea typeface="Segoe UI" pitchFamily="34" charset="-122"/>
                <a:cs typeface="Segoe UI" pitchFamily="34" charset="-120"/>
              </a:rPr>
              <a:t>The floor is flat, but the robot's estimate of its own height drifted by up to 1.8 m.</a:t>
            </a:r>
            <a:endParaRPr lang="en-US" sz="1400" dirty="0"/>
          </a:p>
        </p:txBody>
      </p:sp>
      <p:sp>
        <p:nvSpPr>
          <p:cNvPr id="9" name="Text 6"/>
          <p:cNvSpPr txBox="1"/>
          <p:nvPr/>
        </p:nvSpPr>
        <p:spPr>
          <a:xfrm>
            <a:off x="8275320" y="1783080"/>
            <a:ext cx="3367735" cy="274320"/>
          </a:xfrm>
          <a:prstGeom prst="rect">
            <a:avLst/>
          </a:prstGeom>
          <a:noFill/>
          <a:ln/>
        </p:spPr>
        <p:txBody>
          <a:bodyPr wrap="square" lIns="0" tIns="0" rIns="0" bIns="0" rtlCol="0" anchor="t"/>
          <a:lstStyle/>
          <a:p>
            <a:pPr marL="0" indent="0">
              <a:buNone/>
            </a:pPr>
            <a:r>
              <a:rPr lang="en-US" sz="1200" b="1" kern="0" spc="100" dirty="0">
                <a:solidFill>
                  <a:srgbClr val="0E7B7B"/>
                </a:solidFill>
                <a:latin typeface="Segoe UI" pitchFamily="34" charset="0"/>
                <a:ea typeface="Segoe UI" pitchFamily="34" charset="-122"/>
                <a:cs typeface="Segoe UI" pitchFamily="34" charset="-120"/>
              </a:rPr>
              <a:t>Other things to watch for</a:t>
            </a:r>
            <a:endParaRPr lang="en-US" sz="1200" dirty="0"/>
          </a:p>
        </p:txBody>
      </p:sp>
      <p:sp>
        <p:nvSpPr>
          <p:cNvPr id="10" name="Shape 7"/>
          <p:cNvSpPr/>
          <p:nvPr/>
        </p:nvSpPr>
        <p:spPr>
          <a:xfrm>
            <a:off x="8275320" y="2194560"/>
            <a:ext cx="502920" cy="502920"/>
          </a:xfrm>
          <a:prstGeom prst="ellipse">
            <a:avLst/>
          </a:prstGeom>
          <a:solidFill>
            <a:srgbClr val="0E7B7B"/>
          </a:solidFill>
          <a:ln w="12700">
            <a:solidFill>
              <a:srgbClr val="0E7B7B"/>
            </a:solidFill>
            <a:prstDash val="solid"/>
          </a:ln>
        </p:spPr>
      </p:sp>
      <p:pic>
        <p:nvPicPr>
          <p:cNvPr id="11" name="Image 1" descr="preencoded.png"/>
          <p:cNvPicPr>
            <a:picLocks noChangeAspect="1"/>
          </p:cNvPicPr>
          <p:nvPr/>
        </p:nvPicPr>
        <p:blipFill>
          <a:blip r:embed="rId4"/>
          <a:stretch>
            <a:fillRect/>
          </a:stretch>
        </p:blipFill>
        <p:spPr>
          <a:xfrm>
            <a:off x="8401050" y="2320290"/>
            <a:ext cx="251460" cy="251460"/>
          </a:xfrm>
          <a:prstGeom prst="rect">
            <a:avLst/>
          </a:prstGeom>
        </p:spPr>
      </p:pic>
      <p:sp>
        <p:nvSpPr>
          <p:cNvPr id="12" name="Text 8"/>
          <p:cNvSpPr txBox="1"/>
          <p:nvPr/>
        </p:nvSpPr>
        <p:spPr>
          <a:xfrm>
            <a:off x="8961120" y="2176272"/>
            <a:ext cx="2681935" cy="868680"/>
          </a:xfrm>
          <a:prstGeom prst="rect">
            <a:avLst/>
          </a:prstGeom>
          <a:noFill/>
          <a:ln/>
        </p:spPr>
        <p:txBody>
          <a:bodyPr wrap="square" lIns="0" tIns="0" rIns="0" bIns="0" rtlCol="0" anchor="t"/>
          <a:lstStyle/>
          <a:p>
            <a:pPr marL="0" indent="0">
              <a:buNone/>
            </a:pPr>
            <a:r>
              <a:rPr lang="en-US" sz="1400" b="1" dirty="0">
                <a:solidFill>
                  <a:srgbClr val="152220"/>
                </a:solidFill>
                <a:latin typeface="Segoe UI" pitchFamily="34" charset="0"/>
                <a:ea typeface="Segoe UI" pitchFamily="34" charset="-122"/>
                <a:cs typeface="Segoe UI" pitchFamily="34" charset="-120"/>
              </a:rPr>
              <a:t>Glass and mirrors</a:t>
            </a:r>
            <a:endParaRPr lang="en-US" sz="1400" dirty="0"/>
          </a:p>
          <a:p>
            <a:pPr marL="0" indent="0">
              <a:buNone/>
            </a:pPr>
            <a:r>
              <a:rPr lang="en-US" sz="1150" dirty="0">
                <a:solidFill>
                  <a:srgbClr val="576560"/>
                </a:solidFill>
                <a:latin typeface="Segoe UI" pitchFamily="34" charset="0"/>
                <a:ea typeface="Segoe UI" pitchFamily="34" charset="-122"/>
                <a:cs typeface="Segoe UI" pitchFamily="34" charset="-120"/>
              </a:rPr>
              <a:t>Lasers pass through or bounce off: missing or phantom points.</a:t>
            </a:r>
            <a:endParaRPr lang="en-US" sz="1400" dirty="0"/>
          </a:p>
        </p:txBody>
      </p:sp>
      <p:sp>
        <p:nvSpPr>
          <p:cNvPr id="13" name="Shape 9"/>
          <p:cNvSpPr/>
          <p:nvPr/>
        </p:nvSpPr>
        <p:spPr>
          <a:xfrm>
            <a:off x="8275320" y="3154680"/>
            <a:ext cx="502920" cy="502920"/>
          </a:xfrm>
          <a:prstGeom prst="ellipse">
            <a:avLst/>
          </a:prstGeom>
          <a:solidFill>
            <a:srgbClr val="0E7B7B"/>
          </a:solidFill>
          <a:ln w="12700">
            <a:solidFill>
              <a:srgbClr val="0E7B7B"/>
            </a:solidFill>
            <a:prstDash val="solid"/>
          </a:ln>
        </p:spPr>
      </p:sp>
      <p:pic>
        <p:nvPicPr>
          <p:cNvPr id="14" name="Image 2" descr="preencoded.png"/>
          <p:cNvPicPr>
            <a:picLocks noChangeAspect="1"/>
          </p:cNvPicPr>
          <p:nvPr/>
        </p:nvPicPr>
        <p:blipFill>
          <a:blip r:embed="rId5"/>
          <a:stretch>
            <a:fillRect/>
          </a:stretch>
        </p:blipFill>
        <p:spPr>
          <a:xfrm>
            <a:off x="8401050" y="3280410"/>
            <a:ext cx="251460" cy="251460"/>
          </a:xfrm>
          <a:prstGeom prst="rect">
            <a:avLst/>
          </a:prstGeom>
        </p:spPr>
      </p:pic>
      <p:sp>
        <p:nvSpPr>
          <p:cNvPr id="15" name="Text 10"/>
          <p:cNvSpPr txBox="1"/>
          <p:nvPr/>
        </p:nvSpPr>
        <p:spPr>
          <a:xfrm>
            <a:off x="8961120" y="3136392"/>
            <a:ext cx="2681935" cy="731520"/>
          </a:xfrm>
          <a:prstGeom prst="rect">
            <a:avLst/>
          </a:prstGeom>
          <a:noFill/>
          <a:ln/>
        </p:spPr>
        <p:txBody>
          <a:bodyPr wrap="square" lIns="0" tIns="0" rIns="0" bIns="0" rtlCol="0" anchor="t"/>
          <a:lstStyle/>
          <a:p>
            <a:pPr marL="0" indent="0">
              <a:buNone/>
            </a:pPr>
            <a:r>
              <a:rPr lang="en-US" sz="1400" b="1" dirty="0">
                <a:solidFill>
                  <a:srgbClr val="152220"/>
                </a:solidFill>
                <a:latin typeface="Segoe UI" pitchFamily="34" charset="0"/>
                <a:ea typeface="Segoe UI" pitchFamily="34" charset="-122"/>
                <a:cs typeface="Segoe UI" pitchFamily="34" charset="-120"/>
              </a:rPr>
              <a:t>Moving people</a:t>
            </a:r>
            <a:endParaRPr lang="en-US" sz="1400" dirty="0"/>
          </a:p>
          <a:p>
            <a:pPr marL="0" indent="0">
              <a:buNone/>
            </a:pPr>
            <a:r>
              <a:rPr lang="en-US" sz="1150" dirty="0">
                <a:solidFill>
                  <a:srgbClr val="576560"/>
                </a:solidFill>
                <a:latin typeface="Segoe UI" pitchFamily="34" charset="0"/>
                <a:ea typeface="Segoe UI" pitchFamily="34" charset="-122"/>
                <a:cs typeface="Segoe UI" pitchFamily="34" charset="-120"/>
              </a:rPr>
              <a:t>Leave smeared 'ghost' trails.</a:t>
            </a:r>
            <a:endParaRPr lang="en-US" sz="1400" dirty="0"/>
          </a:p>
        </p:txBody>
      </p:sp>
      <p:sp>
        <p:nvSpPr>
          <p:cNvPr id="16" name="Shape 11"/>
          <p:cNvSpPr/>
          <p:nvPr/>
        </p:nvSpPr>
        <p:spPr>
          <a:xfrm>
            <a:off x="8275320" y="3977640"/>
            <a:ext cx="502920" cy="502920"/>
          </a:xfrm>
          <a:prstGeom prst="ellipse">
            <a:avLst/>
          </a:prstGeom>
          <a:solidFill>
            <a:srgbClr val="0E7B7B"/>
          </a:solidFill>
          <a:ln w="12700">
            <a:solidFill>
              <a:srgbClr val="0E7B7B"/>
            </a:solidFill>
            <a:prstDash val="solid"/>
          </a:ln>
        </p:spPr>
      </p:sp>
      <p:pic>
        <p:nvPicPr>
          <p:cNvPr id="17" name="Image 3" descr="preencoded.png"/>
          <p:cNvPicPr>
            <a:picLocks noChangeAspect="1"/>
          </p:cNvPicPr>
          <p:nvPr/>
        </p:nvPicPr>
        <p:blipFill>
          <a:blip r:embed="rId6"/>
          <a:stretch>
            <a:fillRect/>
          </a:stretch>
        </p:blipFill>
        <p:spPr>
          <a:xfrm>
            <a:off x="8401050" y="4103370"/>
            <a:ext cx="251460" cy="251460"/>
          </a:xfrm>
          <a:prstGeom prst="rect">
            <a:avLst/>
          </a:prstGeom>
        </p:spPr>
      </p:pic>
      <p:sp>
        <p:nvSpPr>
          <p:cNvPr id="18" name="Text 12"/>
          <p:cNvSpPr txBox="1"/>
          <p:nvPr/>
        </p:nvSpPr>
        <p:spPr>
          <a:xfrm>
            <a:off x="8961120" y="3959352"/>
            <a:ext cx="2681935" cy="731520"/>
          </a:xfrm>
          <a:prstGeom prst="rect">
            <a:avLst/>
          </a:prstGeom>
          <a:noFill/>
          <a:ln/>
        </p:spPr>
        <p:txBody>
          <a:bodyPr wrap="square" lIns="0" tIns="0" rIns="0" bIns="0" rtlCol="0" anchor="t"/>
          <a:lstStyle/>
          <a:p>
            <a:pPr marL="0" indent="0">
              <a:buNone/>
            </a:pPr>
            <a:r>
              <a:rPr lang="en-US" sz="1400" b="1" dirty="0">
                <a:solidFill>
                  <a:srgbClr val="152220"/>
                </a:solidFill>
                <a:latin typeface="Segoe UI" pitchFamily="34" charset="0"/>
                <a:ea typeface="Segoe UI" pitchFamily="34" charset="-122"/>
                <a:cs typeface="Segoe UI" pitchFamily="34" charset="-120"/>
              </a:rPr>
              <a:t>Shadows</a:t>
            </a:r>
            <a:endParaRPr lang="en-US" sz="1400" dirty="0"/>
          </a:p>
          <a:p>
            <a:pPr marL="0" indent="0">
              <a:buNone/>
            </a:pPr>
            <a:r>
              <a:rPr lang="en-US" sz="1150" dirty="0">
                <a:solidFill>
                  <a:srgbClr val="576560"/>
                </a:solidFill>
                <a:latin typeface="Segoe UI" pitchFamily="34" charset="0"/>
                <a:ea typeface="Segoe UI" pitchFamily="34" charset="-122"/>
                <a:cs typeface="Segoe UI" pitchFamily="34" charset="-120"/>
              </a:rPr>
              <a:t>Nothing is recorded behind objects.</a:t>
            </a:r>
            <a:endParaRPr lang="en-US" sz="1400" dirty="0"/>
          </a:p>
        </p:txBody>
      </p:sp>
      <p:sp>
        <p:nvSpPr>
          <p:cNvPr id="19" name="Shape 13"/>
          <p:cNvSpPr/>
          <p:nvPr/>
        </p:nvSpPr>
        <p:spPr>
          <a:xfrm>
            <a:off x="8275320" y="4800600"/>
            <a:ext cx="502920" cy="502920"/>
          </a:xfrm>
          <a:prstGeom prst="ellipse">
            <a:avLst/>
          </a:prstGeom>
          <a:solidFill>
            <a:srgbClr val="0E7B7B"/>
          </a:solidFill>
          <a:ln w="12700">
            <a:solidFill>
              <a:srgbClr val="0E7B7B"/>
            </a:solidFill>
            <a:prstDash val="solid"/>
          </a:ln>
        </p:spPr>
      </p:sp>
      <p:pic>
        <p:nvPicPr>
          <p:cNvPr id="20" name="Image 4" descr="preencoded.png"/>
          <p:cNvPicPr>
            <a:picLocks noChangeAspect="1"/>
          </p:cNvPicPr>
          <p:nvPr/>
        </p:nvPicPr>
        <p:blipFill>
          <a:blip r:embed="rId7"/>
          <a:stretch>
            <a:fillRect/>
          </a:stretch>
        </p:blipFill>
        <p:spPr>
          <a:xfrm>
            <a:off x="8401050" y="4926330"/>
            <a:ext cx="251460" cy="251460"/>
          </a:xfrm>
          <a:prstGeom prst="rect">
            <a:avLst/>
          </a:prstGeom>
        </p:spPr>
      </p:pic>
      <p:sp>
        <p:nvSpPr>
          <p:cNvPr id="21" name="Text 14"/>
          <p:cNvSpPr txBox="1"/>
          <p:nvPr/>
        </p:nvSpPr>
        <p:spPr>
          <a:xfrm>
            <a:off x="8961120" y="4782312"/>
            <a:ext cx="2681935" cy="868680"/>
          </a:xfrm>
          <a:prstGeom prst="rect">
            <a:avLst/>
          </a:prstGeom>
          <a:noFill/>
          <a:ln/>
        </p:spPr>
        <p:txBody>
          <a:bodyPr wrap="square" lIns="0" tIns="0" rIns="0" bIns="0" rtlCol="0" anchor="t"/>
          <a:lstStyle/>
          <a:p>
            <a:pPr marL="0" indent="0">
              <a:buNone/>
            </a:pPr>
            <a:r>
              <a:rPr lang="en-US" sz="1400" b="1" dirty="0">
                <a:solidFill>
                  <a:srgbClr val="152220"/>
                </a:solidFill>
                <a:latin typeface="Segoe UI" pitchFamily="34" charset="0"/>
                <a:ea typeface="Segoe UI" pitchFamily="34" charset="-122"/>
                <a:cs typeface="Segoe UI" pitchFamily="34" charset="-120"/>
              </a:rPr>
              <a:t>Always sanity-check</a:t>
            </a:r>
            <a:endParaRPr lang="en-US" sz="1400" dirty="0"/>
          </a:p>
          <a:p>
            <a:pPr marL="0" indent="0">
              <a:buNone/>
            </a:pPr>
            <a:r>
              <a:rPr lang="en-US" sz="1150" dirty="0">
                <a:solidFill>
                  <a:srgbClr val="576560"/>
                </a:solidFill>
                <a:latin typeface="Segoe UI" pitchFamily="34" charset="0"/>
                <a:ea typeface="Segoe UI" pitchFamily="34" charset="-122"/>
                <a:cs typeface="Segoe UI" pitchFamily="34" charset="-120"/>
              </a:rPr>
              <a:t>Compare one measurement with a tape measure or drawing.</a:t>
            </a:r>
            <a:endParaRPr lang="en-US" sz="1400" dirty="0"/>
          </a:p>
        </p:txBody>
      </p:sp>
      <p:sp>
        <p:nvSpPr>
          <p:cNvPr id="22" name="Text 15"/>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50" dirty="0">
                <a:solidFill>
                  <a:srgbClr val="8A9793"/>
                </a:solidFill>
                <a:latin typeface="Segoe UI" pitchFamily="34" charset="0"/>
                <a:ea typeface="Segoe UI" pitchFamily="34" charset="-122"/>
                <a:cs typeface="Segoe UI" pitchFamily="34" charset="-120"/>
              </a:rPr>
              <a:t>Smart Facility Management  ·  Week 04  —  Point Cloud Data</a:t>
            </a:r>
            <a:endParaRPr lang="en-US" sz="950" dirty="0"/>
          </a:p>
        </p:txBody>
      </p:sp>
      <p:sp>
        <p:nvSpPr>
          <p:cNvPr id="23" name="Text 16"/>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50" dirty="0">
                <a:solidFill>
                  <a:srgbClr val="8A9793"/>
                </a:solidFill>
                <a:latin typeface="Segoe UI" pitchFamily="34" charset="0"/>
                <a:ea typeface="Segoe UI" pitchFamily="34" charset="-122"/>
                <a:cs typeface="Segoe UI" pitchFamily="34" charset="-120"/>
              </a:rPr>
              <a:t>12 / 15</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9ECE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marL="0" indent="0">
              <a:buNone/>
            </a:pPr>
            <a:r>
              <a:rPr lang="en-US" sz="1100" b="1" kern="0" spc="200" dirty="0">
                <a:solidFill>
                  <a:srgbClr val="0E7B7B"/>
                </a:solidFill>
                <a:latin typeface="Segoe UI" pitchFamily="34" charset="0"/>
                <a:ea typeface="Segoe UI" pitchFamily="34" charset="-122"/>
                <a:cs typeface="Segoe UI" pitchFamily="34" charset="-120"/>
              </a:rPr>
              <a:t>POINT CLOUD DATA  ·  WEEK 04</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t"/>
          <a:lstStyle/>
          <a:p>
            <a:pPr marL="0" indent="0">
              <a:buNone/>
            </a:pPr>
            <a:r>
              <a:rPr lang="en-US" sz="3000" b="1" dirty="0">
                <a:solidFill>
                  <a:srgbClr val="152220"/>
                </a:solidFill>
                <a:latin typeface="Segoe UI" pitchFamily="34" charset="0"/>
                <a:ea typeface="Segoe UI" pitchFamily="34" charset="-122"/>
                <a:cs typeface="Segoe UI" pitchFamily="34" charset="-120"/>
              </a:rPr>
              <a:t>From points to facility answers</a:t>
            </a:r>
            <a:endParaRPr lang="en-US" sz="3000" dirty="0"/>
          </a:p>
        </p:txBody>
      </p:sp>
      <p:sp>
        <p:nvSpPr>
          <p:cNvPr id="4" name="Text 2"/>
          <p:cNvSpPr txBox="1"/>
          <p:nvPr/>
        </p:nvSpPr>
        <p:spPr>
          <a:xfrm>
            <a:off x="548640" y="1225296"/>
            <a:ext cx="11094415" cy="365760"/>
          </a:xfrm>
          <a:prstGeom prst="rect">
            <a:avLst/>
          </a:prstGeom>
          <a:noFill/>
          <a:ln/>
        </p:spPr>
        <p:txBody>
          <a:bodyPr wrap="square" lIns="0" tIns="0" rIns="0" bIns="0" rtlCol="0" anchor="t"/>
          <a:lstStyle/>
          <a:p>
            <a:pPr marL="0" indent="0">
              <a:buNone/>
            </a:pPr>
            <a:r>
              <a:rPr lang="en-US" sz="1500" dirty="0">
                <a:solidFill>
                  <a:srgbClr val="0A5C5C"/>
                </a:solidFill>
                <a:latin typeface="Malgun Gothic" pitchFamily="34" charset="0"/>
                <a:ea typeface="Malgun Gothic" pitchFamily="34" charset="-122"/>
                <a:cs typeface="Malgun Gothic" pitchFamily="34" charset="-120"/>
              </a:rPr>
              <a:t>점에서 시설 관리 정보로 — 평면도, 치수, 점검</a:t>
            </a:r>
            <a:endParaRPr lang="en-US" sz="1500" dirty="0"/>
          </a:p>
        </p:txBody>
      </p:sp>
      <p:sp>
        <p:nvSpPr>
          <p:cNvPr id="5" name="Shape 3"/>
          <p:cNvSpPr/>
          <p:nvPr/>
        </p:nvSpPr>
        <p:spPr>
          <a:xfrm>
            <a:off x="548640" y="1783080"/>
            <a:ext cx="3383280" cy="3794760"/>
          </a:xfrm>
          <a:prstGeom prst="roundRect">
            <a:avLst>
              <a:gd name="adj" fmla="val 3243"/>
            </a:avLst>
          </a:prstGeom>
          <a:solidFill>
            <a:srgbClr val="FFFFFF"/>
          </a:solidFill>
          <a:ln w="12700">
            <a:solidFill>
              <a:srgbClr val="FFFFFF"/>
            </a:solidFill>
            <a:prstDash val="solid"/>
          </a:ln>
          <a:effectLst>
            <a:outerShdw blurRad="127000" dist="25400" dir="5400000" algn="bl" rotWithShape="0">
              <a:srgbClr val="14282A">
                <a:alpha val="12000"/>
              </a:srgbClr>
            </a:outerShdw>
          </a:effectLst>
        </p:spPr>
      </p:sp>
      <p:pic>
        <p:nvPicPr>
          <p:cNvPr id="6" name="Image 0" descr="fig/plan.png"/>
          <p:cNvPicPr>
            <a:picLocks noChangeAspect="1"/>
          </p:cNvPicPr>
          <p:nvPr/>
        </p:nvPicPr>
        <p:blipFill>
          <a:blip r:embed="rId3"/>
          <a:stretch>
            <a:fillRect/>
          </a:stretch>
        </p:blipFill>
        <p:spPr>
          <a:xfrm>
            <a:off x="685800" y="2125980"/>
            <a:ext cx="3108960" cy="3108960"/>
          </a:xfrm>
          <a:prstGeom prst="rect">
            <a:avLst/>
          </a:prstGeom>
        </p:spPr>
      </p:pic>
      <p:sp>
        <p:nvSpPr>
          <p:cNvPr id="7" name="Shape 4"/>
          <p:cNvSpPr/>
          <p:nvPr/>
        </p:nvSpPr>
        <p:spPr>
          <a:xfrm>
            <a:off x="4160520" y="1783080"/>
            <a:ext cx="4480560" cy="3794760"/>
          </a:xfrm>
          <a:prstGeom prst="roundRect">
            <a:avLst>
              <a:gd name="adj" fmla="val 2892"/>
            </a:avLst>
          </a:prstGeom>
          <a:solidFill>
            <a:srgbClr val="FFFFFF"/>
          </a:solidFill>
          <a:ln w="12700">
            <a:solidFill>
              <a:srgbClr val="FFFFFF"/>
            </a:solidFill>
            <a:prstDash val="solid"/>
          </a:ln>
          <a:effectLst>
            <a:outerShdw blurRad="127000" dist="25400" dir="5400000" algn="bl" rotWithShape="0">
              <a:srgbClr val="14282A">
                <a:alpha val="12000"/>
              </a:srgbClr>
            </a:outerShdw>
          </a:effectLst>
        </p:spPr>
      </p:sp>
      <p:pic>
        <p:nvPicPr>
          <p:cNvPr id="8" name="Image 1" descr="fig/section.png"/>
          <p:cNvPicPr>
            <a:picLocks noChangeAspect="1"/>
          </p:cNvPicPr>
          <p:nvPr/>
        </p:nvPicPr>
        <p:blipFill>
          <a:blip r:embed="rId4"/>
          <a:stretch>
            <a:fillRect/>
          </a:stretch>
        </p:blipFill>
        <p:spPr>
          <a:xfrm>
            <a:off x="4297680" y="2103120"/>
            <a:ext cx="4206240" cy="3154680"/>
          </a:xfrm>
          <a:prstGeom prst="rect">
            <a:avLst/>
          </a:prstGeom>
        </p:spPr>
      </p:pic>
      <p:sp>
        <p:nvSpPr>
          <p:cNvPr id="9" name="Text 5"/>
          <p:cNvSpPr txBox="1"/>
          <p:nvPr/>
        </p:nvSpPr>
        <p:spPr>
          <a:xfrm>
            <a:off x="548640" y="5669280"/>
            <a:ext cx="3383280" cy="685800"/>
          </a:xfrm>
          <a:prstGeom prst="rect">
            <a:avLst/>
          </a:prstGeom>
          <a:noFill/>
          <a:ln/>
        </p:spPr>
        <p:txBody>
          <a:bodyPr wrap="square" lIns="0" tIns="0" rIns="0" bIns="0" rtlCol="0" anchor="t"/>
          <a:lstStyle/>
          <a:p>
            <a:pPr marL="0" indent="0">
              <a:buNone/>
            </a:pPr>
            <a:r>
              <a:rPr lang="en-US" sz="1400" b="1" dirty="0">
                <a:solidFill>
                  <a:srgbClr val="152220"/>
                </a:solidFill>
                <a:latin typeface="Segoe UI" pitchFamily="34" charset="0"/>
                <a:ea typeface="Segoe UI" pitchFamily="34" charset="-122"/>
                <a:cs typeface="Segoe UI" pitchFamily="34" charset="-120"/>
              </a:rPr>
              <a:t>1 · Slice at desk height</a:t>
            </a:r>
            <a:endParaRPr lang="en-US" sz="1400" dirty="0"/>
          </a:p>
          <a:p>
            <a:pPr marL="0" indent="0">
              <a:buNone/>
            </a:pPr>
            <a:r>
              <a:rPr lang="en-US" sz="1200" dirty="0">
                <a:solidFill>
                  <a:srgbClr val="576560"/>
                </a:solidFill>
                <a:latin typeface="Segoe UI" pitchFamily="34" charset="0"/>
                <a:ea typeface="Segoe UI" pitchFamily="34" charset="-122"/>
                <a:cs typeface="Segoe UI" pitchFamily="34" charset="-120"/>
              </a:rPr>
              <a:t>Keep points 0.6–1.6 m above the floor → a floor plan. Orange line = where we cut.</a:t>
            </a:r>
            <a:endParaRPr lang="en-US" sz="1400" dirty="0"/>
          </a:p>
        </p:txBody>
      </p:sp>
      <p:sp>
        <p:nvSpPr>
          <p:cNvPr id="10" name="Text 6"/>
          <p:cNvSpPr txBox="1"/>
          <p:nvPr/>
        </p:nvSpPr>
        <p:spPr>
          <a:xfrm>
            <a:off x="4160520" y="5669280"/>
            <a:ext cx="4480560" cy="685800"/>
          </a:xfrm>
          <a:prstGeom prst="rect">
            <a:avLst/>
          </a:prstGeom>
          <a:noFill/>
          <a:ln/>
        </p:spPr>
        <p:txBody>
          <a:bodyPr wrap="square" lIns="0" tIns="0" rIns="0" bIns="0" rtlCol="0" anchor="t"/>
          <a:lstStyle/>
          <a:p>
            <a:pPr marL="0" indent="0">
              <a:buNone/>
            </a:pPr>
            <a:r>
              <a:rPr lang="en-US" sz="1400" b="1" dirty="0">
                <a:solidFill>
                  <a:srgbClr val="152220"/>
                </a:solidFill>
                <a:latin typeface="Segoe UI" pitchFamily="34" charset="0"/>
                <a:ea typeface="Segoe UI" pitchFamily="34" charset="-122"/>
                <a:cs typeface="Segoe UI" pitchFamily="34" charset="-120"/>
              </a:rPr>
              <a:t>2 · Cut across the corridor</a:t>
            </a:r>
            <a:endParaRPr lang="en-US" sz="1400" dirty="0"/>
          </a:p>
          <a:p>
            <a:pPr marL="0" indent="0">
              <a:buNone/>
            </a:pPr>
            <a:r>
              <a:rPr lang="en-US" sz="1200" dirty="0">
                <a:solidFill>
                  <a:srgbClr val="576560"/>
                </a:solidFill>
                <a:latin typeface="Segoe UI" pitchFamily="34" charset="0"/>
                <a:ea typeface="Segoe UI" pitchFamily="34" charset="-122"/>
                <a:cs typeface="Segoe UI" pitchFamily="34" charset="-120"/>
              </a:rPr>
              <a:t>Look at a 30 cm slice from the side → measure the width: about 4.2 m.</a:t>
            </a:r>
            <a:endParaRPr lang="en-US" sz="1400" dirty="0"/>
          </a:p>
        </p:txBody>
      </p:sp>
      <p:sp>
        <p:nvSpPr>
          <p:cNvPr id="11" name="Text 7"/>
          <p:cNvSpPr txBox="1"/>
          <p:nvPr/>
        </p:nvSpPr>
        <p:spPr>
          <a:xfrm>
            <a:off x="8915400" y="1783080"/>
            <a:ext cx="2727655" cy="274320"/>
          </a:xfrm>
          <a:prstGeom prst="rect">
            <a:avLst/>
          </a:prstGeom>
          <a:noFill/>
          <a:ln/>
        </p:spPr>
        <p:txBody>
          <a:bodyPr wrap="square" lIns="0" tIns="0" rIns="0" bIns="0" rtlCol="0" anchor="t"/>
          <a:lstStyle/>
          <a:p>
            <a:pPr marL="0" indent="0">
              <a:buNone/>
            </a:pPr>
            <a:r>
              <a:rPr lang="en-US" sz="1200" b="1" kern="0" spc="100" dirty="0">
                <a:solidFill>
                  <a:srgbClr val="0E7B7B"/>
                </a:solidFill>
                <a:latin typeface="Segoe UI" pitchFamily="34" charset="0"/>
                <a:ea typeface="Segoe UI" pitchFamily="34" charset="-122"/>
                <a:cs typeface="Segoe UI" pitchFamily="34" charset="-120"/>
              </a:rPr>
              <a:t>What facility managers use it for</a:t>
            </a:r>
            <a:endParaRPr lang="en-US" sz="1200" dirty="0"/>
          </a:p>
        </p:txBody>
      </p:sp>
      <p:sp>
        <p:nvSpPr>
          <p:cNvPr id="12" name="Shape 8"/>
          <p:cNvSpPr/>
          <p:nvPr/>
        </p:nvSpPr>
        <p:spPr>
          <a:xfrm>
            <a:off x="8915400" y="2194560"/>
            <a:ext cx="502920" cy="502920"/>
          </a:xfrm>
          <a:prstGeom prst="ellipse">
            <a:avLst/>
          </a:prstGeom>
          <a:solidFill>
            <a:srgbClr val="0E7B7B"/>
          </a:solidFill>
          <a:ln w="12700">
            <a:solidFill>
              <a:srgbClr val="0E7B7B"/>
            </a:solidFill>
            <a:prstDash val="solid"/>
          </a:ln>
        </p:spPr>
      </p:sp>
      <p:pic>
        <p:nvPicPr>
          <p:cNvPr id="13" name="Image 2" descr="preencoded.png"/>
          <p:cNvPicPr>
            <a:picLocks noChangeAspect="1"/>
          </p:cNvPicPr>
          <p:nvPr/>
        </p:nvPicPr>
        <p:blipFill>
          <a:blip r:embed="rId5"/>
          <a:stretch>
            <a:fillRect/>
          </a:stretch>
        </p:blipFill>
        <p:spPr>
          <a:xfrm>
            <a:off x="9043416" y="2322576"/>
            <a:ext cx="246888" cy="246888"/>
          </a:xfrm>
          <a:prstGeom prst="rect">
            <a:avLst/>
          </a:prstGeom>
        </p:spPr>
      </p:pic>
      <p:sp>
        <p:nvSpPr>
          <p:cNvPr id="14" name="Text 9"/>
          <p:cNvSpPr txBox="1"/>
          <p:nvPr/>
        </p:nvSpPr>
        <p:spPr>
          <a:xfrm>
            <a:off x="9573768" y="2176272"/>
            <a:ext cx="2069287" cy="640080"/>
          </a:xfrm>
          <a:prstGeom prst="rect">
            <a:avLst/>
          </a:prstGeom>
          <a:noFill/>
          <a:ln/>
        </p:spPr>
        <p:txBody>
          <a:bodyPr wrap="square" lIns="0" tIns="0" rIns="0" bIns="0" rtlCol="0" anchor="t"/>
          <a:lstStyle/>
          <a:p>
            <a:pPr marL="0" indent="0">
              <a:buNone/>
            </a:pPr>
            <a:r>
              <a:rPr lang="en-US" sz="1350" b="1" dirty="0">
                <a:solidFill>
                  <a:srgbClr val="152220"/>
                </a:solidFill>
                <a:latin typeface="Segoe UI" pitchFamily="34" charset="0"/>
                <a:ea typeface="Segoe UI" pitchFamily="34" charset="-122"/>
                <a:cs typeface="Segoe UI" pitchFamily="34" charset="-120"/>
              </a:rPr>
              <a:t>Measure</a:t>
            </a:r>
            <a:endParaRPr lang="en-US" sz="1350" dirty="0"/>
          </a:p>
          <a:p>
            <a:pPr marL="0" indent="0">
              <a:buNone/>
            </a:pPr>
            <a:r>
              <a:rPr lang="en-US" sz="1150" dirty="0">
                <a:solidFill>
                  <a:srgbClr val="576560"/>
                </a:solidFill>
                <a:latin typeface="Segoe UI" pitchFamily="34" charset="0"/>
                <a:ea typeface="Segoe UI" pitchFamily="34" charset="-122"/>
                <a:cs typeface="Segoe UI" pitchFamily="34" charset="-120"/>
              </a:rPr>
              <a:t>widths, heights, areas</a:t>
            </a:r>
            <a:endParaRPr lang="en-US" sz="1350" dirty="0"/>
          </a:p>
        </p:txBody>
      </p:sp>
      <p:sp>
        <p:nvSpPr>
          <p:cNvPr id="15" name="Shape 10"/>
          <p:cNvSpPr/>
          <p:nvPr/>
        </p:nvSpPr>
        <p:spPr>
          <a:xfrm>
            <a:off x="8915400" y="3017520"/>
            <a:ext cx="502920" cy="502920"/>
          </a:xfrm>
          <a:prstGeom prst="ellipse">
            <a:avLst/>
          </a:prstGeom>
          <a:solidFill>
            <a:srgbClr val="0E7B7B"/>
          </a:solidFill>
          <a:ln w="12700">
            <a:solidFill>
              <a:srgbClr val="0E7B7B"/>
            </a:solidFill>
            <a:prstDash val="solid"/>
          </a:ln>
        </p:spPr>
      </p:sp>
      <p:pic>
        <p:nvPicPr>
          <p:cNvPr id="16" name="Image 3" descr="preencoded.png"/>
          <p:cNvPicPr>
            <a:picLocks noChangeAspect="1"/>
          </p:cNvPicPr>
          <p:nvPr/>
        </p:nvPicPr>
        <p:blipFill>
          <a:blip r:embed="rId6"/>
          <a:stretch>
            <a:fillRect/>
          </a:stretch>
        </p:blipFill>
        <p:spPr>
          <a:xfrm>
            <a:off x="9043416" y="3145536"/>
            <a:ext cx="246888" cy="246888"/>
          </a:xfrm>
          <a:prstGeom prst="rect">
            <a:avLst/>
          </a:prstGeom>
        </p:spPr>
      </p:pic>
      <p:sp>
        <p:nvSpPr>
          <p:cNvPr id="17" name="Text 11"/>
          <p:cNvSpPr txBox="1"/>
          <p:nvPr/>
        </p:nvSpPr>
        <p:spPr>
          <a:xfrm>
            <a:off x="9573768" y="2999232"/>
            <a:ext cx="2069287" cy="640080"/>
          </a:xfrm>
          <a:prstGeom prst="rect">
            <a:avLst/>
          </a:prstGeom>
          <a:noFill/>
          <a:ln/>
        </p:spPr>
        <p:txBody>
          <a:bodyPr wrap="square" lIns="0" tIns="0" rIns="0" bIns="0" rtlCol="0" anchor="t"/>
          <a:lstStyle/>
          <a:p>
            <a:pPr marL="0" indent="0">
              <a:buNone/>
            </a:pPr>
            <a:r>
              <a:rPr lang="en-US" sz="1350" b="1" dirty="0">
                <a:solidFill>
                  <a:srgbClr val="152220"/>
                </a:solidFill>
                <a:latin typeface="Segoe UI" pitchFamily="34" charset="0"/>
                <a:ea typeface="Segoe UI" pitchFamily="34" charset="-122"/>
                <a:cs typeface="Segoe UI" pitchFamily="34" charset="-120"/>
              </a:rPr>
              <a:t>Floor plans</a:t>
            </a:r>
            <a:endParaRPr lang="en-US" sz="1350" dirty="0"/>
          </a:p>
          <a:p>
            <a:pPr marL="0" indent="0">
              <a:buNone/>
            </a:pPr>
            <a:r>
              <a:rPr lang="en-US" sz="1150" dirty="0">
                <a:solidFill>
                  <a:srgbClr val="576560"/>
                </a:solidFill>
                <a:latin typeface="Segoe UI" pitchFamily="34" charset="0"/>
                <a:ea typeface="Segoe UI" pitchFamily="34" charset="-122"/>
                <a:cs typeface="Segoe UI" pitchFamily="34" charset="-120"/>
              </a:rPr>
              <a:t>as-built drawings</a:t>
            </a:r>
            <a:endParaRPr lang="en-US" sz="1350" dirty="0"/>
          </a:p>
        </p:txBody>
      </p:sp>
      <p:sp>
        <p:nvSpPr>
          <p:cNvPr id="18" name="Shape 12"/>
          <p:cNvSpPr/>
          <p:nvPr/>
        </p:nvSpPr>
        <p:spPr>
          <a:xfrm>
            <a:off x="8915400" y="3840480"/>
            <a:ext cx="502920" cy="502920"/>
          </a:xfrm>
          <a:prstGeom prst="ellipse">
            <a:avLst/>
          </a:prstGeom>
          <a:solidFill>
            <a:srgbClr val="0E7B7B"/>
          </a:solidFill>
          <a:ln w="12700">
            <a:solidFill>
              <a:srgbClr val="0E7B7B"/>
            </a:solidFill>
            <a:prstDash val="solid"/>
          </a:ln>
        </p:spPr>
      </p:sp>
      <p:pic>
        <p:nvPicPr>
          <p:cNvPr id="19" name="Image 4" descr="preencoded.png"/>
          <p:cNvPicPr>
            <a:picLocks noChangeAspect="1"/>
          </p:cNvPicPr>
          <p:nvPr/>
        </p:nvPicPr>
        <p:blipFill>
          <a:blip r:embed="rId7"/>
          <a:stretch>
            <a:fillRect/>
          </a:stretch>
        </p:blipFill>
        <p:spPr>
          <a:xfrm>
            <a:off x="9043416" y="3968496"/>
            <a:ext cx="246888" cy="246888"/>
          </a:xfrm>
          <a:prstGeom prst="rect">
            <a:avLst/>
          </a:prstGeom>
        </p:spPr>
      </p:pic>
      <p:sp>
        <p:nvSpPr>
          <p:cNvPr id="20" name="Text 13"/>
          <p:cNvSpPr txBox="1"/>
          <p:nvPr/>
        </p:nvSpPr>
        <p:spPr>
          <a:xfrm>
            <a:off x="9573768" y="3822192"/>
            <a:ext cx="2069287" cy="640080"/>
          </a:xfrm>
          <a:prstGeom prst="rect">
            <a:avLst/>
          </a:prstGeom>
          <a:noFill/>
          <a:ln/>
        </p:spPr>
        <p:txBody>
          <a:bodyPr wrap="square" lIns="0" tIns="0" rIns="0" bIns="0" rtlCol="0" anchor="t"/>
          <a:lstStyle/>
          <a:p>
            <a:pPr marL="0" indent="0">
              <a:buNone/>
            </a:pPr>
            <a:r>
              <a:rPr lang="en-US" sz="1350" b="1" dirty="0">
                <a:solidFill>
                  <a:srgbClr val="152220"/>
                </a:solidFill>
                <a:latin typeface="Segoe UI" pitchFamily="34" charset="0"/>
                <a:ea typeface="Segoe UI" pitchFamily="34" charset="-122"/>
                <a:cs typeface="Segoe UI" pitchFamily="34" charset="-120"/>
              </a:rPr>
              <a:t>Escape routes</a:t>
            </a:r>
            <a:endParaRPr lang="en-US" sz="1350" dirty="0"/>
          </a:p>
          <a:p>
            <a:pPr marL="0" indent="0">
              <a:buNone/>
            </a:pPr>
            <a:r>
              <a:rPr lang="en-US" sz="1150" dirty="0">
                <a:solidFill>
                  <a:srgbClr val="576560"/>
                </a:solidFill>
                <a:latin typeface="Segoe UI" pitchFamily="34" charset="0"/>
                <a:ea typeface="Segoe UI" pitchFamily="34" charset="-122"/>
                <a:cs typeface="Segoe UI" pitchFamily="34" charset="-120"/>
              </a:rPr>
              <a:t>check clearances</a:t>
            </a:r>
            <a:endParaRPr lang="en-US" sz="1350" dirty="0"/>
          </a:p>
        </p:txBody>
      </p:sp>
      <p:sp>
        <p:nvSpPr>
          <p:cNvPr id="21" name="Shape 14"/>
          <p:cNvSpPr/>
          <p:nvPr/>
        </p:nvSpPr>
        <p:spPr>
          <a:xfrm>
            <a:off x="8915400" y="4663440"/>
            <a:ext cx="502920" cy="502920"/>
          </a:xfrm>
          <a:prstGeom prst="ellipse">
            <a:avLst/>
          </a:prstGeom>
          <a:solidFill>
            <a:srgbClr val="0E7B7B"/>
          </a:solidFill>
          <a:ln w="12700">
            <a:solidFill>
              <a:srgbClr val="0E7B7B"/>
            </a:solidFill>
            <a:prstDash val="solid"/>
          </a:ln>
        </p:spPr>
      </p:sp>
      <p:pic>
        <p:nvPicPr>
          <p:cNvPr id="22" name="Image 5" descr="preencoded.png"/>
          <p:cNvPicPr>
            <a:picLocks noChangeAspect="1"/>
          </p:cNvPicPr>
          <p:nvPr/>
        </p:nvPicPr>
        <p:blipFill>
          <a:blip r:embed="rId8"/>
          <a:stretch>
            <a:fillRect/>
          </a:stretch>
        </p:blipFill>
        <p:spPr>
          <a:xfrm>
            <a:off x="9043416" y="4791456"/>
            <a:ext cx="246888" cy="246888"/>
          </a:xfrm>
          <a:prstGeom prst="rect">
            <a:avLst/>
          </a:prstGeom>
        </p:spPr>
      </p:pic>
      <p:sp>
        <p:nvSpPr>
          <p:cNvPr id="23" name="Text 15"/>
          <p:cNvSpPr txBox="1"/>
          <p:nvPr/>
        </p:nvSpPr>
        <p:spPr>
          <a:xfrm>
            <a:off x="9573768" y="4645152"/>
            <a:ext cx="2069287" cy="640080"/>
          </a:xfrm>
          <a:prstGeom prst="rect">
            <a:avLst/>
          </a:prstGeom>
          <a:noFill/>
          <a:ln/>
        </p:spPr>
        <p:txBody>
          <a:bodyPr wrap="square" lIns="0" tIns="0" rIns="0" bIns="0" rtlCol="0" anchor="t"/>
          <a:lstStyle/>
          <a:p>
            <a:pPr marL="0" indent="0">
              <a:buNone/>
            </a:pPr>
            <a:r>
              <a:rPr lang="en-US" sz="1350" b="1" dirty="0">
                <a:solidFill>
                  <a:srgbClr val="152220"/>
                </a:solidFill>
                <a:latin typeface="Segoe UI" pitchFamily="34" charset="0"/>
                <a:ea typeface="Segoe UI" pitchFamily="34" charset="-122"/>
                <a:cs typeface="Segoe UI" pitchFamily="34" charset="-120"/>
              </a:rPr>
              <a:t>Asset register</a:t>
            </a:r>
            <a:endParaRPr lang="en-US" sz="1350" dirty="0"/>
          </a:p>
          <a:p>
            <a:pPr marL="0" indent="0">
              <a:buNone/>
            </a:pPr>
            <a:r>
              <a:rPr lang="en-US" sz="1150" dirty="0">
                <a:solidFill>
                  <a:srgbClr val="576560"/>
                </a:solidFill>
                <a:latin typeface="Segoe UI" pitchFamily="34" charset="0"/>
                <a:ea typeface="Segoe UI" pitchFamily="34" charset="-122"/>
                <a:cs typeface="Segoe UI" pitchFamily="34" charset="-120"/>
              </a:rPr>
              <a:t>tag where things are</a:t>
            </a:r>
            <a:endParaRPr lang="en-US" sz="1350" dirty="0"/>
          </a:p>
        </p:txBody>
      </p:sp>
      <p:sp>
        <p:nvSpPr>
          <p:cNvPr id="24" name="Shape 16"/>
          <p:cNvSpPr/>
          <p:nvPr/>
        </p:nvSpPr>
        <p:spPr>
          <a:xfrm>
            <a:off x="8915400" y="5486400"/>
            <a:ext cx="502920" cy="502920"/>
          </a:xfrm>
          <a:prstGeom prst="ellipse">
            <a:avLst/>
          </a:prstGeom>
          <a:solidFill>
            <a:srgbClr val="0E7B7B"/>
          </a:solidFill>
          <a:ln w="12700">
            <a:solidFill>
              <a:srgbClr val="0E7B7B"/>
            </a:solidFill>
            <a:prstDash val="solid"/>
          </a:ln>
        </p:spPr>
      </p:sp>
      <p:pic>
        <p:nvPicPr>
          <p:cNvPr id="25" name="Image 6" descr="preencoded.png"/>
          <p:cNvPicPr>
            <a:picLocks noChangeAspect="1"/>
          </p:cNvPicPr>
          <p:nvPr/>
        </p:nvPicPr>
        <p:blipFill>
          <a:blip r:embed="rId9"/>
          <a:stretch>
            <a:fillRect/>
          </a:stretch>
        </p:blipFill>
        <p:spPr>
          <a:xfrm>
            <a:off x="9043416" y="5614416"/>
            <a:ext cx="246888" cy="246888"/>
          </a:xfrm>
          <a:prstGeom prst="rect">
            <a:avLst/>
          </a:prstGeom>
        </p:spPr>
      </p:pic>
      <p:sp>
        <p:nvSpPr>
          <p:cNvPr id="26" name="Text 17"/>
          <p:cNvSpPr txBox="1"/>
          <p:nvPr/>
        </p:nvSpPr>
        <p:spPr>
          <a:xfrm>
            <a:off x="9573768" y="5468112"/>
            <a:ext cx="2069287" cy="640080"/>
          </a:xfrm>
          <a:prstGeom prst="rect">
            <a:avLst/>
          </a:prstGeom>
          <a:noFill/>
          <a:ln/>
        </p:spPr>
        <p:txBody>
          <a:bodyPr wrap="square" lIns="0" tIns="0" rIns="0" bIns="0" rtlCol="0" anchor="t"/>
          <a:lstStyle/>
          <a:p>
            <a:pPr marL="0" indent="0">
              <a:buNone/>
            </a:pPr>
            <a:r>
              <a:rPr lang="en-US" sz="1350" b="1" dirty="0">
                <a:solidFill>
                  <a:srgbClr val="152220"/>
                </a:solidFill>
                <a:latin typeface="Segoe UI" pitchFamily="34" charset="0"/>
                <a:ea typeface="Segoe UI" pitchFamily="34" charset="-122"/>
                <a:cs typeface="Segoe UI" pitchFamily="34" charset="-120"/>
              </a:rPr>
              <a:t>Change detection</a:t>
            </a:r>
            <a:endParaRPr lang="en-US" sz="1350" dirty="0"/>
          </a:p>
          <a:p>
            <a:pPr marL="0" indent="0">
              <a:buNone/>
            </a:pPr>
            <a:r>
              <a:rPr lang="en-US" sz="1150" dirty="0">
                <a:solidFill>
                  <a:srgbClr val="576560"/>
                </a:solidFill>
                <a:latin typeface="Segoe UI" pitchFamily="34" charset="0"/>
                <a:ea typeface="Segoe UI" pitchFamily="34" charset="-122"/>
                <a:cs typeface="Segoe UI" pitchFamily="34" charset="-120"/>
              </a:rPr>
              <a:t>compare scans over time</a:t>
            </a:r>
            <a:endParaRPr lang="en-US" sz="1350" dirty="0"/>
          </a:p>
        </p:txBody>
      </p:sp>
      <p:sp>
        <p:nvSpPr>
          <p:cNvPr id="27" name="Text 18"/>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50" dirty="0">
                <a:solidFill>
                  <a:srgbClr val="8A9793"/>
                </a:solidFill>
                <a:latin typeface="Segoe UI" pitchFamily="34" charset="0"/>
                <a:ea typeface="Segoe UI" pitchFamily="34" charset="-122"/>
                <a:cs typeface="Segoe UI" pitchFamily="34" charset="-120"/>
              </a:rPr>
              <a:t>Smart Facility Management  ·  Week 04  —  Point Cloud Data</a:t>
            </a:r>
            <a:endParaRPr lang="en-US" sz="950" dirty="0"/>
          </a:p>
        </p:txBody>
      </p:sp>
      <p:sp>
        <p:nvSpPr>
          <p:cNvPr id="28" name="Text 19"/>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50" dirty="0">
                <a:solidFill>
                  <a:srgbClr val="8A9793"/>
                </a:solidFill>
                <a:latin typeface="Segoe UI" pitchFamily="34" charset="0"/>
                <a:ea typeface="Segoe UI" pitchFamily="34" charset="-122"/>
                <a:cs typeface="Segoe UI" pitchFamily="34" charset="-120"/>
              </a:rPr>
              <a:t>13 / 15</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9ECE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marL="0" indent="0">
              <a:buNone/>
            </a:pPr>
            <a:r>
              <a:rPr lang="en-US" sz="1100" b="1" kern="0" spc="200" dirty="0">
                <a:solidFill>
                  <a:srgbClr val="0E7B7B"/>
                </a:solidFill>
                <a:latin typeface="Segoe UI" pitchFamily="34" charset="0"/>
                <a:ea typeface="Segoe UI" pitchFamily="34" charset="-122"/>
                <a:cs typeface="Segoe UI" pitchFamily="34" charset="-120"/>
              </a:rPr>
              <a:t>POINT CLOUD DATA  ·  WEEK 04</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t"/>
          <a:lstStyle/>
          <a:p>
            <a:pPr marL="0" indent="0">
              <a:buNone/>
            </a:pPr>
            <a:r>
              <a:rPr lang="en-US" sz="3000" b="1" dirty="0">
                <a:solidFill>
                  <a:srgbClr val="152220"/>
                </a:solidFill>
                <a:latin typeface="Segoe UI" pitchFamily="34" charset="0"/>
                <a:ea typeface="Segoe UI" pitchFamily="34" charset="-122"/>
                <a:cs typeface="Segoe UI" pitchFamily="34" charset="-120"/>
              </a:rPr>
              <a:t>Tools and file formats</a:t>
            </a:r>
            <a:endParaRPr lang="en-US" sz="3000" dirty="0"/>
          </a:p>
        </p:txBody>
      </p:sp>
      <p:sp>
        <p:nvSpPr>
          <p:cNvPr id="4" name="Text 2"/>
          <p:cNvSpPr txBox="1"/>
          <p:nvPr/>
        </p:nvSpPr>
        <p:spPr>
          <a:xfrm>
            <a:off x="548640" y="1225296"/>
            <a:ext cx="11094415" cy="365760"/>
          </a:xfrm>
          <a:prstGeom prst="rect">
            <a:avLst/>
          </a:prstGeom>
          <a:noFill/>
          <a:ln/>
        </p:spPr>
        <p:txBody>
          <a:bodyPr wrap="square" lIns="0" tIns="0" rIns="0" bIns="0" rtlCol="0" anchor="t"/>
          <a:lstStyle/>
          <a:p>
            <a:pPr marL="0" indent="0">
              <a:buNone/>
            </a:pPr>
            <a:r>
              <a:rPr lang="en-US" sz="1500" dirty="0">
                <a:solidFill>
                  <a:srgbClr val="0A5C5C"/>
                </a:solidFill>
                <a:latin typeface="Malgun Gothic" pitchFamily="34" charset="0"/>
                <a:ea typeface="Malgun Gothic" pitchFamily="34" charset="-122"/>
                <a:cs typeface="Malgun Gothic" pitchFamily="34" charset="-120"/>
              </a:rPr>
              <a:t>도구와 파일 형식 — 포인트 클라우드를 열고 저장하기</a:t>
            </a:r>
            <a:endParaRPr lang="en-US" sz="1500" dirty="0"/>
          </a:p>
        </p:txBody>
      </p:sp>
      <p:sp>
        <p:nvSpPr>
          <p:cNvPr id="5" name="Shape 3"/>
          <p:cNvSpPr/>
          <p:nvPr/>
        </p:nvSpPr>
        <p:spPr>
          <a:xfrm>
            <a:off x="548640" y="1783080"/>
            <a:ext cx="6675120" cy="3668184"/>
          </a:xfrm>
          <a:prstGeom prst="roundRect">
            <a:avLst>
              <a:gd name="adj" fmla="val 2991"/>
            </a:avLst>
          </a:prstGeom>
          <a:solidFill>
            <a:srgbClr val="FFFFFF"/>
          </a:solidFill>
          <a:ln w="12700">
            <a:solidFill>
              <a:srgbClr val="FFFFFF"/>
            </a:solidFill>
            <a:prstDash val="solid"/>
          </a:ln>
          <a:effectLst>
            <a:outerShdw blurRad="127000" dist="25400" dir="5400000" algn="bl" rotWithShape="0">
              <a:srgbClr val="14282A">
                <a:alpha val="12000"/>
              </a:srgbClr>
            </a:outerShdw>
          </a:effectLst>
        </p:spPr>
      </p:sp>
      <p:pic>
        <p:nvPicPr>
          <p:cNvPr id="6" name="Image 0" descr="media/cloudcompare.jpg"/>
          <p:cNvPicPr>
            <a:picLocks noChangeAspect="1"/>
          </p:cNvPicPr>
          <p:nvPr/>
        </p:nvPicPr>
        <p:blipFill>
          <a:blip r:embed="rId3"/>
          <a:srcRect/>
          <a:stretch/>
        </p:blipFill>
        <p:spPr>
          <a:xfrm>
            <a:off x="548640" y="1783080"/>
            <a:ext cx="6675120" cy="3668184"/>
          </a:xfrm>
          <a:prstGeom prst="rect">
            <a:avLst/>
          </a:prstGeom>
        </p:spPr>
      </p:pic>
      <p:sp>
        <p:nvSpPr>
          <p:cNvPr id="7" name="Text 4"/>
          <p:cNvSpPr txBox="1"/>
          <p:nvPr/>
        </p:nvSpPr>
        <p:spPr>
          <a:xfrm>
            <a:off x="548640" y="5588424"/>
            <a:ext cx="6675120" cy="640080"/>
          </a:xfrm>
          <a:prstGeom prst="rect">
            <a:avLst/>
          </a:prstGeom>
          <a:noFill/>
          <a:ln/>
        </p:spPr>
        <p:txBody>
          <a:bodyPr wrap="square" lIns="0" tIns="0" rIns="0" bIns="0" rtlCol="0" anchor="t"/>
          <a:lstStyle/>
          <a:p>
            <a:pPr marL="0" indent="0">
              <a:buNone/>
            </a:pPr>
            <a:r>
              <a:rPr lang="en-US" sz="1400" b="1" dirty="0">
                <a:solidFill>
                  <a:srgbClr val="152220"/>
                </a:solidFill>
                <a:latin typeface="Segoe UI" pitchFamily="34" charset="0"/>
                <a:ea typeface="Segoe UI" pitchFamily="34" charset="-122"/>
                <a:cs typeface="Segoe UI" pitchFamily="34" charset="-120"/>
              </a:rPr>
              <a:t>CloudCompare</a:t>
            </a:r>
            <a:endParaRPr lang="en-US" sz="1400" dirty="0"/>
          </a:p>
          <a:p>
            <a:pPr marL="0" indent="0">
              <a:buNone/>
            </a:pPr>
            <a:r>
              <a:rPr lang="en-US" sz="1200" dirty="0">
                <a:solidFill>
                  <a:srgbClr val="576560"/>
                </a:solidFill>
                <a:latin typeface="Segoe UI" pitchFamily="34" charset="0"/>
                <a:ea typeface="Segoe UI" pitchFamily="34" charset="-122"/>
                <a:cs typeface="Segoe UI" pitchFamily="34" charset="-120"/>
              </a:rPr>
              <a:t>Free desktop viewer. Here: our lidar map, coloured by height.</a:t>
            </a:r>
            <a:endParaRPr lang="en-US" sz="1400" dirty="0"/>
          </a:p>
        </p:txBody>
      </p:sp>
      <p:sp>
        <p:nvSpPr>
          <p:cNvPr id="8" name="Text 5"/>
          <p:cNvSpPr txBox="1"/>
          <p:nvPr/>
        </p:nvSpPr>
        <p:spPr>
          <a:xfrm>
            <a:off x="7589520" y="1783080"/>
            <a:ext cx="4053535" cy="274320"/>
          </a:xfrm>
          <a:prstGeom prst="rect">
            <a:avLst/>
          </a:prstGeom>
          <a:noFill/>
          <a:ln/>
        </p:spPr>
        <p:txBody>
          <a:bodyPr wrap="square" lIns="0" tIns="0" rIns="0" bIns="0" rtlCol="0" anchor="t"/>
          <a:lstStyle/>
          <a:p>
            <a:pPr marL="0" indent="0">
              <a:buNone/>
            </a:pPr>
            <a:r>
              <a:rPr lang="en-US" sz="1200" b="1" kern="0" spc="100" dirty="0">
                <a:solidFill>
                  <a:srgbClr val="0E7B7B"/>
                </a:solidFill>
                <a:latin typeface="Segoe UI" pitchFamily="34" charset="0"/>
                <a:ea typeface="Segoe UI" pitchFamily="34" charset="-122"/>
                <a:cs typeface="Segoe UI" pitchFamily="34" charset="-120"/>
              </a:rPr>
              <a:t>Common file formats</a:t>
            </a:r>
            <a:endParaRPr lang="en-US" sz="1200" dirty="0"/>
          </a:p>
        </p:txBody>
      </p:sp>
      <p:sp>
        <p:nvSpPr>
          <p:cNvPr id="9" name="Shape 6"/>
          <p:cNvSpPr/>
          <p:nvPr/>
        </p:nvSpPr>
        <p:spPr>
          <a:xfrm>
            <a:off x="7589520" y="2194560"/>
            <a:ext cx="1234440" cy="420624"/>
          </a:xfrm>
          <a:prstGeom prst="roundRect">
            <a:avLst>
              <a:gd name="adj" fmla="val 17391"/>
            </a:avLst>
          </a:prstGeom>
          <a:solidFill>
            <a:srgbClr val="E3F0EF"/>
          </a:solidFill>
          <a:ln w="12700">
            <a:solidFill>
              <a:srgbClr val="E3F0EF"/>
            </a:solidFill>
            <a:prstDash val="solid"/>
          </a:ln>
        </p:spPr>
      </p:sp>
      <p:sp>
        <p:nvSpPr>
          <p:cNvPr id="10" name="Text 7"/>
          <p:cNvSpPr txBox="1"/>
          <p:nvPr/>
        </p:nvSpPr>
        <p:spPr>
          <a:xfrm>
            <a:off x="7589520" y="2194560"/>
            <a:ext cx="1234440" cy="420624"/>
          </a:xfrm>
          <a:prstGeom prst="rect">
            <a:avLst/>
          </a:prstGeom>
          <a:noFill/>
          <a:ln/>
        </p:spPr>
        <p:txBody>
          <a:bodyPr wrap="square" lIns="0" tIns="0" rIns="0" bIns="0" rtlCol="0" anchor="ctr"/>
          <a:lstStyle/>
          <a:p>
            <a:pPr marL="0" indent="0" algn="ctr">
              <a:buNone/>
            </a:pPr>
            <a:r>
              <a:rPr lang="en-US" sz="1300" b="1" dirty="0">
                <a:solidFill>
                  <a:srgbClr val="0A5C5C"/>
                </a:solidFill>
                <a:latin typeface="Courier New" pitchFamily="34" charset="0"/>
                <a:ea typeface="Courier New" pitchFamily="34" charset="-122"/>
                <a:cs typeface="Courier New" pitchFamily="34" charset="-120"/>
              </a:rPr>
              <a:t>.ply</a:t>
            </a:r>
            <a:endParaRPr lang="en-US" sz="1300" dirty="0"/>
          </a:p>
        </p:txBody>
      </p:sp>
      <p:sp>
        <p:nvSpPr>
          <p:cNvPr id="11" name="Text 8"/>
          <p:cNvSpPr txBox="1"/>
          <p:nvPr/>
        </p:nvSpPr>
        <p:spPr>
          <a:xfrm>
            <a:off x="8961120" y="2194560"/>
            <a:ext cx="2681935" cy="420624"/>
          </a:xfrm>
          <a:prstGeom prst="rect">
            <a:avLst/>
          </a:prstGeom>
          <a:noFill/>
          <a:ln/>
        </p:spPr>
        <p:txBody>
          <a:bodyPr wrap="square" lIns="0" tIns="0" rIns="0" bIns="0" rtlCol="0" anchor="ctr"/>
          <a:lstStyle/>
          <a:p>
            <a:pPr marL="0" indent="0">
              <a:buNone/>
            </a:pPr>
            <a:r>
              <a:rPr lang="en-US" sz="1200" dirty="0">
                <a:solidFill>
                  <a:srgbClr val="576560"/>
                </a:solidFill>
                <a:latin typeface="Segoe UI" pitchFamily="34" charset="0"/>
                <a:ea typeface="Segoe UI" pitchFamily="34" charset="-122"/>
                <a:cs typeface="Segoe UI" pitchFamily="34" charset="-120"/>
              </a:rPr>
              <a:t>Simple and widespread — today's files</a:t>
            </a:r>
            <a:endParaRPr lang="en-US" sz="1200" dirty="0"/>
          </a:p>
        </p:txBody>
      </p:sp>
      <p:sp>
        <p:nvSpPr>
          <p:cNvPr id="12" name="Shape 9"/>
          <p:cNvSpPr/>
          <p:nvPr/>
        </p:nvSpPr>
        <p:spPr>
          <a:xfrm>
            <a:off x="7589520" y="2816352"/>
            <a:ext cx="1234440" cy="420624"/>
          </a:xfrm>
          <a:prstGeom prst="roundRect">
            <a:avLst>
              <a:gd name="adj" fmla="val 17391"/>
            </a:avLst>
          </a:prstGeom>
          <a:solidFill>
            <a:srgbClr val="E3F0EF"/>
          </a:solidFill>
          <a:ln w="12700">
            <a:solidFill>
              <a:srgbClr val="E3F0EF"/>
            </a:solidFill>
            <a:prstDash val="solid"/>
          </a:ln>
        </p:spPr>
      </p:sp>
      <p:sp>
        <p:nvSpPr>
          <p:cNvPr id="13" name="Text 10"/>
          <p:cNvSpPr txBox="1"/>
          <p:nvPr/>
        </p:nvSpPr>
        <p:spPr>
          <a:xfrm>
            <a:off x="7589520" y="2816352"/>
            <a:ext cx="1234440" cy="420624"/>
          </a:xfrm>
          <a:prstGeom prst="rect">
            <a:avLst/>
          </a:prstGeom>
          <a:noFill/>
          <a:ln/>
        </p:spPr>
        <p:txBody>
          <a:bodyPr wrap="square" lIns="0" tIns="0" rIns="0" bIns="0" rtlCol="0" anchor="ctr"/>
          <a:lstStyle/>
          <a:p>
            <a:pPr marL="0" indent="0" algn="ctr">
              <a:buNone/>
            </a:pPr>
            <a:r>
              <a:rPr lang="en-US" sz="1300" b="1" dirty="0">
                <a:solidFill>
                  <a:srgbClr val="0A5C5C"/>
                </a:solidFill>
                <a:latin typeface="Courier New" pitchFamily="34" charset="0"/>
                <a:ea typeface="Courier New" pitchFamily="34" charset="-122"/>
                <a:cs typeface="Courier New" pitchFamily="34" charset="-120"/>
              </a:rPr>
              <a:t>.pcd</a:t>
            </a:r>
            <a:endParaRPr lang="en-US" sz="1300" dirty="0"/>
          </a:p>
        </p:txBody>
      </p:sp>
      <p:sp>
        <p:nvSpPr>
          <p:cNvPr id="14" name="Text 11"/>
          <p:cNvSpPr txBox="1"/>
          <p:nvPr/>
        </p:nvSpPr>
        <p:spPr>
          <a:xfrm>
            <a:off x="8961120" y="2816352"/>
            <a:ext cx="2681935" cy="420624"/>
          </a:xfrm>
          <a:prstGeom prst="rect">
            <a:avLst/>
          </a:prstGeom>
          <a:noFill/>
          <a:ln/>
        </p:spPr>
        <p:txBody>
          <a:bodyPr wrap="square" lIns="0" tIns="0" rIns="0" bIns="0" rtlCol="0" anchor="ctr"/>
          <a:lstStyle/>
          <a:p>
            <a:pPr marL="0" indent="0">
              <a:buNone/>
            </a:pPr>
            <a:r>
              <a:rPr lang="en-US" sz="1200" dirty="0">
                <a:solidFill>
                  <a:srgbClr val="576560"/>
                </a:solidFill>
                <a:latin typeface="Segoe UI" pitchFamily="34" charset="0"/>
                <a:ea typeface="Segoe UI" pitchFamily="34" charset="-122"/>
                <a:cs typeface="Segoe UI" pitchFamily="34" charset="-120"/>
              </a:rPr>
              <a:t>Point Cloud Library, used by ROS robots</a:t>
            </a:r>
            <a:endParaRPr lang="en-US" sz="1200" dirty="0"/>
          </a:p>
        </p:txBody>
      </p:sp>
      <p:sp>
        <p:nvSpPr>
          <p:cNvPr id="15" name="Shape 12"/>
          <p:cNvSpPr/>
          <p:nvPr/>
        </p:nvSpPr>
        <p:spPr>
          <a:xfrm>
            <a:off x="7589520" y="3438144"/>
            <a:ext cx="1234440" cy="420624"/>
          </a:xfrm>
          <a:prstGeom prst="roundRect">
            <a:avLst>
              <a:gd name="adj" fmla="val 17391"/>
            </a:avLst>
          </a:prstGeom>
          <a:solidFill>
            <a:srgbClr val="E3F0EF"/>
          </a:solidFill>
          <a:ln w="12700">
            <a:solidFill>
              <a:srgbClr val="E3F0EF"/>
            </a:solidFill>
            <a:prstDash val="solid"/>
          </a:ln>
        </p:spPr>
      </p:sp>
      <p:sp>
        <p:nvSpPr>
          <p:cNvPr id="16" name="Text 13"/>
          <p:cNvSpPr txBox="1"/>
          <p:nvPr/>
        </p:nvSpPr>
        <p:spPr>
          <a:xfrm>
            <a:off x="7589520" y="3438144"/>
            <a:ext cx="1234440" cy="420624"/>
          </a:xfrm>
          <a:prstGeom prst="rect">
            <a:avLst/>
          </a:prstGeom>
          <a:noFill/>
          <a:ln/>
        </p:spPr>
        <p:txBody>
          <a:bodyPr wrap="square" lIns="0" tIns="0" rIns="0" bIns="0" rtlCol="0" anchor="ctr"/>
          <a:lstStyle/>
          <a:p>
            <a:pPr marL="0" indent="0" algn="ctr">
              <a:buNone/>
            </a:pPr>
            <a:r>
              <a:rPr lang="en-US" sz="1300" b="1" dirty="0">
                <a:solidFill>
                  <a:srgbClr val="0A5C5C"/>
                </a:solidFill>
                <a:latin typeface="Courier New" pitchFamily="34" charset="0"/>
                <a:ea typeface="Courier New" pitchFamily="34" charset="-122"/>
                <a:cs typeface="Courier New" pitchFamily="34" charset="-120"/>
              </a:rPr>
              <a:t>.las / .laz</a:t>
            </a:r>
            <a:endParaRPr lang="en-US" sz="1300" dirty="0"/>
          </a:p>
        </p:txBody>
      </p:sp>
      <p:sp>
        <p:nvSpPr>
          <p:cNvPr id="17" name="Text 14"/>
          <p:cNvSpPr txBox="1"/>
          <p:nvPr/>
        </p:nvSpPr>
        <p:spPr>
          <a:xfrm>
            <a:off x="8961120" y="3438144"/>
            <a:ext cx="2681935" cy="420624"/>
          </a:xfrm>
          <a:prstGeom prst="rect">
            <a:avLst/>
          </a:prstGeom>
          <a:noFill/>
          <a:ln/>
        </p:spPr>
        <p:txBody>
          <a:bodyPr wrap="square" lIns="0" tIns="0" rIns="0" bIns="0" rtlCol="0" anchor="ctr"/>
          <a:lstStyle/>
          <a:p>
            <a:pPr marL="0" indent="0">
              <a:buNone/>
            </a:pPr>
            <a:r>
              <a:rPr lang="en-US" sz="1200" dirty="0">
                <a:solidFill>
                  <a:srgbClr val="576560"/>
                </a:solidFill>
                <a:latin typeface="Segoe UI" pitchFamily="34" charset="0"/>
                <a:ea typeface="Segoe UI" pitchFamily="34" charset="-122"/>
                <a:cs typeface="Segoe UI" pitchFamily="34" charset="-120"/>
              </a:rPr>
              <a:t>Surveying and drones (.laz = compressed)</a:t>
            </a:r>
            <a:endParaRPr lang="en-US" sz="1200" dirty="0"/>
          </a:p>
        </p:txBody>
      </p:sp>
      <p:sp>
        <p:nvSpPr>
          <p:cNvPr id="18" name="Shape 15"/>
          <p:cNvSpPr/>
          <p:nvPr/>
        </p:nvSpPr>
        <p:spPr>
          <a:xfrm>
            <a:off x="7589520" y="4059936"/>
            <a:ext cx="1234440" cy="420624"/>
          </a:xfrm>
          <a:prstGeom prst="roundRect">
            <a:avLst>
              <a:gd name="adj" fmla="val 17391"/>
            </a:avLst>
          </a:prstGeom>
          <a:solidFill>
            <a:srgbClr val="E3F0EF"/>
          </a:solidFill>
          <a:ln w="12700">
            <a:solidFill>
              <a:srgbClr val="E3F0EF"/>
            </a:solidFill>
            <a:prstDash val="solid"/>
          </a:ln>
        </p:spPr>
      </p:sp>
      <p:sp>
        <p:nvSpPr>
          <p:cNvPr id="19" name="Text 16"/>
          <p:cNvSpPr txBox="1"/>
          <p:nvPr/>
        </p:nvSpPr>
        <p:spPr>
          <a:xfrm>
            <a:off x="7589520" y="4059936"/>
            <a:ext cx="1234440" cy="420624"/>
          </a:xfrm>
          <a:prstGeom prst="rect">
            <a:avLst/>
          </a:prstGeom>
          <a:noFill/>
          <a:ln/>
        </p:spPr>
        <p:txBody>
          <a:bodyPr wrap="square" lIns="0" tIns="0" rIns="0" bIns="0" rtlCol="0" anchor="ctr"/>
          <a:lstStyle/>
          <a:p>
            <a:pPr marL="0" indent="0" algn="ctr">
              <a:buNone/>
            </a:pPr>
            <a:r>
              <a:rPr lang="en-US" sz="1300" b="1" dirty="0">
                <a:solidFill>
                  <a:srgbClr val="0A5C5C"/>
                </a:solidFill>
                <a:latin typeface="Courier New" pitchFamily="34" charset="0"/>
                <a:ea typeface="Courier New" pitchFamily="34" charset="-122"/>
                <a:cs typeface="Courier New" pitchFamily="34" charset="-120"/>
              </a:rPr>
              <a:t>.e57</a:t>
            </a:r>
            <a:endParaRPr lang="en-US" sz="1300" dirty="0"/>
          </a:p>
        </p:txBody>
      </p:sp>
      <p:sp>
        <p:nvSpPr>
          <p:cNvPr id="20" name="Text 17"/>
          <p:cNvSpPr txBox="1"/>
          <p:nvPr/>
        </p:nvSpPr>
        <p:spPr>
          <a:xfrm>
            <a:off x="8961120" y="4059936"/>
            <a:ext cx="2681935" cy="420624"/>
          </a:xfrm>
          <a:prstGeom prst="rect">
            <a:avLst/>
          </a:prstGeom>
          <a:noFill/>
          <a:ln/>
        </p:spPr>
        <p:txBody>
          <a:bodyPr wrap="square" lIns="0" tIns="0" rIns="0" bIns="0" rtlCol="0" anchor="ctr"/>
          <a:lstStyle/>
          <a:p>
            <a:pPr marL="0" indent="0">
              <a:buNone/>
            </a:pPr>
            <a:r>
              <a:rPr lang="en-US" sz="1200" dirty="0">
                <a:solidFill>
                  <a:srgbClr val="576560"/>
                </a:solidFill>
                <a:latin typeface="Segoe UI" pitchFamily="34" charset="0"/>
                <a:ea typeface="Segoe UI" pitchFamily="34" charset="-122"/>
                <a:cs typeface="Segoe UI" pitchFamily="34" charset="-120"/>
              </a:rPr>
              <a:t>Professional laser scanners</a:t>
            </a:r>
            <a:endParaRPr lang="en-US" sz="1200" dirty="0"/>
          </a:p>
        </p:txBody>
      </p:sp>
      <p:sp>
        <p:nvSpPr>
          <p:cNvPr id="21" name="Text 18"/>
          <p:cNvSpPr txBox="1"/>
          <p:nvPr/>
        </p:nvSpPr>
        <p:spPr>
          <a:xfrm>
            <a:off x="7589520" y="4800600"/>
            <a:ext cx="4053535" cy="274320"/>
          </a:xfrm>
          <a:prstGeom prst="rect">
            <a:avLst/>
          </a:prstGeom>
          <a:noFill/>
          <a:ln/>
        </p:spPr>
        <p:txBody>
          <a:bodyPr wrap="square" lIns="0" tIns="0" rIns="0" bIns="0" rtlCol="0" anchor="t"/>
          <a:lstStyle/>
          <a:p>
            <a:pPr marL="0" indent="0">
              <a:buNone/>
            </a:pPr>
            <a:r>
              <a:rPr lang="en-US" sz="1200" b="1" kern="0" spc="100" dirty="0">
                <a:solidFill>
                  <a:srgbClr val="0E7B7B"/>
                </a:solidFill>
                <a:latin typeface="Segoe UI" pitchFamily="34" charset="0"/>
                <a:ea typeface="Segoe UI" pitchFamily="34" charset="-122"/>
                <a:cs typeface="Segoe UI" pitchFamily="34" charset="-120"/>
              </a:rPr>
              <a:t>Viewers and libraries</a:t>
            </a:r>
            <a:endParaRPr lang="en-US" sz="1200" dirty="0"/>
          </a:p>
        </p:txBody>
      </p:sp>
      <p:sp>
        <p:nvSpPr>
          <p:cNvPr id="22" name="Text 19"/>
          <p:cNvSpPr txBox="1"/>
          <p:nvPr/>
        </p:nvSpPr>
        <p:spPr>
          <a:xfrm>
            <a:off x="7589520" y="5120640"/>
            <a:ext cx="4053535" cy="914400"/>
          </a:xfrm>
          <a:prstGeom prst="rect">
            <a:avLst/>
          </a:prstGeom>
          <a:noFill/>
          <a:ln/>
        </p:spPr>
        <p:txBody>
          <a:bodyPr wrap="square" lIns="0" tIns="0" rIns="0" bIns="0" rtlCol="0" anchor="t"/>
          <a:lstStyle/>
          <a:p>
            <a:pPr marL="0" indent="0">
              <a:spcAft>
                <a:spcPts val="300"/>
              </a:spcAft>
              <a:buNone/>
            </a:pPr>
            <a:r>
              <a:rPr lang="en-US" sz="1250" b="1" dirty="0">
                <a:solidFill>
                  <a:srgbClr val="152220"/>
                </a:solidFill>
                <a:latin typeface="Segoe UI" pitchFamily="34" charset="0"/>
                <a:ea typeface="Segoe UI" pitchFamily="34" charset="-122"/>
                <a:cs typeface="Segoe UI" pitchFamily="34" charset="-120"/>
              </a:rPr>
              <a:t>Open3D</a:t>
            </a:r>
            <a:r>
              <a:rPr lang="en-US" sz="1250" dirty="0">
                <a:solidFill>
                  <a:srgbClr val="576560"/>
                </a:solidFill>
                <a:latin typeface="Segoe UI" pitchFamily="34" charset="0"/>
                <a:ea typeface="Segoe UI" pitchFamily="34" charset="-122"/>
                <a:cs typeface="Segoe UI" pitchFamily="34" charset="-120"/>
              </a:rPr>
              <a:t> — Python; what we use today</a:t>
            </a:r>
            <a:endParaRPr lang="en-US" sz="1250" dirty="0"/>
          </a:p>
          <a:p>
            <a:pPr marL="0" indent="0">
              <a:spcAft>
                <a:spcPts val="300"/>
              </a:spcAft>
              <a:buNone/>
            </a:pPr>
            <a:r>
              <a:rPr lang="en-US" sz="1250" b="1" dirty="0">
                <a:solidFill>
                  <a:srgbClr val="152220"/>
                </a:solidFill>
                <a:latin typeface="Segoe UI" pitchFamily="34" charset="0"/>
                <a:ea typeface="Segoe UI" pitchFamily="34" charset="-122"/>
                <a:cs typeface="Segoe UI" pitchFamily="34" charset="-120"/>
              </a:rPr>
              <a:t>CloudCompare</a:t>
            </a:r>
            <a:r>
              <a:rPr lang="en-US" sz="1250" dirty="0">
                <a:solidFill>
                  <a:srgbClr val="576560"/>
                </a:solidFill>
                <a:latin typeface="Segoe UI" pitchFamily="34" charset="0"/>
                <a:ea typeface="Segoe UI" pitchFamily="34" charset="-122"/>
                <a:cs typeface="Segoe UI" pitchFamily="34" charset="-120"/>
              </a:rPr>
              <a:t> — measure, clean, compare</a:t>
            </a:r>
            <a:endParaRPr lang="en-US" sz="1250" dirty="0"/>
          </a:p>
          <a:p>
            <a:pPr marL="0" indent="0">
              <a:spcAft>
                <a:spcPts val="300"/>
              </a:spcAft>
              <a:buNone/>
            </a:pPr>
            <a:r>
              <a:rPr lang="en-US" sz="1250" b="1" dirty="0">
                <a:solidFill>
                  <a:srgbClr val="152220"/>
                </a:solidFill>
                <a:latin typeface="Segoe UI" pitchFamily="34" charset="0"/>
                <a:ea typeface="Segoe UI" pitchFamily="34" charset="-122"/>
                <a:cs typeface="Segoe UI" pitchFamily="34" charset="-120"/>
              </a:rPr>
              <a:t>MeshLab</a:t>
            </a:r>
            <a:r>
              <a:rPr lang="en-US" sz="1250" dirty="0">
                <a:solidFill>
                  <a:srgbClr val="576560"/>
                </a:solidFill>
                <a:latin typeface="Segoe UI" pitchFamily="34" charset="0"/>
                <a:ea typeface="Segoe UI" pitchFamily="34" charset="-122"/>
                <a:cs typeface="Segoe UI" pitchFamily="34" charset="-120"/>
              </a:rPr>
              <a:t> — view and edit meshes</a:t>
            </a:r>
            <a:endParaRPr lang="en-US" sz="1250" dirty="0"/>
          </a:p>
        </p:txBody>
      </p:sp>
      <p:sp>
        <p:nvSpPr>
          <p:cNvPr id="23" name="Text 20"/>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50" dirty="0">
                <a:solidFill>
                  <a:srgbClr val="8A9793"/>
                </a:solidFill>
                <a:latin typeface="Segoe UI" pitchFamily="34" charset="0"/>
                <a:ea typeface="Segoe UI" pitchFamily="34" charset="-122"/>
                <a:cs typeface="Segoe UI" pitchFamily="34" charset="-120"/>
              </a:rPr>
              <a:t>Smart Facility Management  ·  Week 04  —  Point Cloud Data</a:t>
            </a:r>
            <a:endParaRPr lang="en-US" sz="950" dirty="0"/>
          </a:p>
        </p:txBody>
      </p:sp>
      <p:sp>
        <p:nvSpPr>
          <p:cNvPr id="24" name="Text 21"/>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50" dirty="0">
                <a:solidFill>
                  <a:srgbClr val="8A9793"/>
                </a:solidFill>
                <a:latin typeface="Segoe UI" pitchFamily="34" charset="0"/>
                <a:ea typeface="Segoe UI" pitchFamily="34" charset="-122"/>
                <a:cs typeface="Segoe UI" pitchFamily="34" charset="-120"/>
              </a:rPr>
              <a:t>14 / 15</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9ECE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marL="0" indent="0">
              <a:buNone/>
            </a:pPr>
            <a:r>
              <a:rPr lang="en-US" sz="1100" b="1" kern="0" spc="200" dirty="0">
                <a:solidFill>
                  <a:srgbClr val="0E7B7B"/>
                </a:solidFill>
                <a:latin typeface="Segoe UI" pitchFamily="34" charset="0"/>
                <a:ea typeface="Segoe UI" pitchFamily="34" charset="-122"/>
                <a:cs typeface="Segoe UI" pitchFamily="34" charset="-120"/>
              </a:rPr>
              <a:t>HANDS-ON  ·  WEEK 04</a:t>
            </a:r>
            <a:endParaRPr lang="en-US" sz="1100" dirty="0"/>
          </a:p>
        </p:txBody>
      </p:sp>
      <p:sp>
        <p:nvSpPr>
          <p:cNvPr id="3" name="Text 1"/>
          <p:cNvSpPr txBox="1"/>
          <p:nvPr/>
        </p:nvSpPr>
        <p:spPr>
          <a:xfrm>
            <a:off x="548640" y="658368"/>
            <a:ext cx="11094415" cy="566928"/>
          </a:xfrm>
          <a:prstGeom prst="rect">
            <a:avLst/>
          </a:prstGeom>
          <a:noFill/>
          <a:ln/>
        </p:spPr>
        <p:txBody>
          <a:bodyPr wrap="square" lIns="0" tIns="0" rIns="0" bIns="0" rtlCol="0" anchor="t"/>
          <a:lstStyle/>
          <a:p>
            <a:pPr marL="0" indent="0">
              <a:buNone/>
            </a:pPr>
            <a:r>
              <a:rPr lang="en-US" sz="3000" b="1" dirty="0">
                <a:solidFill>
                  <a:srgbClr val="152220"/>
                </a:solidFill>
                <a:latin typeface="Segoe UI" pitchFamily="34" charset="0"/>
                <a:ea typeface="Segoe UI" pitchFamily="34" charset="-122"/>
                <a:cs typeface="Segoe UI" pitchFamily="34" charset="-120"/>
              </a:rPr>
              <a:t>Now it's your turn</a:t>
            </a:r>
            <a:endParaRPr lang="en-US" sz="3000" dirty="0"/>
          </a:p>
        </p:txBody>
      </p:sp>
      <p:sp>
        <p:nvSpPr>
          <p:cNvPr id="4" name="Text 2"/>
          <p:cNvSpPr txBox="1"/>
          <p:nvPr/>
        </p:nvSpPr>
        <p:spPr>
          <a:xfrm>
            <a:off x="548640" y="1225296"/>
            <a:ext cx="11094415" cy="365760"/>
          </a:xfrm>
          <a:prstGeom prst="rect">
            <a:avLst/>
          </a:prstGeom>
          <a:noFill/>
          <a:ln/>
        </p:spPr>
        <p:txBody>
          <a:bodyPr wrap="square" lIns="0" tIns="0" rIns="0" bIns="0" rtlCol="0" anchor="t"/>
          <a:lstStyle/>
          <a:p>
            <a:pPr marL="0" indent="0">
              <a:buNone/>
            </a:pPr>
            <a:r>
              <a:rPr lang="en-US" sz="1500" dirty="0">
                <a:solidFill>
                  <a:srgbClr val="0A5C5C"/>
                </a:solidFill>
                <a:latin typeface="Malgun Gothic" pitchFamily="34" charset="0"/>
                <a:ea typeface="Malgun Gothic" pitchFamily="34" charset="-122"/>
                <a:cs typeface="Malgun Gothic" pitchFamily="34" charset="-120"/>
              </a:rPr>
              <a:t>이제 직접 해 봅시다 — 오늘의 실습</a:t>
            </a:r>
            <a:endParaRPr lang="en-US" sz="1500" dirty="0"/>
          </a:p>
        </p:txBody>
      </p:sp>
      <p:sp>
        <p:nvSpPr>
          <p:cNvPr id="5" name="Shape 3"/>
          <p:cNvSpPr/>
          <p:nvPr/>
        </p:nvSpPr>
        <p:spPr>
          <a:xfrm>
            <a:off x="548640" y="1883664"/>
            <a:ext cx="384048" cy="384048"/>
          </a:xfrm>
          <a:prstGeom prst="ellipse">
            <a:avLst/>
          </a:prstGeom>
          <a:solidFill>
            <a:srgbClr val="0E7B7B"/>
          </a:solidFill>
          <a:ln w="12700">
            <a:solidFill>
              <a:srgbClr val="0E7B7B"/>
            </a:solidFill>
            <a:prstDash val="solid"/>
          </a:ln>
        </p:spPr>
      </p:sp>
      <p:sp>
        <p:nvSpPr>
          <p:cNvPr id="6" name="Text 4"/>
          <p:cNvSpPr txBox="1"/>
          <p:nvPr/>
        </p:nvSpPr>
        <p:spPr>
          <a:xfrm>
            <a:off x="548640" y="188366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7" name="Text 5"/>
          <p:cNvSpPr txBox="1"/>
          <p:nvPr/>
        </p:nvSpPr>
        <p:spPr>
          <a:xfrm>
            <a:off x="1097280" y="1810512"/>
            <a:ext cx="5120640" cy="292608"/>
          </a:xfrm>
          <a:prstGeom prst="rect">
            <a:avLst/>
          </a:prstGeom>
          <a:noFill/>
          <a:ln/>
        </p:spPr>
        <p:txBody>
          <a:bodyPr wrap="square" lIns="0" tIns="0" rIns="0" bIns="0" rtlCol="0" anchor="t"/>
          <a:lstStyle/>
          <a:p>
            <a:pPr marL="0" indent="0">
              <a:buNone/>
            </a:pPr>
            <a:r>
              <a:rPr lang="en-US" sz="1500" b="1" dirty="0">
                <a:solidFill>
                  <a:srgbClr val="152220"/>
                </a:solidFill>
                <a:latin typeface="Segoe UI" pitchFamily="34" charset="0"/>
                <a:ea typeface="Segoe UI" pitchFamily="34" charset="-122"/>
                <a:cs typeface="Segoe UI" pitchFamily="34" charset="-120"/>
              </a:rPr>
              <a:t>Create the project</a:t>
            </a:r>
            <a:endParaRPr lang="en-US" sz="1500" dirty="0"/>
          </a:p>
        </p:txBody>
      </p:sp>
      <p:sp>
        <p:nvSpPr>
          <p:cNvPr id="8" name="Text 6"/>
          <p:cNvSpPr txBox="1"/>
          <p:nvPr/>
        </p:nvSpPr>
        <p:spPr>
          <a:xfrm>
            <a:off x="1097280" y="2121408"/>
            <a:ext cx="5120640" cy="292608"/>
          </a:xfrm>
          <a:prstGeom prst="rect">
            <a:avLst/>
          </a:prstGeom>
          <a:noFill/>
          <a:ln/>
        </p:spPr>
        <p:txBody>
          <a:bodyPr wrap="square" lIns="0" tIns="0" rIns="0" bIns="0" rtlCol="0" anchor="t"/>
          <a:lstStyle/>
          <a:p>
            <a:pPr marL="0" indent="0">
              <a:buNone/>
            </a:pPr>
            <a:r>
              <a:rPr lang="en-US" sz="1250" dirty="0">
                <a:solidFill>
                  <a:srgbClr val="0A5C5C"/>
                </a:solidFill>
                <a:latin typeface="Courier New" pitchFamily="34" charset="0"/>
                <a:ea typeface="Courier New" pitchFamily="34" charset="-122"/>
                <a:cs typeface="Courier New" pitchFamily="34" charset="-120"/>
              </a:rPr>
              <a:t>uv init facility-scan</a:t>
            </a:r>
            <a:endParaRPr lang="en-US" sz="1250" dirty="0"/>
          </a:p>
        </p:txBody>
      </p:sp>
      <p:sp>
        <p:nvSpPr>
          <p:cNvPr id="9" name="Shape 7"/>
          <p:cNvSpPr/>
          <p:nvPr/>
        </p:nvSpPr>
        <p:spPr>
          <a:xfrm>
            <a:off x="548640" y="2670048"/>
            <a:ext cx="384048" cy="384048"/>
          </a:xfrm>
          <a:prstGeom prst="ellipse">
            <a:avLst/>
          </a:prstGeom>
          <a:solidFill>
            <a:srgbClr val="0E7B7B"/>
          </a:solidFill>
          <a:ln w="12700">
            <a:solidFill>
              <a:srgbClr val="0E7B7B"/>
            </a:solidFill>
            <a:prstDash val="solid"/>
          </a:ln>
        </p:spPr>
      </p:sp>
      <p:sp>
        <p:nvSpPr>
          <p:cNvPr id="10" name="Text 8"/>
          <p:cNvSpPr txBox="1"/>
          <p:nvPr/>
        </p:nvSpPr>
        <p:spPr>
          <a:xfrm>
            <a:off x="548640" y="2670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11" name="Text 9"/>
          <p:cNvSpPr txBox="1"/>
          <p:nvPr/>
        </p:nvSpPr>
        <p:spPr>
          <a:xfrm>
            <a:off x="1097280" y="2596896"/>
            <a:ext cx="5120640" cy="292608"/>
          </a:xfrm>
          <a:prstGeom prst="rect">
            <a:avLst/>
          </a:prstGeom>
          <a:noFill/>
          <a:ln/>
        </p:spPr>
        <p:txBody>
          <a:bodyPr wrap="square" lIns="0" tIns="0" rIns="0" bIns="0" rtlCol="0" anchor="t"/>
          <a:lstStyle/>
          <a:p>
            <a:pPr marL="0" indent="0">
              <a:buNone/>
            </a:pPr>
            <a:r>
              <a:rPr lang="en-US" sz="1500" b="1" dirty="0">
                <a:solidFill>
                  <a:srgbClr val="152220"/>
                </a:solidFill>
                <a:latin typeface="Segoe UI" pitchFamily="34" charset="0"/>
                <a:ea typeface="Segoe UI" pitchFamily="34" charset="-122"/>
                <a:cs typeface="Segoe UI" pitchFamily="34" charset="-120"/>
              </a:rPr>
              <a:t>Add the libraries</a:t>
            </a:r>
            <a:endParaRPr lang="en-US" sz="1500" dirty="0"/>
          </a:p>
        </p:txBody>
      </p:sp>
      <p:sp>
        <p:nvSpPr>
          <p:cNvPr id="12" name="Text 10"/>
          <p:cNvSpPr txBox="1"/>
          <p:nvPr/>
        </p:nvSpPr>
        <p:spPr>
          <a:xfrm>
            <a:off x="1097280" y="2907792"/>
            <a:ext cx="5120640" cy="292608"/>
          </a:xfrm>
          <a:prstGeom prst="rect">
            <a:avLst/>
          </a:prstGeom>
          <a:noFill/>
          <a:ln/>
        </p:spPr>
        <p:txBody>
          <a:bodyPr wrap="square" lIns="0" tIns="0" rIns="0" bIns="0" rtlCol="0" anchor="t"/>
          <a:lstStyle/>
          <a:p>
            <a:pPr marL="0" indent="0">
              <a:buNone/>
            </a:pPr>
            <a:r>
              <a:rPr lang="en-US" sz="1250" dirty="0">
                <a:solidFill>
                  <a:srgbClr val="0A5C5C"/>
                </a:solidFill>
                <a:latin typeface="Courier New" pitchFamily="34" charset="0"/>
                <a:ea typeface="Courier New" pitchFamily="34" charset="-122"/>
                <a:cs typeface="Courier New" pitchFamily="34" charset="-120"/>
              </a:rPr>
              <a:t>uv add numpy pandas matplotlib open3d</a:t>
            </a:r>
            <a:endParaRPr lang="en-US" sz="1250" dirty="0"/>
          </a:p>
        </p:txBody>
      </p:sp>
      <p:sp>
        <p:nvSpPr>
          <p:cNvPr id="13" name="Shape 11"/>
          <p:cNvSpPr/>
          <p:nvPr/>
        </p:nvSpPr>
        <p:spPr>
          <a:xfrm>
            <a:off x="548640" y="3456432"/>
            <a:ext cx="384048" cy="384048"/>
          </a:xfrm>
          <a:prstGeom prst="ellipse">
            <a:avLst/>
          </a:prstGeom>
          <a:solidFill>
            <a:srgbClr val="0E7B7B"/>
          </a:solidFill>
          <a:ln w="12700">
            <a:solidFill>
              <a:srgbClr val="0E7B7B"/>
            </a:solidFill>
            <a:prstDash val="solid"/>
          </a:ln>
        </p:spPr>
      </p:sp>
      <p:sp>
        <p:nvSpPr>
          <p:cNvPr id="14" name="Text 12"/>
          <p:cNvSpPr txBox="1"/>
          <p:nvPr/>
        </p:nvSpPr>
        <p:spPr>
          <a:xfrm>
            <a:off x="548640" y="345643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15" name="Text 13"/>
          <p:cNvSpPr txBox="1"/>
          <p:nvPr/>
        </p:nvSpPr>
        <p:spPr>
          <a:xfrm>
            <a:off x="1097280" y="3383280"/>
            <a:ext cx="5120640" cy="292608"/>
          </a:xfrm>
          <a:prstGeom prst="rect">
            <a:avLst/>
          </a:prstGeom>
          <a:noFill/>
          <a:ln/>
        </p:spPr>
        <p:txBody>
          <a:bodyPr wrap="square" lIns="0" tIns="0" rIns="0" bIns="0" rtlCol="0" anchor="t"/>
          <a:lstStyle/>
          <a:p>
            <a:pPr marL="0" indent="0">
              <a:buNone/>
            </a:pPr>
            <a:r>
              <a:rPr lang="en-US" sz="1500" b="1" dirty="0">
                <a:solidFill>
                  <a:srgbClr val="152220"/>
                </a:solidFill>
                <a:latin typeface="Segoe UI" pitchFamily="34" charset="0"/>
                <a:ea typeface="Segoe UI" pitchFamily="34" charset="-122"/>
                <a:cs typeface="Segoe UI" pitchFamily="34" charset="-120"/>
              </a:rPr>
              <a:t>Download the scan</a:t>
            </a:r>
            <a:endParaRPr lang="en-US" sz="1500" dirty="0"/>
          </a:p>
        </p:txBody>
      </p:sp>
      <p:sp>
        <p:nvSpPr>
          <p:cNvPr id="16" name="Text 14"/>
          <p:cNvSpPr txBox="1"/>
          <p:nvPr/>
        </p:nvSpPr>
        <p:spPr>
          <a:xfrm>
            <a:off x="1097280" y="3694176"/>
            <a:ext cx="5120640" cy="292608"/>
          </a:xfrm>
          <a:prstGeom prst="rect">
            <a:avLst/>
          </a:prstGeom>
          <a:noFill/>
          <a:ln/>
        </p:spPr>
        <p:txBody>
          <a:bodyPr wrap="square" lIns="0" tIns="0" rIns="0" bIns="0" rtlCol="0" anchor="t"/>
          <a:lstStyle/>
          <a:p>
            <a:pPr marL="0" indent="0">
              <a:buNone/>
            </a:pPr>
            <a:r>
              <a:rPr lang="en-US" sz="1250" dirty="0">
                <a:solidFill>
                  <a:srgbClr val="0A5C5C"/>
                </a:solidFill>
                <a:latin typeface="Courier New" pitchFamily="34" charset="0"/>
                <a:ea typeface="Courier New" pitchFamily="34" charset="-122"/>
                <a:cs typeface="Courier New" pitchFamily="34" charset="-120"/>
              </a:rPr>
              <a:t>class_data.zip → data/</a:t>
            </a:r>
            <a:endParaRPr lang="en-US" sz="1250" dirty="0"/>
          </a:p>
        </p:txBody>
      </p:sp>
      <p:sp>
        <p:nvSpPr>
          <p:cNvPr id="17" name="Shape 15"/>
          <p:cNvSpPr/>
          <p:nvPr/>
        </p:nvSpPr>
        <p:spPr>
          <a:xfrm>
            <a:off x="548640" y="4242816"/>
            <a:ext cx="384048" cy="384048"/>
          </a:xfrm>
          <a:prstGeom prst="ellipse">
            <a:avLst/>
          </a:prstGeom>
          <a:solidFill>
            <a:srgbClr val="0E7B7B"/>
          </a:solidFill>
          <a:ln w="12700">
            <a:solidFill>
              <a:srgbClr val="0E7B7B"/>
            </a:solidFill>
            <a:prstDash val="solid"/>
          </a:ln>
        </p:spPr>
      </p:sp>
      <p:sp>
        <p:nvSpPr>
          <p:cNvPr id="18" name="Text 16"/>
          <p:cNvSpPr txBox="1"/>
          <p:nvPr/>
        </p:nvSpPr>
        <p:spPr>
          <a:xfrm>
            <a:off x="548640" y="424281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19" name="Text 17"/>
          <p:cNvSpPr txBox="1"/>
          <p:nvPr/>
        </p:nvSpPr>
        <p:spPr>
          <a:xfrm>
            <a:off x="1097280" y="4169664"/>
            <a:ext cx="5120640" cy="292608"/>
          </a:xfrm>
          <a:prstGeom prst="rect">
            <a:avLst/>
          </a:prstGeom>
          <a:noFill/>
          <a:ln/>
        </p:spPr>
        <p:txBody>
          <a:bodyPr wrap="square" lIns="0" tIns="0" rIns="0" bIns="0" rtlCol="0" anchor="t"/>
          <a:lstStyle/>
          <a:p>
            <a:pPr marL="0" indent="0">
              <a:buNone/>
            </a:pPr>
            <a:r>
              <a:rPr lang="en-US" sz="1500" b="1" dirty="0">
                <a:solidFill>
                  <a:srgbClr val="152220"/>
                </a:solidFill>
                <a:latin typeface="Segoe UI" pitchFamily="34" charset="0"/>
                <a:ea typeface="Segoe UI" pitchFamily="34" charset="-122"/>
                <a:cs typeface="Segoe UI" pitchFamily="34" charset="-120"/>
              </a:rPr>
              <a:t>Map the robot's route</a:t>
            </a:r>
            <a:endParaRPr lang="en-US" sz="1500" dirty="0"/>
          </a:p>
        </p:txBody>
      </p:sp>
      <p:sp>
        <p:nvSpPr>
          <p:cNvPr id="20" name="Text 18"/>
          <p:cNvSpPr txBox="1"/>
          <p:nvPr/>
        </p:nvSpPr>
        <p:spPr>
          <a:xfrm>
            <a:off x="1097280" y="4480560"/>
            <a:ext cx="5120640" cy="292608"/>
          </a:xfrm>
          <a:prstGeom prst="rect">
            <a:avLst/>
          </a:prstGeom>
          <a:noFill/>
          <a:ln/>
        </p:spPr>
        <p:txBody>
          <a:bodyPr wrap="square" lIns="0" tIns="0" rIns="0" bIns="0" rtlCol="0" anchor="t"/>
          <a:lstStyle/>
          <a:p>
            <a:pPr marL="0" indent="0">
              <a:buNone/>
            </a:pPr>
            <a:r>
              <a:rPr lang="en-US" sz="1250" dirty="0">
                <a:solidFill>
                  <a:srgbClr val="0A5C5C"/>
                </a:solidFill>
                <a:latin typeface="Courier New" pitchFamily="34" charset="0"/>
                <a:ea typeface="Courier New" pitchFamily="34" charset="-122"/>
                <a:cs typeface="Courier New" pitchFamily="34" charset="-120"/>
              </a:rPr>
              <a:t>python first_look.py</a:t>
            </a:r>
            <a:endParaRPr lang="en-US" sz="1250" dirty="0"/>
          </a:p>
        </p:txBody>
      </p:sp>
      <p:sp>
        <p:nvSpPr>
          <p:cNvPr id="21" name="Shape 19"/>
          <p:cNvSpPr/>
          <p:nvPr/>
        </p:nvSpPr>
        <p:spPr>
          <a:xfrm>
            <a:off x="548640" y="5029200"/>
            <a:ext cx="384048" cy="384048"/>
          </a:xfrm>
          <a:prstGeom prst="ellipse">
            <a:avLst/>
          </a:prstGeom>
          <a:solidFill>
            <a:srgbClr val="0E7B7B"/>
          </a:solidFill>
          <a:ln w="12700">
            <a:solidFill>
              <a:srgbClr val="0E7B7B"/>
            </a:solidFill>
            <a:prstDash val="solid"/>
          </a:ln>
        </p:spPr>
      </p:sp>
      <p:sp>
        <p:nvSpPr>
          <p:cNvPr id="22" name="Text 20"/>
          <p:cNvSpPr txBox="1"/>
          <p:nvPr/>
        </p:nvSpPr>
        <p:spPr>
          <a:xfrm>
            <a:off x="548640" y="50292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5</a:t>
            </a:r>
            <a:endParaRPr lang="en-US" sz="1400" dirty="0"/>
          </a:p>
        </p:txBody>
      </p:sp>
      <p:sp>
        <p:nvSpPr>
          <p:cNvPr id="23" name="Text 21"/>
          <p:cNvSpPr txBox="1"/>
          <p:nvPr/>
        </p:nvSpPr>
        <p:spPr>
          <a:xfrm>
            <a:off x="1097280" y="4956048"/>
            <a:ext cx="5120640" cy="292608"/>
          </a:xfrm>
          <a:prstGeom prst="rect">
            <a:avLst/>
          </a:prstGeom>
          <a:noFill/>
          <a:ln/>
        </p:spPr>
        <p:txBody>
          <a:bodyPr wrap="square" lIns="0" tIns="0" rIns="0" bIns="0" rtlCol="0" anchor="t"/>
          <a:lstStyle/>
          <a:p>
            <a:pPr marL="0" indent="0">
              <a:buNone/>
            </a:pPr>
            <a:r>
              <a:rPr lang="en-US" sz="1500" b="1" dirty="0">
                <a:solidFill>
                  <a:srgbClr val="152220"/>
                </a:solidFill>
                <a:latin typeface="Segoe UI" pitchFamily="34" charset="0"/>
                <a:ea typeface="Segoe UI" pitchFamily="34" charset="-122"/>
                <a:cs typeface="Segoe UI" pitchFamily="34" charset="-120"/>
              </a:rPr>
              <a:t>Explore the scan in 3D</a:t>
            </a:r>
            <a:endParaRPr lang="en-US" sz="1500" dirty="0"/>
          </a:p>
        </p:txBody>
      </p:sp>
      <p:sp>
        <p:nvSpPr>
          <p:cNvPr id="24" name="Text 22"/>
          <p:cNvSpPr txBox="1"/>
          <p:nvPr/>
        </p:nvSpPr>
        <p:spPr>
          <a:xfrm>
            <a:off x="1097280" y="5266944"/>
            <a:ext cx="5120640" cy="292608"/>
          </a:xfrm>
          <a:prstGeom prst="rect">
            <a:avLst/>
          </a:prstGeom>
          <a:noFill/>
          <a:ln/>
        </p:spPr>
        <p:txBody>
          <a:bodyPr wrap="square" lIns="0" tIns="0" rIns="0" bIns="0" rtlCol="0" anchor="t"/>
          <a:lstStyle/>
          <a:p>
            <a:pPr marL="0" indent="0">
              <a:buNone/>
            </a:pPr>
            <a:r>
              <a:rPr lang="en-US" sz="1250" dirty="0">
                <a:solidFill>
                  <a:srgbClr val="0A5C5C"/>
                </a:solidFill>
                <a:latin typeface="Courier New" pitchFamily="34" charset="0"/>
                <a:ea typeface="Courier New" pitchFamily="34" charset="-122"/>
                <a:cs typeface="Courier New" pitchFamily="34" charset="-120"/>
              </a:rPr>
              <a:t>python view_scan.py</a:t>
            </a:r>
            <a:endParaRPr lang="en-US" sz="1250" dirty="0"/>
          </a:p>
        </p:txBody>
      </p:sp>
      <p:sp>
        <p:nvSpPr>
          <p:cNvPr id="25" name="Text 23"/>
          <p:cNvSpPr txBox="1"/>
          <p:nvPr/>
        </p:nvSpPr>
        <p:spPr>
          <a:xfrm>
            <a:off x="548640" y="5760720"/>
            <a:ext cx="5669280" cy="548640"/>
          </a:xfrm>
          <a:prstGeom prst="rect">
            <a:avLst/>
          </a:prstGeom>
          <a:noFill/>
          <a:ln/>
        </p:spPr>
        <p:txBody>
          <a:bodyPr wrap="square" lIns="0" tIns="0" rIns="0" bIns="0" rtlCol="0" anchor="t"/>
          <a:lstStyle/>
          <a:p>
            <a:pPr marL="0" indent="0">
              <a:buNone/>
            </a:pPr>
            <a:r>
              <a:rPr lang="en-US" sz="1200" b="1" dirty="0">
                <a:solidFill>
                  <a:srgbClr val="152220"/>
                </a:solidFill>
                <a:latin typeface="Segoe UI" pitchFamily="34" charset="0"/>
                <a:ea typeface="Segoe UI" pitchFamily="34" charset="-122"/>
                <a:cs typeface="Segoe UI" pitchFamily="34" charset="-120"/>
              </a:rPr>
              <a:t>Follow along on the course website: </a:t>
            </a:r>
            <a:endParaRPr lang="en-US" sz="1200" dirty="0"/>
          </a:p>
          <a:p>
            <a:pPr marL="0" indent="0">
              <a:buNone/>
            </a:pPr>
            <a:r>
              <a:rPr lang="en-US" sz="1200" dirty="0">
                <a:solidFill>
                  <a:srgbClr val="0A5C5C"/>
                </a:solidFill>
                <a:latin typeface="Segoe UI" pitchFamily="34" charset="0"/>
                <a:ea typeface="Segoe UI" pitchFamily="34" charset="-122"/>
                <a:cs typeface="Segoe UI" pitchFamily="34" charset="-120"/>
              </a:rPr>
              <a:t>mugojames254.github.io/smart_facility_coursework/week04.html</a:t>
            </a:r>
            <a:endParaRPr lang="en-US" sz="1200" dirty="0"/>
          </a:p>
        </p:txBody>
      </p:sp>
      <p:sp>
        <p:nvSpPr>
          <p:cNvPr id="26" name="Shape 24"/>
          <p:cNvSpPr/>
          <p:nvPr/>
        </p:nvSpPr>
        <p:spPr>
          <a:xfrm>
            <a:off x="6492240" y="1783080"/>
            <a:ext cx="5150815" cy="4480560"/>
          </a:xfrm>
          <a:prstGeom prst="roundRect">
            <a:avLst>
              <a:gd name="adj" fmla="val 2449"/>
            </a:avLst>
          </a:prstGeom>
          <a:solidFill>
            <a:srgbClr val="FFFFFF"/>
          </a:solidFill>
          <a:ln w="12700">
            <a:solidFill>
              <a:srgbClr val="FFFFFF"/>
            </a:solidFill>
            <a:prstDash val="solid"/>
          </a:ln>
          <a:effectLst>
            <a:outerShdw blurRad="127000" dist="25400" dir="5400000" algn="bl" rotWithShape="0">
              <a:srgbClr val="14282A">
                <a:alpha val="12000"/>
              </a:srgbClr>
            </a:outerShdw>
          </a:effectLst>
        </p:spPr>
      </p:sp>
      <p:pic>
        <p:nvPicPr>
          <p:cNvPr id="27" name="Image 0" descr="/root/labwork_progress/smart_facility_mgt/assets/week04_route_map.png"/>
          <p:cNvPicPr>
            <a:picLocks noChangeAspect="1"/>
          </p:cNvPicPr>
          <p:nvPr/>
        </p:nvPicPr>
        <p:blipFill>
          <a:blip r:embed="rId3"/>
          <a:stretch>
            <a:fillRect/>
          </a:stretch>
        </p:blipFill>
        <p:spPr>
          <a:xfrm>
            <a:off x="7101688" y="1828800"/>
            <a:ext cx="3931920" cy="3931920"/>
          </a:xfrm>
          <a:prstGeom prst="rect">
            <a:avLst/>
          </a:prstGeom>
        </p:spPr>
      </p:pic>
      <p:sp>
        <p:nvSpPr>
          <p:cNvPr id="28" name="Text 25"/>
          <p:cNvSpPr txBox="1"/>
          <p:nvPr/>
        </p:nvSpPr>
        <p:spPr>
          <a:xfrm>
            <a:off x="6766560" y="5760720"/>
            <a:ext cx="4602175" cy="411480"/>
          </a:xfrm>
          <a:prstGeom prst="rect">
            <a:avLst/>
          </a:prstGeom>
          <a:noFill/>
          <a:ln/>
        </p:spPr>
        <p:txBody>
          <a:bodyPr wrap="square" lIns="0" tIns="0" rIns="0" bIns="0" rtlCol="0" anchor="t"/>
          <a:lstStyle/>
          <a:p>
            <a:pPr marL="0" indent="0">
              <a:buNone/>
            </a:pPr>
            <a:r>
              <a:rPr lang="en-US" sz="1200" i="1" dirty="0">
                <a:solidFill>
                  <a:srgbClr val="576560"/>
                </a:solidFill>
                <a:latin typeface="Segoe UI" pitchFamily="34" charset="0"/>
                <a:ea typeface="Segoe UI" pitchFamily="34" charset="-122"/>
                <a:cs typeface="Segoe UI" pitchFamily="34" charset="-120"/>
              </a:rPr>
              <a:t>What you'll make in step 4: the lidar map with the robot's path on top.</a:t>
            </a:r>
            <a:endParaRPr lang="en-US" sz="1200" dirty="0"/>
          </a:p>
        </p:txBody>
      </p:sp>
      <p:sp>
        <p:nvSpPr>
          <p:cNvPr id="29" name="Text 26"/>
          <p:cNvSpPr txBox="1"/>
          <p:nvPr/>
        </p:nvSpPr>
        <p:spPr>
          <a:xfrm>
            <a:off x="548640" y="6419088"/>
            <a:ext cx="6400800" cy="228600"/>
          </a:xfrm>
          <a:prstGeom prst="rect">
            <a:avLst/>
          </a:prstGeom>
          <a:noFill/>
          <a:ln/>
        </p:spPr>
        <p:txBody>
          <a:bodyPr wrap="square" lIns="0" tIns="0" rIns="0" bIns="0" rtlCol="0" anchor="t"/>
          <a:lstStyle/>
          <a:p>
            <a:pPr marL="0" indent="0">
              <a:buNone/>
            </a:pPr>
            <a:r>
              <a:rPr lang="en-US" sz="950" dirty="0">
                <a:solidFill>
                  <a:srgbClr val="8A9793"/>
                </a:solidFill>
                <a:latin typeface="Segoe UI" pitchFamily="34" charset="0"/>
                <a:ea typeface="Segoe UI" pitchFamily="34" charset="-122"/>
                <a:cs typeface="Segoe UI" pitchFamily="34" charset="-120"/>
              </a:rPr>
              <a:t>Smart Facility Management  ·  Week 04  —  Point Cloud Data</a:t>
            </a:r>
            <a:endParaRPr lang="en-US" sz="950" dirty="0"/>
          </a:p>
        </p:txBody>
      </p:sp>
      <p:sp>
        <p:nvSpPr>
          <p:cNvPr id="30" name="Text 27"/>
          <p:cNvSpPr txBox="1"/>
          <p:nvPr/>
        </p:nvSpPr>
        <p:spPr>
          <a:xfrm>
            <a:off x="10271455" y="6419088"/>
            <a:ext cx="1371600" cy="228600"/>
          </a:xfrm>
          <a:prstGeom prst="rect">
            <a:avLst/>
          </a:prstGeom>
          <a:noFill/>
          <a:ln/>
        </p:spPr>
        <p:txBody>
          <a:bodyPr wrap="square" lIns="0" tIns="0" rIns="0" bIns="0" rtlCol="0" anchor="t"/>
          <a:lstStyle/>
          <a:p>
            <a:pPr marL="0" indent="0" algn="r">
              <a:buNone/>
            </a:pPr>
            <a:r>
              <a:rPr lang="en-US" sz="950" dirty="0">
                <a:solidFill>
                  <a:srgbClr val="8A9793"/>
                </a:solidFill>
                <a:latin typeface="Segoe UI" pitchFamily="34" charset="0"/>
                <a:ea typeface="Segoe UI" pitchFamily="34" charset="-122"/>
                <a:cs typeface="Segoe UI" pitchFamily="34" charset="-120"/>
              </a:rPr>
              <a:t>15 / 15</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3692</Words>
  <Application>Microsoft Office PowerPoint</Application>
  <PresentationFormat>Widescreen</PresentationFormat>
  <Paragraphs>296</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Malgun Gothic</vt:lpstr>
      <vt:lpstr>Arial</vt:lpstr>
      <vt:lpstr>Courier New</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Point Cloud Data — Exploring a Robot Facility Scan</dc:title>
  <dc:subject>PptxGenJS Presentation</dc:subject>
  <dc:creator>Smart Facility Management</dc:creator>
  <cp:lastModifiedBy>james mugo</cp:lastModifiedBy>
  <cp:revision>1</cp:revision>
  <dcterms:created xsi:type="dcterms:W3CDTF">2026-09-26T02:32:34Z</dcterms:created>
  <dcterms:modified xsi:type="dcterms:W3CDTF">2026-09-26T02:40:06Z</dcterms:modified>
</cp:coreProperties>
</file>